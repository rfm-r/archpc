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notesMasterIdLst>
    <p:notesMasterId r:id="rId1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5" r:id="rId136"/>
    <p:sldId id="390" r:id="rId137"/>
    <p:sldId id="391" r:id="rId138"/>
    <p:sldId id="392" r:id="rId139"/>
    <p:sldId id="393" r:id="rId140"/>
    <p:sldId id="394" r:id="rId141"/>
    <p:sldId id="396" r:id="rId142"/>
    <p:sldId id="397" r:id="rId143"/>
    <p:sldId id="399" r:id="rId144"/>
    <p:sldId id="400" r:id="rId145"/>
    <p:sldId id="401" r:id="rId146"/>
    <p:sldId id="402" r:id="rId147"/>
    <p:sldId id="403" r:id="rId148"/>
    <p:sldId id="404" r:id="rId149"/>
    <p:sldId id="405" r:id="rId150"/>
    <p:sldId id="406" r:id="rId151"/>
    <p:sldId id="407" r:id="rId152"/>
    <p:sldId id="408" r:id="rId153"/>
    <p:sldId id="409" r:id="rId154"/>
    <p:sldId id="410" r:id="rId155"/>
    <p:sldId id="411" r:id="rId15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759" autoAdjust="0"/>
  </p:normalViewPr>
  <p:slideViewPr>
    <p:cSldViewPr>
      <p:cViewPr varScale="1">
        <p:scale>
          <a:sx n="97" d="100"/>
          <a:sy n="97" d="100"/>
        </p:scale>
        <p:origin x="2004"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87E393-64AC-46F1-B4CE-F8CBCA4EF07A}" type="datetimeFigureOut">
              <a:rPr lang="ru-RU" smtClean="0"/>
              <a:t>27.05.2021</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FF2113-4490-463C-AEDF-3BFF88C013D7}" type="slidenum">
              <a:rPr lang="ru-RU" smtClean="0"/>
              <a:t>‹#›</a:t>
            </a:fld>
            <a:endParaRPr lang="ru-RU"/>
          </a:p>
        </p:txBody>
      </p:sp>
    </p:spTree>
    <p:extLst>
      <p:ext uri="{BB962C8B-B14F-4D97-AF65-F5344CB8AC3E}">
        <p14:creationId xmlns:p14="http://schemas.microsoft.com/office/powerpoint/2010/main" val="2750527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elcomienzo.ru/staticheskiy-ip-adres-chto-eto/" TargetMode="External"/><Relationship Id="rId2" Type="http://schemas.openxmlformats.org/officeDocument/2006/relationships/slide" Target="../slides/slide138.xml"/><Relationship Id="rId1" Type="http://schemas.openxmlformats.org/officeDocument/2006/relationships/notesMaster" Target="../notesMasters/notesMaster1.xml"/><Relationship Id="rId5" Type="http://schemas.openxmlformats.org/officeDocument/2006/relationships/hyperlink" Target="https://elcomienzo.ru/tp-link-tl-wr720n/" TargetMode="External"/><Relationship Id="rId4" Type="http://schemas.openxmlformats.org/officeDocument/2006/relationships/hyperlink" Target="https://ru.wikipedia.org/wiki/IPv4"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latin typeface="Times New Roman" panose="02020603050405020304" pitchFamily="18" charset="0"/>
                <a:cs typeface="Times New Roman" panose="02020603050405020304" pitchFamily="18" charset="0"/>
              </a:rPr>
              <a:t>Тем самым виртуальное соединение существует только в памяти управляющего компьютера. Дойдя до абонента-получателя, служебный пакет запрашивает у него разрешение на передачу, сообщив, какой объем памяти понадобится для приема. Если его компьютер располагает такой памятью и свободен, то посылается согласие абоненту-отправителю на передачу сообщения. Получив подтверждение, абонент-отправитель приступает к передаче сообщения обычными пакетами. </a:t>
            </a:r>
            <a:r>
              <a:rPr lang="ru-RU" sz="1200" dirty="0" smtClean="0">
                <a:latin typeface="Times New Roman" panose="02020603050405020304" pitchFamily="18" charset="0"/>
                <a:cs typeface="Times New Roman" panose="02020603050405020304" pitchFamily="18" charset="0"/>
              </a:rPr>
              <a:t>Пакеты беспрепятственно проходят друг за другом по виртуальному соединению и в том же порядке попадают абоненту-получателю, где, освободившись от заголовков и </a:t>
            </a:r>
            <a:r>
              <a:rPr lang="ru-RU" sz="1200" dirty="0" err="1" smtClean="0">
                <a:latin typeface="Times New Roman" panose="02020603050405020304" pitchFamily="18" charset="0"/>
                <a:cs typeface="Times New Roman" panose="02020603050405020304" pitchFamily="18" charset="0"/>
              </a:rPr>
              <a:t>концевиков</a:t>
            </a:r>
            <a:r>
              <a:rPr lang="ru-RU" sz="1200" smtClean="0">
                <a:latin typeface="Times New Roman" panose="02020603050405020304" pitchFamily="18" charset="0"/>
                <a:cs typeface="Times New Roman" panose="02020603050405020304" pitchFamily="18" charset="0"/>
              </a:rPr>
              <a:t>, образуют передаваемое сообщение.</a:t>
            </a:r>
          </a:p>
        </p:txBody>
      </p:sp>
      <p:sp>
        <p:nvSpPr>
          <p:cNvPr id="4" name="Номер слайда 3"/>
          <p:cNvSpPr>
            <a:spLocks noGrp="1"/>
          </p:cNvSpPr>
          <p:nvPr>
            <p:ph type="sldNum" sz="quarter" idx="10"/>
          </p:nvPr>
        </p:nvSpPr>
        <p:spPr/>
        <p:txBody>
          <a:bodyPr/>
          <a:lstStyle/>
          <a:p>
            <a:fld id="{21FF2113-4490-463C-AEDF-3BFF88C013D7}" type="slidenum">
              <a:rPr lang="ru-RU" smtClean="0"/>
              <a:t>98</a:t>
            </a:fld>
            <a:endParaRPr lang="ru-RU"/>
          </a:p>
        </p:txBody>
      </p:sp>
    </p:spTree>
    <p:extLst>
      <p:ext uri="{BB962C8B-B14F-4D97-AF65-F5344CB8AC3E}">
        <p14:creationId xmlns:p14="http://schemas.microsoft.com/office/powerpoint/2010/main" val="4089564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Начнём с идеи, лежащей в основе Ethernet. Название Ethernet произошло от двух английских слов – </a:t>
            </a:r>
            <a:r>
              <a:rPr lang="ru-RU" sz="1200" b="0" i="0" kern="1200" dirty="0" err="1" smtClean="0">
                <a:solidFill>
                  <a:schemeClr val="tx1"/>
                </a:solidFill>
                <a:effectLst/>
                <a:latin typeface="+mn-lt"/>
                <a:ea typeface="+mn-ea"/>
                <a:cs typeface="+mn-cs"/>
              </a:rPr>
              <a:t>ether</a:t>
            </a:r>
            <a:r>
              <a:rPr lang="ru-RU" sz="1200" b="0" i="0" kern="1200" dirty="0" smtClean="0">
                <a:solidFill>
                  <a:schemeClr val="tx1"/>
                </a:solidFill>
                <a:effectLst/>
                <a:latin typeface="+mn-lt"/>
                <a:ea typeface="+mn-ea"/>
                <a:cs typeface="+mn-cs"/>
              </a:rPr>
              <a:t> (эфир) и </a:t>
            </a:r>
            <a:r>
              <a:rPr lang="ru-RU" sz="1200" b="0" i="0" kern="1200" dirty="0" err="1" smtClean="0">
                <a:solidFill>
                  <a:schemeClr val="tx1"/>
                </a:solidFill>
                <a:effectLst/>
                <a:latin typeface="+mn-lt"/>
                <a:ea typeface="+mn-ea"/>
                <a:cs typeface="+mn-cs"/>
              </a:rPr>
              <a:t>net</a:t>
            </a:r>
            <a:r>
              <a:rPr lang="ru-RU" sz="1200" b="0" i="0" kern="1200" dirty="0" smtClean="0">
                <a:solidFill>
                  <a:schemeClr val="tx1"/>
                </a:solidFill>
                <a:effectLst/>
                <a:latin typeface="+mn-lt"/>
                <a:ea typeface="+mn-ea"/>
                <a:cs typeface="+mn-cs"/>
              </a:rPr>
              <a:t> (сеть). Ethernet использует концепцию общего эфира. Каждый ПК посылает данные в этот эфир и указывает, кому они адресованы. Данные могут дойти до всех ПК сети, но обрабатывает их только тот ПК, которому они предназначены. Остальные ПК чужие данные игнорируют. Такая работа аналогична эфиру радиостанций. Все радиостанции транслируют свои передачи в общее электромагнитное поле – радиоэфир. Ваш радиоприёмник получает электромагнитные сигналы всех станций. Но слушаете вы не всё сразу, а ту станцию, которая вам нужна.</a:t>
            </a:r>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114</a:t>
            </a:fld>
            <a:endParaRPr lang="ru-RU"/>
          </a:p>
        </p:txBody>
      </p:sp>
    </p:spTree>
    <p:extLst>
      <p:ext uri="{BB962C8B-B14F-4D97-AF65-F5344CB8AC3E}">
        <p14:creationId xmlns:p14="http://schemas.microsoft.com/office/powerpoint/2010/main" val="24860369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Ethernet — это не один, а целое семейство стандартов, имеющих разные пользовательские характеристики.</a:t>
            </a:r>
          </a:p>
          <a:p>
            <a:r>
              <a:rPr lang="ru-RU" sz="1200" b="0" i="0" kern="1200" dirty="0" smtClean="0">
                <a:solidFill>
                  <a:schemeClr val="tx1"/>
                </a:solidFill>
                <a:effectLst/>
                <a:latin typeface="+mn-lt"/>
                <a:ea typeface="+mn-ea"/>
                <a:cs typeface="+mn-cs"/>
              </a:rPr>
              <a:t>Если за основу сравнения этих стандартов взять скорость передачи данных и максимально возможное расстояние между двумя узлами (диаметр сети), то получим такую сравнительную таблицу:</a:t>
            </a:r>
          </a:p>
          <a:p>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116</a:t>
            </a:fld>
            <a:endParaRPr lang="ru-RU"/>
          </a:p>
        </p:txBody>
      </p:sp>
    </p:spTree>
    <p:extLst>
      <p:ext uri="{BB962C8B-B14F-4D97-AF65-F5344CB8AC3E}">
        <p14:creationId xmlns:p14="http://schemas.microsoft.com/office/powerpoint/2010/main" val="4125091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На рисунке 1.6.1 показана схема сети Ethernet на коаксиальном кабеле. Сегмент кабеля на концах оборудован терминаторами (“заглушками”) для поглощения распространяемого сигнала (на рисунке терминаторы нарисованы чёрными квадратиками).</a:t>
            </a:r>
            <a:endParaRPr lang="en-US" sz="1200" b="0" i="0" kern="1200" dirty="0" smtClean="0">
              <a:solidFill>
                <a:schemeClr val="tx1"/>
              </a:solidFill>
              <a:effectLst/>
              <a:latin typeface="+mn-lt"/>
              <a:ea typeface="+mn-ea"/>
              <a:cs typeface="+mn-cs"/>
            </a:endParaRPr>
          </a:p>
          <a:p>
            <a:r>
              <a:rPr lang="ru-RU" sz="1200" b="0" i="0" kern="1200" dirty="0" smtClean="0">
                <a:solidFill>
                  <a:schemeClr val="tx1"/>
                </a:solidFill>
                <a:effectLst/>
                <a:latin typeface="+mn-lt"/>
                <a:ea typeface="+mn-ea"/>
                <a:cs typeface="+mn-cs"/>
              </a:rPr>
              <a:t>Кабель при помощи Т-образного разъёма соединяет между собой сетевые адаптеры компьютеров.</a:t>
            </a:r>
          </a:p>
          <a:p>
            <a:r>
              <a:rPr lang="ru-RU" sz="1200" b="0" i="0" kern="1200" dirty="0" smtClean="0">
                <a:solidFill>
                  <a:schemeClr val="tx1"/>
                </a:solidFill>
                <a:effectLst/>
                <a:latin typeface="+mn-lt"/>
                <a:ea typeface="+mn-ea"/>
                <a:cs typeface="+mn-cs"/>
              </a:rPr>
              <a:t>Принцип работы Ethernet.</a:t>
            </a:r>
          </a:p>
          <a:p>
            <a:r>
              <a:rPr lang="ru-RU" sz="1200" b="0" i="0" kern="1200" dirty="0" smtClean="0">
                <a:solidFill>
                  <a:schemeClr val="tx1"/>
                </a:solidFill>
                <a:effectLst/>
                <a:latin typeface="+mn-lt"/>
                <a:ea typeface="+mn-ea"/>
                <a:cs typeface="+mn-cs"/>
              </a:rPr>
              <a:t>Любой участник может послать в сеть сообщение, но только тогда, когда в ней “тихо” — нет другой передачи.</a:t>
            </a:r>
          </a:p>
          <a:p>
            <a:r>
              <a:rPr lang="ru-RU" sz="1200" b="0" i="0" kern="1200" dirty="0" smtClean="0">
                <a:solidFill>
                  <a:schemeClr val="tx1"/>
                </a:solidFill>
                <a:effectLst/>
                <a:latin typeface="+mn-lt"/>
                <a:ea typeface="+mn-ea"/>
                <a:cs typeface="+mn-cs"/>
              </a:rPr>
              <a:t>Например, узел 2 (см. рисунок выше) слушает сеть, и стартует передачу, начиная её адресами отправителя и получателя (“компьютер 2 передаёт сообщение для компьютера 4”).</a:t>
            </a:r>
          </a:p>
          <a:p>
            <a:r>
              <a:rPr lang="ru-RU" sz="1200" b="0" i="0" kern="1200" dirty="0" smtClean="0">
                <a:solidFill>
                  <a:schemeClr val="tx1"/>
                </a:solidFill>
                <a:effectLst/>
                <a:latin typeface="+mn-lt"/>
                <a:ea typeface="+mn-ea"/>
                <a:cs typeface="+mn-cs"/>
              </a:rPr>
              <a:t>Передача распространяется по кабелю в обе стороны (поглощаясь терминаторами на концах), и все участники слышат её (в том числе и сам отправитель).</a:t>
            </a:r>
          </a:p>
          <a:p>
            <a:r>
              <a:rPr lang="ru-RU" sz="1200" b="0" i="0" kern="1200" dirty="0" smtClean="0">
                <a:solidFill>
                  <a:schemeClr val="tx1"/>
                </a:solidFill>
                <a:effectLst/>
                <a:latin typeface="+mn-lt"/>
                <a:ea typeface="+mn-ea"/>
                <a:cs typeface="+mn-cs"/>
              </a:rPr>
              <a:t>Все, кроме компьютера 4, игнорируют передаваемые данные, обнаружив чужой адрес получателя, а компьютер 4 принимает данные полностью.</a:t>
            </a:r>
          </a:p>
          <a:p>
            <a:r>
              <a:rPr lang="ru-RU" sz="1200" b="0" i="0" kern="1200" dirty="0" smtClean="0">
                <a:solidFill>
                  <a:schemeClr val="tx1"/>
                </a:solidFill>
                <a:effectLst/>
                <a:latin typeface="+mn-lt"/>
                <a:ea typeface="+mn-ea"/>
                <a:cs typeface="+mn-cs"/>
              </a:rPr>
              <a:t>Понятно, что при таком способе передачи нельзя допустить длительного захвата сети одним узлом. Если компьютер 2 задумает переслать компьютеру 4 большой файл, все остальные сетевые участники не скоро получат возможность начать передачу.</a:t>
            </a:r>
          </a:p>
          <a:p>
            <a:r>
              <a:rPr lang="ru-RU" sz="1200" b="0" i="0" kern="1200" dirty="0" smtClean="0">
                <a:solidFill>
                  <a:schemeClr val="tx1"/>
                </a:solidFill>
                <a:effectLst/>
                <a:latin typeface="+mn-lt"/>
                <a:ea typeface="+mn-ea"/>
                <a:cs typeface="+mn-cs"/>
              </a:rPr>
              <a:t>В силу этой причины сообщения передаются разделёнными на пакеты (в технологии Ethernet они называются кадрами). Длина пакета лежит в диапазоне от 64 до 1518 байтов.</a:t>
            </a:r>
          </a:p>
          <a:p>
            <a:r>
              <a:rPr lang="ru-RU" sz="1200" b="0" i="0" kern="1200" dirty="0" smtClean="0">
                <a:solidFill>
                  <a:schemeClr val="tx1"/>
                </a:solidFill>
                <a:effectLst/>
                <a:latin typeface="+mn-lt"/>
                <a:ea typeface="+mn-ea"/>
                <a:cs typeface="+mn-cs"/>
              </a:rPr>
              <a:t>Передав один пакет, узел на некоторое время прерывает работу, и если в сети “тихо”, отправляет следующий пакет. Но паузой может воспользоваться другой узел и начать свой сеанс передачи. Таким образом, все узлы разделяют одну среду (кабель), имея равные возможности для посылки в сеть информационных </a:t>
            </a:r>
            <a:r>
              <a:rPr lang="ru-RU" sz="1200" b="0" i="0" kern="1200" smtClean="0">
                <a:solidFill>
                  <a:schemeClr val="tx1"/>
                </a:solidFill>
                <a:effectLst/>
                <a:latin typeface="+mn-lt"/>
                <a:ea typeface="+mn-ea"/>
                <a:cs typeface="+mn-cs"/>
              </a:rPr>
              <a:t>пакетов.</a:t>
            </a:r>
            <a:endParaRPr lang="ru-RU" sz="1200" b="0" i="0" kern="1200" dirty="0" smtClean="0">
              <a:solidFill>
                <a:schemeClr val="tx1"/>
              </a:solidFill>
              <a:effectLst/>
              <a:latin typeface="+mn-lt"/>
              <a:ea typeface="+mn-ea"/>
              <a:cs typeface="+mn-cs"/>
            </a:endParaRPr>
          </a:p>
        </p:txBody>
      </p:sp>
      <p:sp>
        <p:nvSpPr>
          <p:cNvPr id="4" name="Номер слайда 3"/>
          <p:cNvSpPr>
            <a:spLocks noGrp="1"/>
          </p:cNvSpPr>
          <p:nvPr>
            <p:ph type="sldNum" sz="quarter" idx="10"/>
          </p:nvPr>
        </p:nvSpPr>
        <p:spPr/>
        <p:txBody>
          <a:bodyPr/>
          <a:lstStyle/>
          <a:p>
            <a:fld id="{21FF2113-4490-463C-AEDF-3BFF88C013D7}" type="slidenum">
              <a:rPr lang="ru-RU" smtClean="0"/>
              <a:t>117</a:t>
            </a:fld>
            <a:endParaRPr lang="ru-RU"/>
          </a:p>
        </p:txBody>
      </p:sp>
    </p:spTree>
    <p:extLst>
      <p:ext uri="{BB962C8B-B14F-4D97-AF65-F5344CB8AC3E}">
        <p14:creationId xmlns:p14="http://schemas.microsoft.com/office/powerpoint/2010/main" val="1812512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Технологии </a:t>
            </a:r>
            <a:r>
              <a:rPr lang="ru-RU" sz="1200" b="1" i="0" kern="1200" dirty="0" err="1" smtClean="0">
                <a:solidFill>
                  <a:schemeClr val="tx1"/>
                </a:solidFill>
                <a:effectLst/>
                <a:latin typeface="+mn-lt"/>
                <a:ea typeface="+mn-ea"/>
                <a:cs typeface="+mn-cs"/>
              </a:rPr>
              <a:t>Token</a:t>
            </a:r>
            <a:r>
              <a:rPr lang="ru-RU" sz="1200" b="1" i="0" kern="1200" dirty="0" smtClean="0">
                <a:solidFill>
                  <a:schemeClr val="tx1"/>
                </a:solidFill>
                <a:effectLst/>
                <a:latin typeface="+mn-lt"/>
                <a:ea typeface="+mn-ea"/>
                <a:cs typeface="+mn-cs"/>
              </a:rPr>
              <a:t> </a:t>
            </a:r>
            <a:r>
              <a:rPr lang="ru-RU" sz="1200" b="1" i="0" kern="1200" dirty="0" err="1" smtClean="0">
                <a:solidFill>
                  <a:schemeClr val="tx1"/>
                </a:solidFill>
                <a:effectLst/>
                <a:latin typeface="+mn-lt"/>
                <a:ea typeface="+mn-ea"/>
                <a:cs typeface="+mn-cs"/>
              </a:rPr>
              <a:t>Ring</a:t>
            </a:r>
            <a:r>
              <a:rPr lang="ru-RU" sz="1200" b="1" i="0" kern="1200" dirty="0" smtClean="0">
                <a:solidFill>
                  <a:schemeClr val="tx1"/>
                </a:solidFill>
                <a:effectLst/>
                <a:latin typeface="+mn-lt"/>
                <a:ea typeface="+mn-ea"/>
                <a:cs typeface="+mn-cs"/>
              </a:rPr>
              <a:t> </a:t>
            </a:r>
            <a:r>
              <a:rPr lang="ru-RU" sz="1200" b="0" i="0" kern="1200" dirty="0" smtClean="0">
                <a:solidFill>
                  <a:schemeClr val="tx1"/>
                </a:solidFill>
                <a:effectLst/>
                <a:latin typeface="+mn-lt"/>
                <a:ea typeface="+mn-ea"/>
                <a:cs typeface="+mn-cs"/>
              </a:rPr>
              <a:t>имеет значительно более сложную реализацию, чем та же самая технология </a:t>
            </a:r>
            <a:r>
              <a:rPr lang="ru-RU" sz="1200" b="1" i="0" kern="1200" dirty="0" err="1" smtClean="0">
                <a:solidFill>
                  <a:schemeClr val="tx1"/>
                </a:solidFill>
                <a:effectLst/>
                <a:latin typeface="+mn-lt"/>
                <a:ea typeface="+mn-ea"/>
                <a:cs typeface="+mn-cs"/>
              </a:rPr>
              <a:t>Ethernet</a:t>
            </a:r>
            <a:r>
              <a:rPr lang="ru-RU" sz="1200" b="1" i="0" kern="1200" dirty="0" smtClean="0">
                <a:solidFill>
                  <a:schemeClr val="tx1"/>
                </a:solidFill>
                <a:effectLst/>
                <a:latin typeface="+mn-lt"/>
                <a:ea typeface="+mn-ea"/>
                <a:cs typeface="+mn-cs"/>
              </a:rPr>
              <a:t> </a:t>
            </a:r>
            <a:r>
              <a:rPr lang="ru-RU" sz="1200" b="0" i="0" kern="1200" dirty="0" smtClean="0">
                <a:solidFill>
                  <a:schemeClr val="tx1"/>
                </a:solidFill>
                <a:effectLst/>
                <a:latin typeface="+mn-lt"/>
                <a:ea typeface="+mn-ea"/>
                <a:cs typeface="+mn-cs"/>
              </a:rPr>
              <a:t>на разделяемой среде передачи данных. Во многом эта сложность была вызвана тем, что разработчики старались повысить эффективность технологии: увеличить отказоустойчивость, сделать среду предсказуемой, спроектировать приоритетное обслуживание определенных пакетов данных, например голосовой трафик, который чувствителен к задержкам. При этом это им удалось, например более развитый вариант </a:t>
            </a:r>
            <a:r>
              <a:rPr lang="ru-RU" sz="1200" b="1" i="0" kern="1200" dirty="0" err="1" smtClean="0">
                <a:solidFill>
                  <a:schemeClr val="tx1"/>
                </a:solidFill>
                <a:effectLst/>
                <a:latin typeface="+mn-lt"/>
                <a:ea typeface="+mn-ea"/>
                <a:cs typeface="+mn-cs"/>
              </a:rPr>
              <a:t>Token</a:t>
            </a:r>
            <a:r>
              <a:rPr lang="ru-RU" sz="1200" b="1" i="0" kern="1200" dirty="0" smtClean="0">
                <a:solidFill>
                  <a:schemeClr val="tx1"/>
                </a:solidFill>
                <a:effectLst/>
                <a:latin typeface="+mn-lt"/>
                <a:ea typeface="+mn-ea"/>
                <a:cs typeface="+mn-cs"/>
              </a:rPr>
              <a:t> </a:t>
            </a:r>
            <a:r>
              <a:rPr lang="ru-RU" sz="1200" b="1" i="0" kern="1200" dirty="0" err="1" smtClean="0">
                <a:solidFill>
                  <a:schemeClr val="tx1"/>
                </a:solidFill>
                <a:effectLst/>
                <a:latin typeface="+mn-lt"/>
                <a:ea typeface="+mn-ea"/>
                <a:cs typeface="+mn-cs"/>
              </a:rPr>
              <a:t>Ring</a:t>
            </a:r>
            <a:r>
              <a:rPr lang="ru-RU" sz="1200" b="1" i="0" kern="1200" dirty="0" smtClean="0">
                <a:solidFill>
                  <a:schemeClr val="tx1"/>
                </a:solidFill>
                <a:effectLst/>
                <a:latin typeface="+mn-lt"/>
                <a:ea typeface="+mn-ea"/>
                <a:cs typeface="+mn-cs"/>
              </a:rPr>
              <a:t> </a:t>
            </a:r>
            <a:r>
              <a:rPr lang="ru-RU" sz="1200" b="0" i="0" kern="1200" dirty="0" smtClean="0">
                <a:solidFill>
                  <a:schemeClr val="tx1"/>
                </a:solidFill>
                <a:effectLst/>
                <a:latin typeface="+mn-lt"/>
                <a:ea typeface="+mn-ea"/>
                <a:cs typeface="+mn-cs"/>
              </a:rPr>
              <a:t>, а именно </a:t>
            </a:r>
            <a:r>
              <a:rPr lang="ru-RU" sz="1200" b="1" i="0" kern="1200" dirty="0" smtClean="0">
                <a:solidFill>
                  <a:schemeClr val="tx1"/>
                </a:solidFill>
                <a:effectLst/>
                <a:latin typeface="+mn-lt"/>
                <a:ea typeface="+mn-ea"/>
                <a:cs typeface="+mn-cs"/>
              </a:rPr>
              <a:t>FDDI </a:t>
            </a:r>
            <a:r>
              <a:rPr lang="ru-RU" sz="1200" b="0" i="0" kern="1200" dirty="0" smtClean="0">
                <a:solidFill>
                  <a:schemeClr val="tx1"/>
                </a:solidFill>
                <a:effectLst/>
                <a:latin typeface="+mn-lt"/>
                <a:ea typeface="+mn-ea"/>
                <a:cs typeface="+mn-cs"/>
              </a:rPr>
              <a:t>длительное время использовалась в качестве магистральных сетей кампусов предприятий</a:t>
            </a:r>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118</a:t>
            </a:fld>
            <a:endParaRPr lang="ru-RU"/>
          </a:p>
        </p:txBody>
      </p:sp>
    </p:spTree>
    <p:extLst>
      <p:ext uri="{BB962C8B-B14F-4D97-AF65-F5344CB8AC3E}">
        <p14:creationId xmlns:p14="http://schemas.microsoft.com/office/powerpoint/2010/main" val="1999340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ru-RU" dirty="0" smtClean="0"/>
              <a:t>Таким образом отпадает вопрос о коллизиях в разделяемой среде передачи данных, которые присутствуют в технологии </a:t>
            </a:r>
            <a:r>
              <a:rPr lang="ru-RU" b="1" dirty="0" err="1" smtClean="0"/>
              <a:t>Ethernet</a:t>
            </a:r>
            <a:r>
              <a:rPr lang="ru-RU" b="1" dirty="0" smtClean="0"/>
              <a:t>. </a:t>
            </a:r>
            <a:r>
              <a:rPr lang="ru-RU" dirty="0" smtClean="0"/>
              <a:t>Также имеется лимит времени на владение </a:t>
            </a:r>
            <a:r>
              <a:rPr lang="ru-RU" dirty="0" err="1" smtClean="0"/>
              <a:t>токеном</a:t>
            </a:r>
            <a:r>
              <a:rPr lang="ru-RU" dirty="0" smtClean="0"/>
              <a:t>, чтобы узел не мог монопольно полностью захватить все ресурсы сети. По истечении времени владения узел передаёт </a:t>
            </a:r>
            <a:r>
              <a:rPr lang="ru-RU" dirty="0" err="1" smtClean="0"/>
              <a:t>токен</a:t>
            </a:r>
            <a:r>
              <a:rPr lang="ru-RU" dirty="0" smtClean="0"/>
              <a:t> соседнему узлу.</a:t>
            </a:r>
          </a:p>
          <a:p>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119</a:t>
            </a:fld>
            <a:endParaRPr lang="ru-RU"/>
          </a:p>
        </p:txBody>
      </p:sp>
    </p:spTree>
    <p:extLst>
      <p:ext uri="{BB962C8B-B14F-4D97-AF65-F5344CB8AC3E}">
        <p14:creationId xmlns:p14="http://schemas.microsoft.com/office/powerpoint/2010/main" val="2370572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Проблема передачи чувствительного к задержкам трафика решается путём </a:t>
            </a:r>
            <a:r>
              <a:rPr lang="ru-RU" sz="1200" b="0" i="0" kern="1200" dirty="0" err="1" smtClean="0">
                <a:solidFill>
                  <a:schemeClr val="tx1"/>
                </a:solidFill>
                <a:effectLst/>
                <a:latin typeface="+mn-lt"/>
                <a:ea typeface="+mn-ea"/>
                <a:cs typeface="+mn-cs"/>
              </a:rPr>
              <a:t>приоретизации</a:t>
            </a:r>
            <a:r>
              <a:rPr lang="ru-RU" sz="1200" b="0" i="0" kern="1200" dirty="0" smtClean="0">
                <a:solidFill>
                  <a:schemeClr val="tx1"/>
                </a:solidFill>
                <a:effectLst/>
                <a:latin typeface="+mn-lt"/>
                <a:ea typeface="+mn-ea"/>
                <a:cs typeface="+mn-cs"/>
              </a:rPr>
              <a:t> кадров. Передающий узел устанавливает приоритет каждого кадра. Также сам </a:t>
            </a:r>
            <a:r>
              <a:rPr lang="ru-RU" sz="1200" b="0" i="0" kern="1200" dirty="0" err="1" smtClean="0">
                <a:solidFill>
                  <a:schemeClr val="tx1"/>
                </a:solidFill>
                <a:effectLst/>
                <a:latin typeface="+mn-lt"/>
                <a:ea typeface="+mn-ea"/>
                <a:cs typeface="+mn-cs"/>
              </a:rPr>
              <a:t>токен</a:t>
            </a:r>
            <a:r>
              <a:rPr lang="ru-RU" sz="1200" b="0" i="0" kern="1200" dirty="0" smtClean="0">
                <a:solidFill>
                  <a:schemeClr val="tx1"/>
                </a:solidFill>
                <a:effectLst/>
                <a:latin typeface="+mn-lt"/>
                <a:ea typeface="+mn-ea"/>
                <a:cs typeface="+mn-cs"/>
              </a:rPr>
              <a:t> всегда имеет определённый уровень приоритета в каждый момент времени.</a:t>
            </a:r>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120</a:t>
            </a:fld>
            <a:endParaRPr lang="ru-RU"/>
          </a:p>
        </p:txBody>
      </p:sp>
    </p:spTree>
    <p:extLst>
      <p:ext uri="{BB962C8B-B14F-4D97-AF65-F5344CB8AC3E}">
        <p14:creationId xmlns:p14="http://schemas.microsoft.com/office/powerpoint/2010/main" val="28248635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Технологи FDDI является усовершенствованным вариант технологии </a:t>
            </a:r>
            <a:r>
              <a:rPr lang="ru-RU" sz="1200" b="0" i="0" kern="1200" dirty="0" err="1" smtClean="0">
                <a:solidFill>
                  <a:schemeClr val="tx1"/>
                </a:solidFill>
                <a:effectLst/>
                <a:latin typeface="+mn-lt"/>
                <a:ea typeface="+mn-ea"/>
                <a:cs typeface="+mn-cs"/>
              </a:rPr>
              <a:t>Token</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Ring</a:t>
            </a:r>
            <a:r>
              <a:rPr lang="ru-RU" sz="1200" b="0" i="0" kern="1200" dirty="0" smtClean="0">
                <a:solidFill>
                  <a:schemeClr val="tx1"/>
                </a:solidFill>
                <a:effectLst/>
                <a:latin typeface="+mn-lt"/>
                <a:ea typeface="+mn-ea"/>
                <a:cs typeface="+mn-cs"/>
              </a:rPr>
              <a:t>. В ней также используется кольцевая топология и передача </a:t>
            </a:r>
            <a:r>
              <a:rPr lang="ru-RU" sz="1200" b="0" i="0" kern="1200" dirty="0" err="1" smtClean="0">
                <a:solidFill>
                  <a:schemeClr val="tx1"/>
                </a:solidFill>
                <a:effectLst/>
                <a:latin typeface="+mn-lt"/>
                <a:ea typeface="+mn-ea"/>
                <a:cs typeface="+mn-cs"/>
              </a:rPr>
              <a:t>токена</a:t>
            </a:r>
            <a:r>
              <a:rPr lang="ru-RU" sz="1200" b="0" i="0" kern="1200" dirty="0" smtClean="0">
                <a:solidFill>
                  <a:schemeClr val="tx1"/>
                </a:solidFill>
                <a:effectLst/>
                <a:latin typeface="+mn-lt"/>
                <a:ea typeface="+mn-ea"/>
                <a:cs typeface="+mn-cs"/>
              </a:rPr>
              <a:t> от узла к узлу. А отличие заключается в том, что FDDI  функционирует на больших скоростях и имеет более совершенный механизм обеспечения отказоустойчивости. Также это первая технология, которая начала применять оптическое волокно. Оптическое волокно начало применять как раз с 70-х годов прошлого века.</a:t>
            </a:r>
          </a:p>
          <a:p>
            <a:r>
              <a:rPr lang="ru-RU" sz="1200" b="0" i="0" kern="1200" dirty="0" smtClean="0">
                <a:solidFill>
                  <a:schemeClr val="tx1"/>
                </a:solidFill>
                <a:effectLst/>
                <a:latin typeface="+mn-lt"/>
                <a:ea typeface="+mn-ea"/>
                <a:cs typeface="+mn-cs"/>
              </a:rPr>
              <a:t>Для упрощения этой процедуры данные по первичному кольцу всегда передаются в одном направлении (на диаграммах это направление изображается против часовой стрелки), а по вторичному — в обратном (изображается по часовой стрелке). Поэтому при образовании общего кольца из двух колец передатчики станций по-прежнему остаются подключенными к приемникам соседних станций, что позволяет правильно передавать и принимать информацию соседними станциями.</a:t>
            </a:r>
          </a:p>
        </p:txBody>
      </p:sp>
      <p:sp>
        <p:nvSpPr>
          <p:cNvPr id="4" name="Номер слайда 3"/>
          <p:cNvSpPr>
            <a:spLocks noGrp="1"/>
          </p:cNvSpPr>
          <p:nvPr>
            <p:ph type="sldNum" sz="quarter" idx="10"/>
          </p:nvPr>
        </p:nvSpPr>
        <p:spPr/>
        <p:txBody>
          <a:bodyPr/>
          <a:lstStyle/>
          <a:p>
            <a:fld id="{21FF2113-4490-463C-AEDF-3BFF88C013D7}" type="slidenum">
              <a:rPr lang="ru-RU" smtClean="0"/>
              <a:t>121</a:t>
            </a:fld>
            <a:endParaRPr lang="ru-RU"/>
          </a:p>
        </p:txBody>
      </p:sp>
    </p:spTree>
    <p:extLst>
      <p:ext uri="{BB962C8B-B14F-4D97-AF65-F5344CB8AC3E}">
        <p14:creationId xmlns:p14="http://schemas.microsoft.com/office/powerpoint/2010/main" val="57488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Понятие и значение доменных имен. Развитие новых технологий привело к созданию новых объектов интеллектуальной собственности. Одним из таких объектов являются доменные имена. Однако из-за неудобства использования в повседневной работе числовых адресов в 1984г., когда Интернет все еще использовался преимущественно для исследовательских целей, была разработана система доменных имен – </a:t>
            </a:r>
            <a:r>
              <a:rPr lang="ru-RU" sz="1200" b="0" i="0" kern="1200" dirty="0" err="1" smtClean="0">
                <a:solidFill>
                  <a:schemeClr val="tx1"/>
                </a:solidFill>
                <a:effectLst/>
                <a:latin typeface="+mn-lt"/>
                <a:ea typeface="+mn-ea"/>
                <a:cs typeface="+mn-cs"/>
              </a:rPr>
              <a:t>Domain</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Name</a:t>
            </a:r>
            <a:r>
              <a:rPr lang="ru-RU" sz="1200" b="0" i="0" kern="1200" dirty="0" smtClean="0">
                <a:solidFill>
                  <a:schemeClr val="tx1"/>
                </a:solidFill>
                <a:effectLst/>
                <a:latin typeface="+mn-lt"/>
                <a:ea typeface="+mn-ea"/>
                <a:cs typeface="+mn-cs"/>
              </a:rPr>
              <a:t> </a:t>
            </a:r>
            <a:r>
              <a:rPr lang="ru-RU" sz="1200" b="0" i="0" kern="1200" dirty="0" err="1" smtClean="0">
                <a:solidFill>
                  <a:schemeClr val="tx1"/>
                </a:solidFill>
                <a:effectLst/>
                <a:latin typeface="+mn-lt"/>
                <a:ea typeface="+mn-ea"/>
                <a:cs typeface="+mn-cs"/>
              </a:rPr>
              <a:t>System</a:t>
            </a:r>
            <a:r>
              <a:rPr lang="ru-RU" sz="1200" b="0" i="0" kern="1200" dirty="0" smtClean="0">
                <a:solidFill>
                  <a:schemeClr val="tx1"/>
                </a:solidFill>
                <a:effectLst/>
                <a:latin typeface="+mn-lt"/>
                <a:ea typeface="+mn-ea"/>
                <a:cs typeface="+mn-cs"/>
              </a:rPr>
              <a:t> (DNS), позволяющая обращаться не по цифровым IP-адресам, а по специально устанавливаемым именам. То есть данная система позволяет владельцу IP-адреса зарегистрировать алфавитно-цифровую последовательность символов, которую можно использовать в качестве альтернативы его IP-адреса. </a:t>
            </a:r>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123</a:t>
            </a:fld>
            <a:endParaRPr lang="ru-RU"/>
          </a:p>
        </p:txBody>
      </p:sp>
    </p:spTree>
    <p:extLst>
      <p:ext uri="{BB962C8B-B14F-4D97-AF65-F5344CB8AC3E}">
        <p14:creationId xmlns:p14="http://schemas.microsoft.com/office/powerpoint/2010/main" val="9874533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dirty="0" smtClean="0"/>
              <a:t>Доменные имена как и средства индивидуализации предпринимателей оказывают существенное влияние на престиж своего правообладателя. Основная стоимость Интернет-компании складывается из ее престижа, т.е. </a:t>
            </a:r>
            <a:r>
              <a:rPr lang="ru-RU" dirty="0" err="1" smtClean="0"/>
              <a:t>goodwill</a:t>
            </a:r>
            <a:r>
              <a:rPr lang="ru-RU" dirty="0" smtClean="0"/>
              <a:t>. </a:t>
            </a:r>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125</a:t>
            </a:fld>
            <a:endParaRPr lang="ru-RU"/>
          </a:p>
        </p:txBody>
      </p:sp>
    </p:spTree>
    <p:extLst>
      <p:ext uri="{BB962C8B-B14F-4D97-AF65-F5344CB8AC3E}">
        <p14:creationId xmlns:p14="http://schemas.microsoft.com/office/powerpoint/2010/main" val="2955596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В заголовке IP-пакета для хранения IP-адресов отправителя и получателя отводятся два поля, каждое имеет фиксированную длину 4 байта (32 бита). IP-адрес состоит из двух логических частей — номера сети и номера узла в сети.</a:t>
            </a:r>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127</a:t>
            </a:fld>
            <a:endParaRPr lang="ru-RU"/>
          </a:p>
        </p:txBody>
      </p:sp>
    </p:spTree>
    <p:extLst>
      <p:ext uri="{BB962C8B-B14F-4D97-AF65-F5344CB8AC3E}">
        <p14:creationId xmlns:p14="http://schemas.microsoft.com/office/powerpoint/2010/main" val="2778979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fontAlgn="base"/>
            <a:r>
              <a:rPr lang="ru-RU" sz="1200" b="0" i="0" kern="1200" dirty="0" smtClean="0">
                <a:solidFill>
                  <a:schemeClr val="tx1"/>
                </a:solidFill>
                <a:effectLst/>
                <a:latin typeface="+mn-lt"/>
                <a:ea typeface="+mn-ea"/>
                <a:cs typeface="+mn-cs"/>
              </a:rPr>
              <a:t>В небольшой автономной IP-сети условие уникальности номеров сетей и узлов может быть выполнено силами сетевого администратора. В этом случае в распоряжении администратора имеется все адресное пространство, так как совпадение IP-адресов в не связанных между собой сетях не вызовет никаких отрицательных последствий. Администратор может выбирать адреса произвольным образом, соблюдая лишь синтаксические правила и учитывая ограничения на особые адреса. (Таким образом, номер узла в технологии TCP/IP назначается независимо от его локального адреса.) Однако при таком подходе исключена возможность в будущем подсоединить данную сеть к Интернету. Действительно, произвольно выбранные адреса данной сети могут совпасть с централизовано назначенными адресами Интернета. Для того чтобы избежать коллизий, связанных с такого рода совпадениями, в стандартах Интернета определено несколько диапазонов так называемых частных адресов, рекомендуемых для автономного использования:</a:t>
            </a:r>
          </a:p>
          <a:p>
            <a:pPr fontAlgn="base"/>
            <a:r>
              <a:rPr lang="ru-RU" sz="1200" b="0" i="0" kern="1200" dirty="0" smtClean="0">
                <a:solidFill>
                  <a:schemeClr val="tx1"/>
                </a:solidFill>
                <a:effectLst/>
                <a:latin typeface="+mn-lt"/>
                <a:ea typeface="+mn-ea"/>
                <a:cs typeface="+mn-cs"/>
              </a:rPr>
              <a:t>в классе А,</a:t>
            </a:r>
            <a:r>
              <a:rPr lang="ru-RU" sz="1200" b="0" i="0" kern="1200" baseline="0" dirty="0" smtClean="0">
                <a:solidFill>
                  <a:schemeClr val="tx1"/>
                </a:solidFill>
                <a:effectLst/>
                <a:latin typeface="+mn-lt"/>
                <a:ea typeface="+mn-ea"/>
                <a:cs typeface="+mn-cs"/>
              </a:rPr>
              <a:t> </a:t>
            </a:r>
            <a:r>
              <a:rPr lang="ru-RU" sz="1200" b="0" i="0" kern="1200" dirty="0" smtClean="0">
                <a:solidFill>
                  <a:schemeClr val="tx1"/>
                </a:solidFill>
                <a:effectLst/>
                <a:latin typeface="+mn-lt"/>
                <a:ea typeface="+mn-ea"/>
                <a:cs typeface="+mn-cs"/>
              </a:rPr>
              <a:t>в классе В, в классе С.</a:t>
            </a:r>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134</a:t>
            </a:fld>
            <a:endParaRPr lang="ru-RU"/>
          </a:p>
        </p:txBody>
      </p:sp>
    </p:spTree>
    <p:extLst>
      <p:ext uri="{BB962C8B-B14F-4D97-AF65-F5344CB8AC3E}">
        <p14:creationId xmlns:p14="http://schemas.microsoft.com/office/powerpoint/2010/main" val="1149973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Хорошим примером этого является домашняя сеть. У вас есть маршрутизатор, который будет использовать подсеть для безопасности. Ваш провайдер выделит вам публичный </a:t>
            </a:r>
            <a:r>
              <a:rPr lang="ru-RU" sz="1200" b="0" i="0" u="none" strike="noStrike" kern="1200" dirty="0" smtClean="0">
                <a:solidFill>
                  <a:schemeClr val="tx1"/>
                </a:solidFill>
                <a:effectLst/>
                <a:latin typeface="+mn-lt"/>
                <a:ea typeface="+mn-ea"/>
                <a:cs typeface="+mn-cs"/>
                <a:hlinkClick r:id="rId3" tooltip="Что такое статический IP-адрес"/>
              </a:rPr>
              <a:t>статический IP-адрес</a:t>
            </a:r>
            <a:r>
              <a:rPr lang="ru-RU" sz="1200" b="0" i="0" kern="1200" dirty="0" smtClean="0">
                <a:solidFill>
                  <a:schemeClr val="tx1"/>
                </a:solidFill>
                <a:effectLst/>
                <a:latin typeface="+mn-lt"/>
                <a:ea typeface="+mn-ea"/>
                <a:cs typeface="+mn-cs"/>
              </a:rPr>
              <a:t>. Этот номер будут видеть все веб-сайты и всё, к чему вы подключаетесь. Однако, если вы проверите идентификатор вашего компьютера, он, скорее всего, будет отличаться от общедоступного.</a:t>
            </a:r>
          </a:p>
          <a:p>
            <a:r>
              <a:rPr lang="ru-RU" sz="1200" b="0" i="0" kern="1200" dirty="0" smtClean="0">
                <a:solidFill>
                  <a:schemeClr val="tx1"/>
                </a:solidFill>
                <a:effectLst/>
                <a:latin typeface="+mn-lt"/>
                <a:ea typeface="+mn-ea"/>
                <a:cs typeface="+mn-cs"/>
              </a:rPr>
              <a:t>Это связано с тем, что на домашней стороне маршрутизатора имеется подсеть, на которую нельзя войти извне. Входящий трафик проходит через маршрутизатор, который затем транслирует и направляет его на правильное устройство. Таким образом, все по-прежнему связано, но не подключено напрямую.</a:t>
            </a:r>
          </a:p>
          <a:p>
            <a:r>
              <a:rPr lang="ru-RU" sz="1200" b="0" i="0" kern="1200" dirty="0" smtClean="0">
                <a:solidFill>
                  <a:schemeClr val="tx1"/>
                </a:solidFill>
                <a:effectLst/>
                <a:latin typeface="+mn-lt"/>
                <a:ea typeface="+mn-ea"/>
                <a:cs typeface="+mn-cs"/>
              </a:rPr>
              <a:t>Подсеть увеличит количество устройств, которые могут выходить в Интернет. В стандартной сети </a:t>
            </a:r>
            <a:r>
              <a:rPr lang="ru-RU" sz="1200" b="0" i="0" u="none" strike="noStrike" kern="1200" dirty="0" smtClean="0">
                <a:solidFill>
                  <a:schemeClr val="tx1"/>
                </a:solidFill>
                <a:effectLst/>
                <a:latin typeface="+mn-lt"/>
                <a:ea typeface="+mn-ea"/>
                <a:cs typeface="+mn-cs"/>
                <a:hlinkClick r:id="rId4" tooltip="Четвёртая версия интернет протокола (IPv4)"/>
              </a:rPr>
              <a:t>IPv4</a:t>
            </a:r>
            <a:r>
              <a:rPr lang="ru-RU" sz="1200" b="0" i="0" kern="1200" dirty="0" smtClean="0">
                <a:solidFill>
                  <a:schemeClr val="tx1"/>
                </a:solidFill>
                <a:effectLst/>
                <a:latin typeface="+mn-lt"/>
                <a:ea typeface="+mn-ea"/>
                <a:cs typeface="+mn-cs"/>
              </a:rPr>
              <a:t> доступно только около трех миллиардов адресов. Этого недостаточно, чтобы удовлетворить глобальный спрос на подключение.</a:t>
            </a:r>
          </a:p>
          <a:p>
            <a:r>
              <a:rPr lang="ru-RU" sz="1200" b="0" i="0" kern="1200" dirty="0" smtClean="0">
                <a:solidFill>
                  <a:schemeClr val="tx1"/>
                </a:solidFill>
                <a:effectLst/>
                <a:latin typeface="+mn-lt"/>
                <a:ea typeface="+mn-ea"/>
                <a:cs typeface="+mn-cs"/>
              </a:rPr>
              <a:t>Таким образом, подсеть используется, чтобы позволить множеству устройств подключаться к Интернету с одним IP-адресом через </a:t>
            </a:r>
            <a:r>
              <a:rPr lang="ru-RU" sz="1200" b="0" i="0" u="none" strike="noStrike" kern="1200" dirty="0" smtClean="0">
                <a:solidFill>
                  <a:schemeClr val="tx1"/>
                </a:solidFill>
                <a:effectLst/>
                <a:latin typeface="+mn-lt"/>
                <a:ea typeface="+mn-ea"/>
                <a:cs typeface="+mn-cs"/>
                <a:hlinkClick r:id="rId5" tooltip="Маршрутизатор TP-Link"/>
              </a:rPr>
              <a:t>маршрутизатор</a:t>
            </a:r>
            <a:r>
              <a:rPr lang="ru-RU" sz="1200" b="0" i="0" kern="1200" dirty="0" smtClean="0">
                <a:solidFill>
                  <a:schemeClr val="tx1"/>
                </a:solidFill>
                <a:effectLst/>
                <a:latin typeface="+mn-lt"/>
                <a:ea typeface="+mn-ea"/>
                <a:cs typeface="+mn-cs"/>
              </a:rPr>
              <a:t> (как у вас дома или в офисе), и таким образом намного больше трех миллиардов устройств может иметь доступ к интернету.</a:t>
            </a:r>
          </a:p>
        </p:txBody>
      </p:sp>
      <p:sp>
        <p:nvSpPr>
          <p:cNvPr id="4" name="Номер слайда 3"/>
          <p:cNvSpPr>
            <a:spLocks noGrp="1"/>
          </p:cNvSpPr>
          <p:nvPr>
            <p:ph type="sldNum" sz="quarter" idx="10"/>
          </p:nvPr>
        </p:nvSpPr>
        <p:spPr/>
        <p:txBody>
          <a:bodyPr/>
          <a:lstStyle/>
          <a:p>
            <a:fld id="{21FF2113-4490-463C-AEDF-3BFF88C013D7}" type="slidenum">
              <a:rPr lang="ru-RU" smtClean="0"/>
              <a:t>138</a:t>
            </a:fld>
            <a:endParaRPr lang="ru-RU"/>
          </a:p>
        </p:txBody>
      </p:sp>
    </p:spTree>
    <p:extLst>
      <p:ext uri="{BB962C8B-B14F-4D97-AF65-F5344CB8AC3E}">
        <p14:creationId xmlns:p14="http://schemas.microsoft.com/office/powerpoint/2010/main" val="1950058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Проще говоря, DNS — это система, которая позволяет людям и компьютерам легче общаться. Люди используют имена, компьютеры используют числа, а система доменных имён встаёт между ними, чтобы сопоставить имена с числами в указанном списке. Это, как контакты в вашей телефонной книге, благодаря DNS вам не нужно запоминать IP-</a:t>
            </a:r>
            <a:r>
              <a:rPr lang="ru-RU" sz="1200" b="0" i="0" kern="1200" dirty="0" err="1" smtClean="0">
                <a:solidFill>
                  <a:schemeClr val="tx1"/>
                </a:solidFill>
                <a:effectLst/>
                <a:latin typeface="+mn-lt"/>
                <a:ea typeface="+mn-ea"/>
                <a:cs typeface="+mn-cs"/>
              </a:rPr>
              <a:t>адресса</a:t>
            </a:r>
            <a:r>
              <a:rPr lang="ru-RU" sz="1200" b="0" i="0" kern="1200" dirty="0" smtClean="0">
                <a:solidFill>
                  <a:schemeClr val="tx1"/>
                </a:solidFill>
                <a:effectLst/>
                <a:latin typeface="+mn-lt"/>
                <a:ea typeface="+mn-ea"/>
                <a:cs typeface="+mn-cs"/>
              </a:rPr>
              <a:t>, чтобы попасть на определённый сайт.</a:t>
            </a:r>
          </a:p>
          <a:p>
            <a:r>
              <a:rPr lang="ru-RU" sz="1200" b="0" i="0" kern="1200" dirty="0" smtClean="0">
                <a:solidFill>
                  <a:schemeClr val="tx1"/>
                </a:solidFill>
                <a:effectLst/>
                <a:latin typeface="+mn-lt"/>
                <a:ea typeface="+mn-ea"/>
                <a:cs typeface="+mn-cs"/>
              </a:rPr>
              <a:t>По сути, DNS — это система распределённых баз данных в сети, основная функция которой — преобразовать запрос определённых имён хостов в конкретные IP-номера, понятные компьютерам. Информация об именах хостов, совпадающих с номерами, хранится в каталоге. Каталог хранится на серверах доменных имён. Таким образом, система доменных имён также является каталогом важной информации о доменах.</a:t>
            </a:r>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145</a:t>
            </a:fld>
            <a:endParaRPr lang="ru-RU"/>
          </a:p>
        </p:txBody>
      </p:sp>
    </p:spTree>
    <p:extLst>
      <p:ext uri="{BB962C8B-B14F-4D97-AF65-F5344CB8AC3E}">
        <p14:creationId xmlns:p14="http://schemas.microsoft.com/office/powerpoint/2010/main" val="270815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Иерархия доменных имен аналогична иерархии имен файлов, принятой во многих популярных файловых системах. Дерево имен начинается с корня, обозначаемого здесь точкой (.). Затем следует старшая символьная часть имени, вторая по старшинству символьная часть имени и т. д. Младшая часть имени соответствует конечному узлу сети. В отличие от имен файлов, при записи которых сначала указывается самая старшая составляющая, затем составляющая более низкого уровня и т. д., запись доменного имени начинается с самой младшей составляющей, а заканчивается самой старшей. Составные части доменного имени отделяются друг от друга точкой. Например, в имени home.microsoft.com составляющая </a:t>
            </a:r>
            <a:r>
              <a:rPr lang="ru-RU" sz="1200" b="0" i="0" kern="1200" dirty="0" err="1" smtClean="0">
                <a:solidFill>
                  <a:schemeClr val="tx1"/>
                </a:solidFill>
                <a:effectLst/>
                <a:latin typeface="+mn-lt"/>
                <a:ea typeface="+mn-ea"/>
                <a:cs typeface="+mn-cs"/>
              </a:rPr>
              <a:t>home</a:t>
            </a:r>
            <a:r>
              <a:rPr lang="ru-RU" sz="1200" b="0" i="0" kern="1200" dirty="0" smtClean="0">
                <a:solidFill>
                  <a:schemeClr val="tx1"/>
                </a:solidFill>
                <a:effectLst/>
                <a:latin typeface="+mn-lt"/>
                <a:ea typeface="+mn-ea"/>
                <a:cs typeface="+mn-cs"/>
              </a:rPr>
              <a:t> является именем одного из компьютеров в домене mlcrosoft.com.</a:t>
            </a:r>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147</a:t>
            </a:fld>
            <a:endParaRPr lang="ru-RU"/>
          </a:p>
        </p:txBody>
      </p:sp>
    </p:spTree>
    <p:extLst>
      <p:ext uri="{BB962C8B-B14F-4D97-AF65-F5344CB8AC3E}">
        <p14:creationId xmlns:p14="http://schemas.microsoft.com/office/powerpoint/2010/main" val="26043430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Для каждого домена имен создается свой DNS-сервер. На серверах применяют два подхода к распределению имен. В первом случае сервер может хранить отображения «доменное имя — IP-адрес» для всего домена, включая все его </a:t>
            </a:r>
            <a:r>
              <a:rPr lang="ru-RU" sz="1200" b="0" i="0" kern="1200" dirty="0" err="1" smtClean="0">
                <a:solidFill>
                  <a:schemeClr val="tx1"/>
                </a:solidFill>
                <a:effectLst/>
                <a:latin typeface="+mn-lt"/>
                <a:ea typeface="+mn-ea"/>
                <a:cs typeface="+mn-cs"/>
              </a:rPr>
              <a:t>поддомены</a:t>
            </a:r>
            <a:r>
              <a:rPr lang="ru-RU" sz="1200" b="0" i="0" kern="1200" dirty="0" smtClean="0">
                <a:solidFill>
                  <a:schemeClr val="tx1"/>
                </a:solidFill>
                <a:effectLst/>
                <a:latin typeface="+mn-lt"/>
                <a:ea typeface="+mn-ea"/>
                <a:cs typeface="+mn-cs"/>
              </a:rPr>
              <a:t>. Однако такое решение оказывается плохо масштабируемым, так как при добавлении новых </a:t>
            </a:r>
            <a:r>
              <a:rPr lang="ru-RU" sz="1200" b="0" i="0" kern="1200" dirty="0" err="1" smtClean="0">
                <a:solidFill>
                  <a:schemeClr val="tx1"/>
                </a:solidFill>
                <a:effectLst/>
                <a:latin typeface="+mn-lt"/>
                <a:ea typeface="+mn-ea"/>
                <a:cs typeface="+mn-cs"/>
              </a:rPr>
              <a:t>поддоменов</a:t>
            </a:r>
            <a:r>
              <a:rPr lang="ru-RU" sz="1200" b="0" i="0" kern="1200" dirty="0" smtClean="0">
                <a:solidFill>
                  <a:schemeClr val="tx1"/>
                </a:solidFill>
                <a:effectLst/>
                <a:latin typeface="+mn-lt"/>
                <a:ea typeface="+mn-ea"/>
                <a:cs typeface="+mn-cs"/>
              </a:rPr>
              <a:t> нагрузка ка этот сервер может превысить его возможности. Чаще используется другой подход, когда сервер домена хранит только имена, которые заканчиваются на следующем ниже уровне иерархии по сравнению с именем домена.</a:t>
            </a:r>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151</a:t>
            </a:fld>
            <a:endParaRPr lang="ru-RU"/>
          </a:p>
        </p:txBody>
      </p:sp>
    </p:spTree>
    <p:extLst>
      <p:ext uri="{BB962C8B-B14F-4D97-AF65-F5344CB8AC3E}">
        <p14:creationId xmlns:p14="http://schemas.microsoft.com/office/powerpoint/2010/main" val="10724783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pPr marL="114300" indent="0" fontAlgn="base">
              <a:buNone/>
            </a:pPr>
            <a:r>
              <a:rPr lang="ru-RU" dirty="0" smtClean="0"/>
              <a:t>В этой схеме клиент перепоручает работу своему серверу, именно поэтому схема называется рекурсивной, или косвенной. Практически все DNS-клиенты используют рекурсивную процедуру.</a:t>
            </a:r>
            <a:r>
              <a:rPr lang="ru-RU" sz="1200" b="0" i="0" kern="1200" dirty="0" smtClean="0">
                <a:solidFill>
                  <a:schemeClr val="tx1"/>
                </a:solidFill>
                <a:effectLst/>
                <a:latin typeface="+mn-lt"/>
                <a:ea typeface="+mn-ea"/>
                <a:cs typeface="+mn-cs"/>
              </a:rPr>
              <a:t> Для ускорения поиска IP-адресов DNS-серверы широко применяют кэширование проходящих через них ответов. Чтобы служба DNS могла оперативно отрабатывать изменения, происходящие в сети, ответы кэшируются на относительно короткое время — обычно от нескольких часов до нескольких дней.</a:t>
            </a:r>
            <a:endParaRPr lang="ru-RU" dirty="0" smtClean="0"/>
          </a:p>
        </p:txBody>
      </p:sp>
      <p:sp>
        <p:nvSpPr>
          <p:cNvPr id="4" name="Номер слайда 3"/>
          <p:cNvSpPr>
            <a:spLocks noGrp="1"/>
          </p:cNvSpPr>
          <p:nvPr>
            <p:ph type="sldNum" sz="quarter" idx="10"/>
          </p:nvPr>
        </p:nvSpPr>
        <p:spPr/>
        <p:txBody>
          <a:bodyPr/>
          <a:lstStyle/>
          <a:p>
            <a:fld id="{21FF2113-4490-463C-AEDF-3BFF88C013D7}" type="slidenum">
              <a:rPr lang="ru-RU" smtClean="0"/>
              <a:t>153</a:t>
            </a:fld>
            <a:endParaRPr lang="ru-RU"/>
          </a:p>
        </p:txBody>
      </p:sp>
    </p:spTree>
    <p:extLst>
      <p:ext uri="{BB962C8B-B14F-4D97-AF65-F5344CB8AC3E}">
        <p14:creationId xmlns:p14="http://schemas.microsoft.com/office/powerpoint/2010/main" val="32732231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sz="1200" b="0" i="0" kern="1200" dirty="0" smtClean="0">
                <a:solidFill>
                  <a:schemeClr val="tx1"/>
                </a:solidFill>
                <a:effectLst/>
                <a:latin typeface="+mn-lt"/>
                <a:ea typeface="+mn-ea"/>
                <a:cs typeface="+mn-cs"/>
              </a:rPr>
              <a:t>Многие программы и утилиты, пользующиеся службой DNS, пытаются найти имя узла по его адресу в том случае, когда пользователем задан только адрес (или этот адрес программа узнала из пришедшего пакета). Обратная запись не всегда существует даже для тех адресов, для которых есть прямые записи. Ее могут просто забыть создать или же ее создание требует дополнительной оплаты. Обратная задача решается в Интернете путем организации так называемых обратных зон.</a:t>
            </a:r>
            <a:endParaRPr lang="ru-RU" dirty="0"/>
          </a:p>
        </p:txBody>
      </p:sp>
      <p:sp>
        <p:nvSpPr>
          <p:cNvPr id="4" name="Номер слайда 3"/>
          <p:cNvSpPr>
            <a:spLocks noGrp="1"/>
          </p:cNvSpPr>
          <p:nvPr>
            <p:ph type="sldNum" sz="quarter" idx="10"/>
          </p:nvPr>
        </p:nvSpPr>
        <p:spPr/>
        <p:txBody>
          <a:bodyPr/>
          <a:lstStyle/>
          <a:p>
            <a:fld id="{21FF2113-4490-463C-AEDF-3BFF88C013D7}" type="slidenum">
              <a:rPr lang="ru-RU" smtClean="0"/>
              <a:t>154</a:t>
            </a:fld>
            <a:endParaRPr lang="ru-RU"/>
          </a:p>
        </p:txBody>
      </p:sp>
    </p:spTree>
    <p:extLst>
      <p:ext uri="{BB962C8B-B14F-4D97-AF65-F5344CB8AC3E}">
        <p14:creationId xmlns:p14="http://schemas.microsoft.com/office/powerpoint/2010/main" val="20162641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27.05.2021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27.05.2021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ru-RU" smtClean="0"/>
              <a:t>Образец заголовка</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27.05.2021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B4C71EC6-210F-42DE-9C53-41977AD35B3D}" type="datetimeFigureOut">
              <a:rPr lang="ru-RU" smtClean="0"/>
              <a:t>27.05.2021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Date Placeholder 6"/>
          <p:cNvSpPr>
            <a:spLocks noGrp="1"/>
          </p:cNvSpPr>
          <p:nvPr>
            <p:ph type="dt" sz="half" idx="10"/>
          </p:nvPr>
        </p:nvSpPr>
        <p:spPr/>
        <p:txBody>
          <a:bodyPr/>
          <a:lstStyle/>
          <a:p>
            <a:fld id="{B4C71EC6-210F-42DE-9C53-41977AD35B3D}" type="datetimeFigureOut">
              <a:rPr lang="ru-RU" smtClean="0"/>
              <a:t>27.05.2021</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27.05.2021</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C71EC6-210F-42DE-9C53-41977AD35B3D}" type="datetimeFigureOut">
              <a:rPr lang="ru-RU" smtClean="0"/>
              <a:t>27.05.2021</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ru-RU" smtClean="0"/>
              <a:t>Образец заголовка</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27.05.2021</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304800" y="381000"/>
            <a:ext cx="7772400" cy="494284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ru-RU" smtClean="0"/>
              <a:t>Образец заголовка</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8" name="Date Placeholder 7"/>
          <p:cNvSpPr>
            <a:spLocks noGrp="1"/>
          </p:cNvSpPr>
          <p:nvPr>
            <p:ph type="dt" sz="half" idx="10"/>
          </p:nvPr>
        </p:nvSpPr>
        <p:spPr/>
        <p:txBody>
          <a:bodyPr/>
          <a:lstStyle/>
          <a:p>
            <a:fld id="{B4C71EC6-210F-42DE-9C53-41977AD35B3D}" type="datetimeFigureOut">
              <a:rPr lang="ru-RU" smtClean="0"/>
              <a:t>27.05.2021</a:t>
            </a:fld>
            <a:endParaRPr lang="ru-RU"/>
          </a:p>
        </p:txBody>
      </p:sp>
      <p:sp>
        <p:nvSpPr>
          <p:cNvPr id="9" name="Slide Number Placeholder 8"/>
          <p:cNvSpPr>
            <a:spLocks noGrp="1"/>
          </p:cNvSpPr>
          <p:nvPr>
            <p:ph type="sldNum" sz="quarter" idx="11"/>
          </p:nvPr>
        </p:nvSpPr>
        <p:spPr/>
        <p:txBody>
          <a:bodyPr/>
          <a:lstStyle/>
          <a:p>
            <a:fld id="{B19B0651-EE4F-4900-A07F-96A6BFA9D0F0}" type="slidenum">
              <a:rPr lang="ru-RU" smtClean="0"/>
              <a:t>‹#›</a:t>
            </a:fld>
            <a:endParaRPr lang="ru-RU"/>
          </a:p>
        </p:txBody>
      </p:sp>
      <p:sp>
        <p:nvSpPr>
          <p:cNvPr id="10" name="Footer Placeholder 9"/>
          <p:cNvSpPr>
            <a:spLocks noGrp="1"/>
          </p:cNvSpPr>
          <p:nvPr>
            <p:ph type="ftr" sz="quarter" idx="12"/>
          </p:nvPr>
        </p:nvSpPr>
        <p:spPr/>
        <p:txBody>
          <a:bodyPr/>
          <a:lstStyle/>
          <a:p>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27.05.2021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27.05.2021</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ru-RU" smtClean="0"/>
              <a:t>Образец заголовка</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B19B0651-EE4F-4900-A07F-96A6BFA9D0F0}" type="slidenum">
              <a:rPr lang="ru-RU" smtClean="0"/>
              <a:t>‹#›</a:t>
            </a:fld>
            <a:endParaRPr lang="ru-RU"/>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ru-RU"/>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B4C71EC6-210F-42DE-9C53-41977AD35B3D}" type="datetimeFigureOut">
              <a:rPr lang="ru-RU" smtClean="0"/>
              <a:t>27.05.2021</a:t>
            </a:fld>
            <a:endParaRPr lang="ru-R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8.jf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pPr algn="ctr"/>
            <a:r>
              <a:rPr lang="ru-RU" dirty="0" smtClean="0"/>
              <a:t>Компьютерные сети</a:t>
            </a:r>
            <a:endParaRPr lang="ru-RU" dirty="0"/>
          </a:p>
        </p:txBody>
      </p:sp>
      <p:sp>
        <p:nvSpPr>
          <p:cNvPr id="3" name="Подзаголовок 2"/>
          <p:cNvSpPr>
            <a:spLocks noGrp="1"/>
          </p:cNvSpPr>
          <p:nvPr>
            <p:ph type="subTitle" idx="1"/>
          </p:nvPr>
        </p:nvSpPr>
        <p:spPr/>
        <p:txBody>
          <a:bodyPr/>
          <a:lstStyle/>
          <a:p>
            <a:pPr algn="ctr"/>
            <a:r>
              <a:rPr lang="ru-RU" dirty="0" smtClean="0"/>
              <a:t>Курс лекций</a:t>
            </a:r>
            <a:endParaRPr lang="ru-RU" dirty="0"/>
          </a:p>
        </p:txBody>
      </p:sp>
    </p:spTree>
    <p:extLst>
      <p:ext uri="{BB962C8B-B14F-4D97-AF65-F5344CB8AC3E}">
        <p14:creationId xmlns:p14="http://schemas.microsoft.com/office/powerpoint/2010/main" val="1597974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4400" b="1" dirty="0" smtClean="0"/>
              <a:t>История развития компьютерных сетей</a:t>
            </a:r>
            <a:endParaRPr lang="ru-RU" sz="4400" b="1" dirty="0"/>
          </a:p>
        </p:txBody>
      </p:sp>
      <p:sp>
        <p:nvSpPr>
          <p:cNvPr id="3" name="Объект 2"/>
          <p:cNvSpPr>
            <a:spLocks noGrp="1"/>
          </p:cNvSpPr>
          <p:nvPr>
            <p:ph idx="1"/>
          </p:nvPr>
        </p:nvSpPr>
        <p:spPr/>
        <p:txBody>
          <a:bodyPr>
            <a:normAutofit/>
          </a:bodyPr>
          <a:lstStyle/>
          <a:p>
            <a:pPr marL="114300" indent="0">
              <a:buNone/>
            </a:pPr>
            <a:r>
              <a:rPr lang="ru-RU" sz="2400" dirty="0">
                <a:latin typeface="Times New Roman" panose="02020603050405020304" pitchFamily="18" charset="0"/>
                <a:cs typeface="Times New Roman" panose="02020603050405020304" pitchFamily="18" charset="0"/>
              </a:rPr>
              <a:t>Концепция вычислительных сетей является логическим результатом эволюции компьютерной технологии. Собственно необходимость объединения ЭВМ в составе компьютерных сетей является результатом развития ЭВМ, расширения сфер их применимости и увеличения численности ЭВМ в организациях. </a:t>
            </a:r>
          </a:p>
        </p:txBody>
      </p:sp>
    </p:spTree>
    <p:extLst>
      <p:ext uri="{BB962C8B-B14F-4D97-AF65-F5344CB8AC3E}">
        <p14:creationId xmlns:p14="http://schemas.microsoft.com/office/powerpoint/2010/main" val="1793196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Системы пакетной обработки</a:t>
            </a:r>
          </a:p>
        </p:txBody>
      </p:sp>
      <p:sp>
        <p:nvSpPr>
          <p:cNvPr id="3" name="Объект 2"/>
          <p:cNvSpPr>
            <a:spLocks noGrp="1"/>
          </p:cNvSpPr>
          <p:nvPr>
            <p:ph idx="1"/>
          </p:nvPr>
        </p:nvSpPr>
        <p:spPr>
          <a:xfrm>
            <a:off x="457200" y="1772816"/>
            <a:ext cx="7620000" cy="4627984"/>
          </a:xfrm>
        </p:spPr>
        <p:txBody>
          <a:bodyPr/>
          <a:lstStyle/>
          <a:p>
            <a:pPr marL="114300" indent="0">
              <a:buNone/>
            </a:pPr>
            <a:r>
              <a:rPr lang="ru-RU" dirty="0">
                <a:latin typeface="Times New Roman" panose="02020603050405020304" pitchFamily="18" charset="0"/>
                <a:cs typeface="Times New Roman" panose="02020603050405020304" pitchFamily="18" charset="0"/>
              </a:rPr>
              <a:t>Первые компьютеры 1950-х годов были громоздкими и дорогими. Часто эти монстры занимали целые здания. Такие компьютеры не были предназначены для интерактивной работы пользователя, а использовались в режиме пакетной </a:t>
            </a:r>
            <a:r>
              <a:rPr lang="ru-RU" dirty="0" smtClean="0">
                <a:latin typeface="Times New Roman" panose="02020603050405020304" pitchFamily="18" charset="0"/>
                <a:cs typeface="Times New Roman" panose="02020603050405020304" pitchFamily="18" charset="0"/>
              </a:rPr>
              <a:t>обработки.</a:t>
            </a:r>
          </a:p>
          <a:p>
            <a:pPr marL="114300" indent="0">
              <a:buNone/>
            </a:pPr>
            <a:endParaRPr lang="ru-RU" dirty="0">
              <a:latin typeface="Times New Roman" panose="02020603050405020304" pitchFamily="18" charset="0"/>
              <a:cs typeface="Times New Roman" panose="02020603050405020304" pitchFamily="18" charset="0"/>
            </a:endParaRPr>
          </a:p>
        </p:txBody>
      </p:sp>
      <p:pic>
        <p:nvPicPr>
          <p:cNvPr id="1027" name="Picture 3" descr="C:\Users\User\Desktop\Снимок.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861048"/>
            <a:ext cx="6192688" cy="2260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712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Многотерминальные системы</a:t>
            </a:r>
          </a:p>
        </p:txBody>
      </p:sp>
      <p:sp>
        <p:nvSpPr>
          <p:cNvPr id="3" name="Объект 2"/>
          <p:cNvSpPr>
            <a:spLocks noGrp="1"/>
          </p:cNvSpPr>
          <p:nvPr>
            <p:ph idx="1"/>
          </p:nvPr>
        </p:nvSpPr>
        <p:spPr>
          <a:xfrm>
            <a:off x="457200" y="1600200"/>
            <a:ext cx="7620000" cy="2260848"/>
          </a:xfrm>
        </p:spPr>
        <p:txBody>
          <a:bodyPr/>
          <a:lstStyle/>
          <a:p>
            <a:pPr marL="114300" indent="0">
              <a:buNone/>
            </a:pPr>
            <a:r>
              <a:rPr lang="ru-RU" dirty="0">
                <a:latin typeface="Times New Roman" panose="02020603050405020304" pitchFamily="18" charset="0"/>
                <a:cs typeface="Times New Roman" panose="02020603050405020304" pitchFamily="18" charset="0"/>
              </a:rPr>
              <a:t>По мере удешевления процессоров в начале 1960-х годов появились новые способы организации вычислительного процесса, которые позволили учесть интересы пользователей. Начали развиваться интерактивные многотерминальные системы разделения </a:t>
            </a:r>
            <a:r>
              <a:rPr lang="ru-RU" dirty="0" smtClean="0">
                <a:latin typeface="Times New Roman" panose="02020603050405020304" pitchFamily="18" charset="0"/>
                <a:cs typeface="Times New Roman" panose="02020603050405020304" pitchFamily="18" charset="0"/>
              </a:rPr>
              <a:t>времени.</a:t>
            </a:r>
            <a:endParaRPr lang="ru-RU" dirty="0">
              <a:latin typeface="Times New Roman" panose="02020603050405020304" pitchFamily="18" charset="0"/>
              <a:cs typeface="Times New Roman" panose="02020603050405020304" pitchFamily="18" charset="0"/>
            </a:endParaRPr>
          </a:p>
        </p:txBody>
      </p:sp>
      <p:pic>
        <p:nvPicPr>
          <p:cNvPr id="2050" name="Picture 2" descr="C:\Users\User\Desktop\Снимок.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795117"/>
            <a:ext cx="6878466" cy="2298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0995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Появление глобальных сетей</a:t>
            </a:r>
          </a:p>
        </p:txBody>
      </p:sp>
      <p:sp>
        <p:nvSpPr>
          <p:cNvPr id="3" name="Объект 2"/>
          <p:cNvSpPr>
            <a:spLocks noGrp="1"/>
          </p:cNvSpPr>
          <p:nvPr>
            <p:ph idx="1"/>
          </p:nvPr>
        </p:nvSpPr>
        <p:spPr/>
        <p:txBody>
          <a:bodyPr>
            <a:normAutofit lnSpcReduction="10000"/>
          </a:bodyPr>
          <a:lstStyle/>
          <a:p>
            <a:pPr marL="114300" indent="0">
              <a:buNone/>
            </a:pPr>
            <a:r>
              <a:rPr lang="ru-RU" dirty="0">
                <a:latin typeface="Times New Roman" panose="02020603050405020304" pitchFamily="18" charset="0"/>
                <a:cs typeface="Times New Roman" panose="02020603050405020304" pitchFamily="18" charset="0"/>
              </a:rPr>
              <a:t>Терминалы соединялись с компьютерами через телефонные сети с помощью модемов. Такие сети позволяли многочисленным пользователям получать удаленный доступ к разделяемым ресурсам нескольких мощных компьютеров класса </a:t>
            </a:r>
            <a:r>
              <a:rPr lang="ru-RU" dirty="0" err="1">
                <a:latin typeface="Times New Roman" panose="02020603050405020304" pitchFamily="18" charset="0"/>
                <a:cs typeface="Times New Roman" panose="02020603050405020304" pitchFamily="18" charset="0"/>
              </a:rPr>
              <a:t>супер-ЭВМ</a:t>
            </a:r>
            <a:r>
              <a:rPr lang="ru-RU" dirty="0" smtClean="0">
                <a:latin typeface="Times New Roman" panose="02020603050405020304" pitchFamily="18" charset="0"/>
                <a:cs typeface="Times New Roman" panose="02020603050405020304" pitchFamily="18" charset="0"/>
              </a:rPr>
              <a:t>.</a:t>
            </a:r>
          </a:p>
          <a:p>
            <a:pPr marL="114300" indent="0">
              <a:buNone/>
            </a:pPr>
            <a:r>
              <a:rPr lang="ru-RU" dirty="0">
                <a:latin typeface="Times New Roman" panose="02020603050405020304" pitchFamily="18" charset="0"/>
                <a:cs typeface="Times New Roman" panose="02020603050405020304" pitchFamily="18" charset="0"/>
              </a:rPr>
              <a:t>Затем появились системы, в которых наряду с удаленными </a:t>
            </a:r>
            <a:r>
              <a:rPr lang="ru-RU" dirty="0" smtClean="0">
                <a:latin typeface="Times New Roman" panose="02020603050405020304" pitchFamily="18" charset="0"/>
                <a:cs typeface="Times New Roman" panose="02020603050405020304" pitchFamily="18" charset="0"/>
              </a:rPr>
              <a:t>соединениями </a:t>
            </a:r>
            <a:r>
              <a:rPr lang="ru-RU" dirty="0">
                <a:latin typeface="Times New Roman" panose="02020603050405020304" pitchFamily="18" charset="0"/>
                <a:cs typeface="Times New Roman" panose="02020603050405020304" pitchFamily="18" charset="0"/>
              </a:rPr>
              <a:t>типа терминал – компьютер были реализованы и удаленные связи типа компьютер – компьютер. Компьютеры получили возможность обмениваться данными в автоматическом режиме, что, собственно, и является базовым механизмом любой вычислительной сети. Используя этот механизм, в первых сетях были реализованы службы обмена файлами, синхронизации баз данных, электронной почты и другие, ставшие теперь традиционными сетевые службы.</a:t>
            </a:r>
          </a:p>
        </p:txBody>
      </p:sp>
    </p:spTree>
    <p:extLst>
      <p:ext uri="{BB962C8B-B14F-4D97-AF65-F5344CB8AC3E}">
        <p14:creationId xmlns:p14="http://schemas.microsoft.com/office/powerpoint/2010/main" val="3542822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Первые локальные сети</a:t>
            </a:r>
          </a:p>
        </p:txBody>
      </p:sp>
      <p:sp>
        <p:nvSpPr>
          <p:cNvPr id="3" name="Объект 2"/>
          <p:cNvSpPr>
            <a:spLocks noGrp="1"/>
          </p:cNvSpPr>
          <p:nvPr>
            <p:ph idx="1"/>
          </p:nvPr>
        </p:nvSpPr>
        <p:spPr>
          <a:xfrm>
            <a:off x="457200" y="1600200"/>
            <a:ext cx="7620000" cy="2188840"/>
          </a:xfrm>
        </p:spPr>
        <p:txBody>
          <a:bodyPr/>
          <a:lstStyle/>
          <a:p>
            <a:pPr marL="114300" indent="0">
              <a:buNone/>
            </a:pPr>
            <a:r>
              <a:rPr lang="ru-RU" dirty="0">
                <a:latin typeface="Times New Roman" panose="02020603050405020304" pitchFamily="18" charset="0"/>
                <a:cs typeface="Times New Roman" panose="02020603050405020304" pitchFamily="18" charset="0"/>
              </a:rPr>
              <a:t>В начале 1970-х годов произошел технологический прорыв в области производства компьютерных компонентов – появились большие интегральные схемы. Их сравнительно невысокая стоимость и высокие функциональные возможности привели к созданию </a:t>
            </a:r>
            <a:r>
              <a:rPr lang="ru-RU" dirty="0" err="1">
                <a:latin typeface="Times New Roman" panose="02020603050405020304" pitchFamily="18" charset="0"/>
                <a:cs typeface="Times New Roman" panose="02020603050405020304" pitchFamily="18" charset="0"/>
              </a:rPr>
              <a:t>мини-ЭВМ</a:t>
            </a:r>
            <a:r>
              <a:rPr lang="ru-RU" dirty="0">
                <a:latin typeface="Times New Roman" panose="02020603050405020304" pitchFamily="18" charset="0"/>
                <a:cs typeface="Times New Roman" panose="02020603050405020304" pitchFamily="18" charset="0"/>
              </a:rPr>
              <a:t>, которые стали реальными конкурентами </a:t>
            </a:r>
            <a:r>
              <a:rPr lang="ru-RU" dirty="0" err="1">
                <a:latin typeface="Times New Roman" panose="02020603050405020304" pitchFamily="18" charset="0"/>
                <a:cs typeface="Times New Roman" panose="02020603050405020304" pitchFamily="18" charset="0"/>
              </a:rPr>
              <a:t>мэйнфреймов</a:t>
            </a:r>
            <a:r>
              <a:rPr lang="ru-RU" dirty="0">
                <a:latin typeface="Times New Roman" panose="02020603050405020304" pitchFamily="18" charset="0"/>
                <a:cs typeface="Times New Roman" panose="02020603050405020304" pitchFamily="18" charset="0"/>
              </a:rPr>
              <a:t>.</a:t>
            </a:r>
          </a:p>
        </p:txBody>
      </p:sp>
      <p:pic>
        <p:nvPicPr>
          <p:cNvPr id="3074" name="Picture 2" descr="C:\Users\User\Desktop\Снимок.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789040"/>
            <a:ext cx="7484186" cy="2592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869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4000" b="1" dirty="0"/>
              <a:t>Создание стандартных технологий локальных сетей </a:t>
            </a:r>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В середине 1980-х годов положение дел в локальных сетях стало кардинально меняться. Утвердились стандартные технологии объединения компьютеров в сеть – Ethernet, </a:t>
            </a:r>
            <a:r>
              <a:rPr lang="ru-RU" dirty="0" err="1">
                <a:latin typeface="Times New Roman" panose="02020603050405020304" pitchFamily="18" charset="0"/>
                <a:cs typeface="Times New Roman" panose="02020603050405020304" pitchFamily="18" charset="0"/>
              </a:rPr>
              <a:t>Arcnet</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Token</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Ring</a:t>
            </a:r>
            <a:r>
              <a:rPr lang="ru-RU" dirty="0">
                <a:latin typeface="Times New Roman" panose="02020603050405020304" pitchFamily="18" charset="0"/>
                <a:cs typeface="Times New Roman" panose="02020603050405020304" pitchFamily="18" charset="0"/>
              </a:rPr>
              <a:t>. Мощным стимулом для их развития послужили персональные компьютеры.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Стандартные сетевые технологии превратили процесс построения локальной сети из искусства в рутинную работу. Для создания сети достаточно было приобрести сетевые адаптеры соответствующего стандарта (например, Ethernet) стандартный кабель, присоединить адаптеры к кабелю стандартными разъемами и установить на компьютер одну из сетевых операционных систем.</a:t>
            </a:r>
          </a:p>
        </p:txBody>
      </p:sp>
    </p:spTree>
    <p:extLst>
      <p:ext uri="{BB962C8B-B14F-4D97-AF65-F5344CB8AC3E}">
        <p14:creationId xmlns:p14="http://schemas.microsoft.com/office/powerpoint/2010/main" val="851262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Современные тенденции </a:t>
            </a:r>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Сегодня вычислительные сети продолжают развиваться, причем достаточно быстро. Разрыв между локальными и глобальными сетями постоянно сокращается во многом из-за появления высокоскоростных территориальных каналов связи, не уступающих по качеству кабельным системам локальных сетей. В глобальных сетях появляются службы доступа к ресурсам, такие же удобные и прозрачные, как и службы локальных сетей. </a:t>
            </a:r>
          </a:p>
        </p:txBody>
      </p:sp>
    </p:spTree>
    <p:extLst>
      <p:ext uri="{BB962C8B-B14F-4D97-AF65-F5344CB8AC3E}">
        <p14:creationId xmlns:p14="http://schemas.microsoft.com/office/powerpoint/2010/main" val="2674433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Вычислительные сети как распределенные системы </a:t>
            </a:r>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Компьютерные сети относятся к распределенным (децентрализованным) вычислительным системам. Поскольку основным признаком распределенной вычислительной системы является наличие нескольких центров обработки данных, то наряду с компьютерными сетями к распределенным системам относят также мультипроцессорные компьютеры и многомашинные вычислительные комплексы</a:t>
            </a:r>
          </a:p>
        </p:txBody>
      </p:sp>
    </p:spTree>
    <p:extLst>
      <p:ext uri="{BB962C8B-B14F-4D97-AF65-F5344CB8AC3E}">
        <p14:creationId xmlns:p14="http://schemas.microsoft.com/office/powerpoint/2010/main" val="3750583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Мультипроцессорные компьютеры</a:t>
            </a:r>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В мультипроцессорных компьютерах имеется несколько процессоров, каждый из которых может относительно независимо от остальных выполнять свою программу. В мультипроцессоре существует общая для всех процессоров операционная система, которая оперативно распределяет вычислительную нагрузку между процессорами. Взаимодействие между отдельными процессорами организуется наиболее простым способом – через общую оперативную память. </a:t>
            </a:r>
          </a:p>
        </p:txBody>
      </p:sp>
    </p:spTree>
    <p:extLst>
      <p:ext uri="{BB962C8B-B14F-4D97-AF65-F5344CB8AC3E}">
        <p14:creationId xmlns:p14="http://schemas.microsoft.com/office/powerpoint/2010/main" val="2604459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4000" b="1" dirty="0"/>
              <a:t>Многомашинные вычислительные комплексы</a:t>
            </a:r>
          </a:p>
        </p:txBody>
      </p:sp>
      <p:sp>
        <p:nvSpPr>
          <p:cNvPr id="3" name="Объект 2"/>
          <p:cNvSpPr>
            <a:spLocks noGrp="1"/>
          </p:cNvSpPr>
          <p:nvPr>
            <p:ph idx="1"/>
          </p:nvPr>
        </p:nvSpPr>
        <p:spPr/>
        <p:txBody>
          <a:bodyPr>
            <a:normAutofit fontScale="92500" lnSpcReduction="10000"/>
          </a:bodyPr>
          <a:lstStyle/>
          <a:p>
            <a:pPr marL="114300" indent="0">
              <a:buNone/>
            </a:pPr>
            <a:r>
              <a:rPr lang="ru-RU" dirty="0">
                <a:latin typeface="Times New Roman" panose="02020603050405020304" pitchFamily="18" charset="0"/>
                <a:cs typeface="Times New Roman" panose="02020603050405020304" pitchFamily="18" charset="0"/>
              </a:rPr>
              <a:t>Многомашинный вычислительный комплекс (МВК) — это вычислительный комплекс, включающий в себя несколько компьютеров, а также программные и аппаратные средства связи компьютеров, которые обеспечивают работу всех компьютеров комплекса как единого целого</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Работа любой многомашинной системы определяется двумя главными компонентами: высокоскоростным механизмом связи процессоров и системным программным обеспечением, которое предоставляет пользователям и приложениям прозрачный доступ к ресурсам всех компьютеров, входящих в комплекс.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В </a:t>
            </a:r>
            <a:r>
              <a:rPr lang="ru-RU" dirty="0">
                <a:latin typeface="Times New Roman" panose="02020603050405020304" pitchFamily="18" charset="0"/>
                <a:cs typeface="Times New Roman" panose="02020603050405020304" pitchFamily="18" charset="0"/>
              </a:rPr>
              <a:t>состав средств связи входят программные модули, которые занимаются распределением вычислительной нагрузки, синхронизацией вычислений и реконфигурацией системы. </a:t>
            </a:r>
            <a:r>
              <a:rPr lang="ru-RU" dirty="0" smtClean="0">
                <a:latin typeface="Times New Roman" panose="02020603050405020304" pitchFamily="18" charset="0"/>
                <a:cs typeface="Times New Roman" panose="02020603050405020304" pitchFamily="18" charset="0"/>
              </a:rPr>
              <a:t> </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2544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Вычислительные сети</a:t>
            </a:r>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В вычислительных сетях программные и аппаратные связи являются еще более слабыми, чем в МВК, а автономность обрабатывающих блоков проявляется в наибольшей степени</a:t>
            </a:r>
            <a:r>
              <a:rPr lang="ru-RU" dirty="0" smtClean="0">
                <a:latin typeface="Times New Roman" panose="02020603050405020304" pitchFamily="18" charset="0"/>
                <a:cs typeface="Times New Roman" panose="02020603050405020304" pitchFamily="18" charset="0"/>
              </a:rPr>
              <a:t>.</a:t>
            </a:r>
          </a:p>
          <a:p>
            <a:pPr marL="114300" indent="0">
              <a:buNone/>
            </a:pP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Основными элементами сети являются стандартные компьютеры, не имеющие ни общих блоков памяти, ни общих периферийных устройств. Связь между компьютерами осуществляется с помощью специальных периферийных устройств – сетевых адаптеров, соединенных относительно протяженными каналами </a:t>
            </a:r>
            <a:r>
              <a:rPr lang="ru-RU" dirty="0" smtClean="0">
                <a:latin typeface="Times New Roman" panose="02020603050405020304" pitchFamily="18" charset="0"/>
                <a:cs typeface="Times New Roman" panose="02020603050405020304" pitchFamily="18" charset="0"/>
              </a:rPr>
              <a:t>связи.</a:t>
            </a:r>
          </a:p>
          <a:p>
            <a:pPr marL="114300" indent="0">
              <a:buNone/>
            </a:pPr>
            <a:r>
              <a:rPr lang="ru-RU" dirty="0">
                <a:latin typeface="Times New Roman" panose="02020603050405020304" pitchFamily="18" charset="0"/>
                <a:cs typeface="Times New Roman" panose="02020603050405020304" pitchFamily="18" charset="0"/>
              </a:rPr>
              <a:t>Каждый компьютер работает под управлением собственной операционной системы, а какая-либо «общая» операционная система, распределяющая работу между компьютерами сети, </a:t>
            </a:r>
            <a:r>
              <a:rPr lang="ru-RU" dirty="0" smtClean="0">
                <a:latin typeface="Times New Roman" panose="02020603050405020304" pitchFamily="18" charset="0"/>
                <a:cs typeface="Times New Roman" panose="02020603050405020304" pitchFamily="18" charset="0"/>
              </a:rPr>
              <a:t>отсутствует.</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1154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marL="114300" indent="0" algn="ctr"/>
            <a:r>
              <a:rPr lang="ru-RU" sz="4000" b="1" dirty="0"/>
              <a:t>Классификация сетей по территориальному </a:t>
            </a:r>
            <a:r>
              <a:rPr lang="ru-RU" sz="4000" b="1" dirty="0" smtClean="0"/>
              <a:t>признаку</a:t>
            </a:r>
            <a:endParaRPr lang="ru-RU" sz="4000" b="1" dirty="0"/>
          </a:p>
        </p:txBody>
      </p:sp>
      <p:sp>
        <p:nvSpPr>
          <p:cNvPr id="3" name="Объект 2"/>
          <p:cNvSpPr>
            <a:spLocks noGrp="1"/>
          </p:cNvSpPr>
          <p:nvPr>
            <p:ph idx="1"/>
          </p:nvPr>
        </p:nvSpPr>
        <p:spPr>
          <a:xfrm>
            <a:off x="457200" y="1600200"/>
            <a:ext cx="7620000" cy="5069160"/>
          </a:xfrm>
        </p:spPr>
        <p:txBody>
          <a:bodyPr>
            <a:normAutofit lnSpcReduction="10000"/>
          </a:bodyPr>
          <a:lstStyle/>
          <a:p>
            <a:pPr>
              <a:buFont typeface="Wingdings" panose="05000000000000000000" pitchFamily="2" charset="2"/>
              <a:buChar char="ü"/>
            </a:pPr>
            <a:r>
              <a:rPr lang="ru-RU" sz="2400" dirty="0" smtClean="0">
                <a:latin typeface="Times New Roman" panose="02020603050405020304" pitchFamily="18" charset="0"/>
                <a:cs typeface="Times New Roman" panose="02020603050405020304" pitchFamily="18" charset="0"/>
              </a:rPr>
              <a:t>Локальные сети;</a:t>
            </a:r>
          </a:p>
          <a:p>
            <a:pPr marL="114300" indent="0">
              <a:buNone/>
            </a:pPr>
            <a:r>
              <a:rPr lang="ru-RU" sz="2400" dirty="0">
                <a:latin typeface="Times New Roman" panose="02020603050405020304" pitchFamily="18" charset="0"/>
                <a:cs typeface="Times New Roman" panose="02020603050405020304" pitchFamily="18" charset="0"/>
              </a:rPr>
              <a:t>К локальным сетям (англ. </a:t>
            </a:r>
            <a:r>
              <a:rPr lang="ru-RU" sz="2400" dirty="0" err="1">
                <a:latin typeface="Times New Roman" panose="02020603050405020304" pitchFamily="18" charset="0"/>
                <a:cs typeface="Times New Roman" panose="02020603050405020304" pitchFamily="18" charset="0"/>
              </a:rPr>
              <a:t>Local</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Area</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Networks</a:t>
            </a:r>
            <a:r>
              <a:rPr lang="ru-RU" sz="2400" dirty="0">
                <a:latin typeface="Times New Roman" panose="02020603050405020304" pitchFamily="18" charset="0"/>
                <a:cs typeface="Times New Roman" panose="02020603050405020304" pitchFamily="18" charset="0"/>
              </a:rPr>
              <a:t>, LAN) относят сети компьютеров, сосредоточенные на небольшой территории (обычно в радиусе не более 1-2 км). </a:t>
            </a:r>
            <a:endParaRPr lang="ru-RU" sz="24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sz="2400" dirty="0">
                <a:latin typeface="Times New Roman" panose="02020603050405020304" pitchFamily="18" charset="0"/>
                <a:cs typeface="Times New Roman" panose="02020603050405020304" pitchFamily="18" charset="0"/>
              </a:rPr>
              <a:t>Городские </a:t>
            </a:r>
            <a:r>
              <a:rPr lang="ru-RU" sz="2400" dirty="0" smtClean="0">
                <a:latin typeface="Times New Roman" panose="02020603050405020304" pitchFamily="18" charset="0"/>
                <a:cs typeface="Times New Roman" panose="02020603050405020304" pitchFamily="18" charset="0"/>
              </a:rPr>
              <a:t>сети;</a:t>
            </a:r>
          </a:p>
          <a:p>
            <a:pPr marL="114300" indent="0">
              <a:buNone/>
            </a:pPr>
            <a:r>
              <a:rPr lang="ru-RU" sz="2400" dirty="0">
                <a:latin typeface="Times New Roman" panose="02020603050405020304" pitchFamily="18" charset="0"/>
                <a:cs typeface="Times New Roman" panose="02020603050405020304" pitchFamily="18" charset="0"/>
              </a:rPr>
              <a:t>Городские сети (англ. </a:t>
            </a:r>
            <a:r>
              <a:rPr lang="ru-RU" sz="2400" dirty="0" err="1">
                <a:latin typeface="Times New Roman" panose="02020603050405020304" pitchFamily="18" charset="0"/>
                <a:cs typeface="Times New Roman" panose="02020603050405020304" pitchFamily="18" charset="0"/>
              </a:rPr>
              <a:t>Metropolitan</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Area</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Networks</a:t>
            </a:r>
            <a:r>
              <a:rPr lang="ru-RU" sz="2400" dirty="0">
                <a:latin typeface="Times New Roman" panose="02020603050405020304" pitchFamily="18" charset="0"/>
                <a:cs typeface="Times New Roman" panose="02020603050405020304" pitchFamily="18" charset="0"/>
              </a:rPr>
              <a:t>, MAN) являются менее распространенным типом сетей</a:t>
            </a:r>
            <a:r>
              <a:rPr lang="ru-RU" sz="2400"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r>
              <a:rPr lang="ru-RU" sz="2400" dirty="0">
                <a:latin typeface="Times New Roman" panose="02020603050405020304" pitchFamily="18" charset="0"/>
                <a:cs typeface="Times New Roman" panose="02020603050405020304" pitchFamily="18" charset="0"/>
              </a:rPr>
              <a:t>Глобальные </a:t>
            </a:r>
            <a:r>
              <a:rPr lang="ru-RU" sz="2400" dirty="0" smtClean="0">
                <a:latin typeface="Times New Roman" panose="02020603050405020304" pitchFamily="18" charset="0"/>
                <a:cs typeface="Times New Roman" panose="02020603050405020304" pitchFamily="18" charset="0"/>
              </a:rPr>
              <a:t>сети;</a:t>
            </a:r>
          </a:p>
          <a:p>
            <a:pPr marL="114300" indent="0">
              <a:buNone/>
            </a:pPr>
            <a:r>
              <a:rPr lang="ru-RU" sz="2400" dirty="0">
                <a:latin typeface="Times New Roman" panose="02020603050405020304" pitchFamily="18" charset="0"/>
                <a:cs typeface="Times New Roman" panose="02020603050405020304" pitchFamily="18" charset="0"/>
              </a:rPr>
              <a:t>Глобальные сети – (англ. </a:t>
            </a:r>
            <a:r>
              <a:rPr lang="ru-RU" sz="2400" dirty="0" err="1">
                <a:latin typeface="Times New Roman" panose="02020603050405020304" pitchFamily="18" charset="0"/>
                <a:cs typeface="Times New Roman" panose="02020603050405020304" pitchFamily="18" charset="0"/>
              </a:rPr>
              <a:t>Wide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Area</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Networks</a:t>
            </a:r>
            <a:r>
              <a:rPr lang="ru-RU" sz="2400" dirty="0">
                <a:latin typeface="Times New Roman" panose="02020603050405020304" pitchFamily="18" charset="0"/>
                <a:cs typeface="Times New Roman" panose="02020603050405020304" pitchFamily="18" charset="0"/>
              </a:rPr>
              <a:t>, WAN) объединяют территориально рассредоточенные компьютеры, которые могут находиться в различных городах и странах, то есть радиус таких сетей может составлять тысячи километров</a:t>
            </a:r>
            <a:r>
              <a:rPr lang="ru-RU" sz="2400" dirty="0" smtClean="0">
                <a:latin typeface="Times New Roman" panose="02020603050405020304" pitchFamily="18" charset="0"/>
                <a:cs typeface="Times New Roman" panose="02020603050405020304" pitchFamily="18" charset="0"/>
              </a:rPr>
              <a:t>.</a:t>
            </a:r>
            <a:endParaRPr lang="ru-RU" sz="24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7661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Классификация сетей по масштабам подразделения</a:t>
            </a:r>
          </a:p>
        </p:txBody>
      </p:sp>
      <p:sp>
        <p:nvSpPr>
          <p:cNvPr id="3" name="Объект 2"/>
          <p:cNvSpPr>
            <a:spLocks noGrp="1"/>
          </p:cNvSpPr>
          <p:nvPr>
            <p:ph idx="1"/>
          </p:nvPr>
        </p:nvSpPr>
        <p:spPr/>
        <p:txBody>
          <a:bodyPr/>
          <a:lstStyle/>
          <a:p>
            <a:pPr>
              <a:buFont typeface="Wingdings" panose="05000000000000000000" pitchFamily="2" charset="2"/>
              <a:buChar char="ü"/>
            </a:pPr>
            <a:r>
              <a:rPr lang="ru-RU" dirty="0"/>
              <a:t>Сети </a:t>
            </a:r>
            <a:r>
              <a:rPr lang="ru-RU" dirty="0" smtClean="0"/>
              <a:t>отделов;</a:t>
            </a:r>
          </a:p>
          <a:p>
            <a:pPr>
              <a:buFont typeface="Wingdings" panose="05000000000000000000" pitchFamily="2" charset="2"/>
              <a:buChar char="ü"/>
            </a:pPr>
            <a:r>
              <a:rPr lang="ru-RU" dirty="0" smtClean="0"/>
              <a:t>Сети кампусов;</a:t>
            </a:r>
          </a:p>
          <a:p>
            <a:pPr>
              <a:buFont typeface="Wingdings" panose="05000000000000000000" pitchFamily="2" charset="2"/>
              <a:buChar char="ü"/>
            </a:pPr>
            <a:r>
              <a:rPr lang="ru-RU" dirty="0"/>
              <a:t>Корпоративные </a:t>
            </a:r>
            <a:r>
              <a:rPr lang="ru-RU" dirty="0" smtClean="0"/>
              <a:t>сети;</a:t>
            </a:r>
            <a:endParaRPr lang="ru-RU" dirty="0"/>
          </a:p>
        </p:txBody>
      </p:sp>
    </p:spTree>
    <p:extLst>
      <p:ext uri="{BB962C8B-B14F-4D97-AF65-F5344CB8AC3E}">
        <p14:creationId xmlns:p14="http://schemas.microsoft.com/office/powerpoint/2010/main" val="14206358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Сети отделов</a:t>
            </a:r>
          </a:p>
        </p:txBody>
      </p:sp>
      <p:sp>
        <p:nvSpPr>
          <p:cNvPr id="3" name="Объект 2"/>
          <p:cNvSpPr>
            <a:spLocks noGrp="1"/>
          </p:cNvSpPr>
          <p:nvPr>
            <p:ph idx="1"/>
          </p:nvPr>
        </p:nvSpPr>
        <p:spPr>
          <a:xfrm>
            <a:off x="457200" y="1600200"/>
            <a:ext cx="7620000" cy="1540768"/>
          </a:xfrm>
        </p:spPr>
        <p:txBody>
          <a:bodyPr/>
          <a:lstStyle/>
          <a:p>
            <a:pPr marL="114300" indent="0">
              <a:buNone/>
            </a:pPr>
            <a:r>
              <a:rPr lang="ru-RU" dirty="0">
                <a:latin typeface="Times New Roman" panose="02020603050405020304" pitchFamily="18" charset="0"/>
                <a:cs typeface="Times New Roman" panose="02020603050405020304" pitchFamily="18" charset="0"/>
              </a:rPr>
              <a:t>Сети отделов — это сети, которые используются сравнительно небольшой группой сотрудников, работающих в одном отделе предприятия. Считается, что отдел может насчитывать до 100-150 сотрудников.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p:txBody>
      </p:sp>
      <p:pic>
        <p:nvPicPr>
          <p:cNvPr id="4098" name="Picture 2" descr="C:\Users\User\Desktop\Снимок.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3140969"/>
            <a:ext cx="7704856" cy="33571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1025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Сети кампусов (сети предприятий)</a:t>
            </a:r>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Сети этого типа объединяют множество сетей различных отделов </a:t>
            </a:r>
            <a:r>
              <a:rPr lang="ru-RU" dirty="0" smtClean="0">
                <a:latin typeface="Times New Roman" panose="02020603050405020304" pitchFamily="18" charset="0"/>
                <a:cs typeface="Times New Roman" panose="02020603050405020304" pitchFamily="18" charset="0"/>
              </a:rPr>
              <a:t>одного предприятия </a:t>
            </a:r>
            <a:r>
              <a:rPr lang="ru-RU" dirty="0">
                <a:latin typeface="Times New Roman" panose="02020603050405020304" pitchFamily="18" charset="0"/>
                <a:cs typeface="Times New Roman" panose="02020603050405020304" pitchFamily="18" charset="0"/>
              </a:rPr>
              <a:t>в пределах отдельного здания или в пределах одной </a:t>
            </a:r>
            <a:r>
              <a:rPr lang="ru-RU" dirty="0" smtClean="0">
                <a:latin typeface="Times New Roman" panose="02020603050405020304" pitchFamily="18" charset="0"/>
                <a:cs typeface="Times New Roman" panose="02020603050405020304" pitchFamily="18" charset="0"/>
              </a:rPr>
              <a:t>территории, покрывающей </a:t>
            </a:r>
            <a:r>
              <a:rPr lang="ru-RU" dirty="0">
                <a:latin typeface="Times New Roman" panose="02020603050405020304" pitchFamily="18" charset="0"/>
                <a:cs typeface="Times New Roman" panose="02020603050405020304" pitchFamily="18" charset="0"/>
              </a:rPr>
              <a:t>площадь в несколько квадратных километров. </a:t>
            </a:r>
            <a:r>
              <a:rPr lang="ru-RU" dirty="0" smtClean="0">
                <a:latin typeface="Times New Roman" panose="02020603050405020304" pitchFamily="18" charset="0"/>
                <a:cs typeface="Times New Roman" panose="02020603050405020304" pitchFamily="18" charset="0"/>
              </a:rPr>
              <a:t>Общая численность </a:t>
            </a:r>
            <a:r>
              <a:rPr lang="ru-RU" dirty="0">
                <a:latin typeface="Times New Roman" panose="02020603050405020304" pitchFamily="18" charset="0"/>
                <a:cs typeface="Times New Roman" panose="02020603050405020304" pitchFamily="18" charset="0"/>
              </a:rPr>
              <a:t>ЭВМ составляет несколько сотен. При этом </a:t>
            </a:r>
            <a:r>
              <a:rPr lang="ru-RU" dirty="0" smtClean="0">
                <a:latin typeface="Times New Roman" panose="02020603050405020304" pitchFamily="18" charset="0"/>
                <a:cs typeface="Times New Roman" panose="02020603050405020304" pitchFamily="18" charset="0"/>
              </a:rPr>
              <a:t>глобальные соединения </a:t>
            </a:r>
            <a:r>
              <a:rPr lang="ru-RU" dirty="0">
                <a:latin typeface="Times New Roman" panose="02020603050405020304" pitchFamily="18" charset="0"/>
                <a:cs typeface="Times New Roman" panose="02020603050405020304" pitchFamily="18" charset="0"/>
              </a:rPr>
              <a:t>в сетях кампусов не используются.</a:t>
            </a:r>
          </a:p>
        </p:txBody>
      </p:sp>
    </p:spTree>
    <p:extLst>
      <p:ext uri="{BB962C8B-B14F-4D97-AF65-F5344CB8AC3E}">
        <p14:creationId xmlns:p14="http://schemas.microsoft.com/office/powerpoint/2010/main" val="1726350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Корпоративные сети</a:t>
            </a:r>
          </a:p>
        </p:txBody>
      </p:sp>
      <p:sp>
        <p:nvSpPr>
          <p:cNvPr id="3" name="Объект 2"/>
          <p:cNvSpPr>
            <a:spLocks noGrp="1"/>
          </p:cNvSpPr>
          <p:nvPr>
            <p:ph idx="1"/>
          </p:nvPr>
        </p:nvSpPr>
        <p:spPr/>
        <p:txBody>
          <a:bodyPr/>
          <a:lstStyle/>
          <a:p>
            <a:pPr marL="114300" indent="0">
              <a:buNone/>
            </a:pPr>
            <a:r>
              <a:rPr lang="ru-RU" b="1" i="1" dirty="0">
                <a:latin typeface="Times New Roman" panose="02020603050405020304" pitchFamily="18" charset="0"/>
                <a:cs typeface="Times New Roman" panose="02020603050405020304" pitchFamily="18" charset="0"/>
              </a:rPr>
              <a:t>Корпоративные сети </a:t>
            </a:r>
            <a:r>
              <a:rPr lang="ru-RU" dirty="0">
                <a:latin typeface="Times New Roman" panose="02020603050405020304" pitchFamily="18" charset="0"/>
                <a:cs typeface="Times New Roman" panose="02020603050405020304" pitchFamily="18" charset="0"/>
              </a:rPr>
              <a:t>(англ. </a:t>
            </a:r>
            <a:r>
              <a:rPr lang="ru-RU" dirty="0" err="1">
                <a:latin typeface="Times New Roman" panose="02020603050405020304" pitchFamily="18" charset="0"/>
                <a:cs typeface="Times New Roman" panose="02020603050405020304" pitchFamily="18" charset="0"/>
              </a:rPr>
              <a:t>Enterprise-Wide</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Networks</a:t>
            </a:r>
            <a:r>
              <a:rPr lang="ru-RU" dirty="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объединяют большое </a:t>
            </a:r>
            <a:r>
              <a:rPr lang="ru-RU" dirty="0">
                <a:latin typeface="Times New Roman" panose="02020603050405020304" pitchFamily="18" charset="0"/>
                <a:cs typeface="Times New Roman" panose="02020603050405020304" pitchFamily="18" charset="0"/>
              </a:rPr>
              <a:t>количество компьютеров на всех территориях </a:t>
            </a:r>
            <a:r>
              <a:rPr lang="ru-RU" dirty="0" smtClean="0">
                <a:latin typeface="Times New Roman" panose="02020603050405020304" pitchFamily="18" charset="0"/>
                <a:cs typeface="Times New Roman" panose="02020603050405020304" pitchFamily="18" charset="0"/>
              </a:rPr>
              <a:t>предприятия-корпорации</a:t>
            </a:r>
            <a:r>
              <a:rPr lang="ru-RU" dirty="0">
                <a:latin typeface="Times New Roman" panose="02020603050405020304" pitchFamily="18" charset="0"/>
                <a:cs typeface="Times New Roman" panose="02020603050405020304" pitchFamily="18" charset="0"/>
              </a:rPr>
              <a:t>. Они могут быть сложно связаны и покрывать город, регион </a:t>
            </a:r>
            <a:r>
              <a:rPr lang="ru-RU" dirty="0" smtClean="0">
                <a:latin typeface="Times New Roman" panose="02020603050405020304" pitchFamily="18" charset="0"/>
                <a:cs typeface="Times New Roman" panose="02020603050405020304" pitchFamily="18" charset="0"/>
              </a:rPr>
              <a:t>или даже </a:t>
            </a:r>
            <a:r>
              <a:rPr lang="ru-RU" dirty="0">
                <a:latin typeface="Times New Roman" panose="02020603050405020304" pitchFamily="18" charset="0"/>
                <a:cs typeface="Times New Roman" panose="02020603050405020304" pitchFamily="18" charset="0"/>
              </a:rPr>
              <a:t>континент.</a:t>
            </a:r>
          </a:p>
        </p:txBody>
      </p:sp>
    </p:spTree>
    <p:extLst>
      <p:ext uri="{BB962C8B-B14F-4D97-AF65-F5344CB8AC3E}">
        <p14:creationId xmlns:p14="http://schemas.microsoft.com/office/powerpoint/2010/main" val="1152010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4000" b="1" dirty="0"/>
              <a:t>Преимущества использования компьютерных сетей</a:t>
            </a:r>
            <a:endParaRPr lang="ru-RU" sz="4000" dirty="0"/>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Использование вычислительных сетей дает предприятию </a:t>
            </a:r>
            <a:r>
              <a:rPr lang="ru-RU" dirty="0" smtClean="0">
                <a:latin typeface="Times New Roman" panose="02020603050405020304" pitchFamily="18" charset="0"/>
                <a:cs typeface="Times New Roman" panose="02020603050405020304" pitchFamily="18" charset="0"/>
              </a:rPr>
              <a:t>следующие возможности</a:t>
            </a:r>
            <a:r>
              <a:rPr lang="ru-RU" dirty="0">
                <a:latin typeface="Times New Roman" panose="02020603050405020304" pitchFamily="18" charset="0"/>
                <a:cs typeface="Times New Roman" panose="02020603050405020304" pitchFamily="18" charset="0"/>
              </a:rPr>
              <a:t>:</a:t>
            </a:r>
          </a:p>
          <a:p>
            <a:r>
              <a:rPr lang="ru-RU" dirty="0" smtClean="0">
                <a:latin typeface="Times New Roman" panose="02020603050405020304" pitchFamily="18" charset="0"/>
                <a:cs typeface="Times New Roman" panose="02020603050405020304" pitchFamily="18" charset="0"/>
              </a:rPr>
              <a:t>распределение </a:t>
            </a:r>
            <a:r>
              <a:rPr lang="ru-RU" dirty="0">
                <a:latin typeface="Times New Roman" panose="02020603050405020304" pitchFamily="18" charset="0"/>
                <a:cs typeface="Times New Roman" panose="02020603050405020304" pitchFamily="18" charset="0"/>
              </a:rPr>
              <a:t>вычислительной нагрузки;</a:t>
            </a:r>
          </a:p>
          <a:p>
            <a:r>
              <a:rPr lang="ru-RU" dirty="0" smtClean="0">
                <a:latin typeface="Times New Roman" panose="02020603050405020304" pitchFamily="18" charset="0"/>
                <a:cs typeface="Times New Roman" panose="02020603050405020304" pitchFamily="18" charset="0"/>
              </a:rPr>
              <a:t>повышение </a:t>
            </a:r>
            <a:r>
              <a:rPr lang="ru-RU" dirty="0">
                <a:latin typeface="Times New Roman" panose="02020603050405020304" pitchFamily="18" charset="0"/>
                <a:cs typeface="Times New Roman" panose="02020603050405020304" pitchFamily="18" charset="0"/>
              </a:rPr>
              <a:t>отказоустойчивости комплекса в целом;</a:t>
            </a:r>
          </a:p>
          <a:p>
            <a:r>
              <a:rPr lang="ru-RU" dirty="0" smtClean="0">
                <a:latin typeface="Times New Roman" panose="02020603050405020304" pitchFamily="18" charset="0"/>
                <a:cs typeface="Times New Roman" panose="02020603050405020304" pitchFamily="18" charset="0"/>
              </a:rPr>
              <a:t>разделение </a:t>
            </a:r>
            <a:r>
              <a:rPr lang="ru-RU" dirty="0">
                <a:latin typeface="Times New Roman" panose="02020603050405020304" pitchFamily="18" charset="0"/>
                <a:cs typeface="Times New Roman" panose="02020603050405020304" pitchFamily="18" charset="0"/>
              </a:rPr>
              <a:t>дорогостоящих ресурсов;</a:t>
            </a:r>
          </a:p>
          <a:p>
            <a:r>
              <a:rPr lang="ru-RU" dirty="0" smtClean="0">
                <a:latin typeface="Times New Roman" panose="02020603050405020304" pitchFamily="18" charset="0"/>
                <a:cs typeface="Times New Roman" panose="02020603050405020304" pitchFamily="18" charset="0"/>
              </a:rPr>
              <a:t>совершенствование </a:t>
            </a:r>
            <a:r>
              <a:rPr lang="ru-RU" dirty="0">
                <a:latin typeface="Times New Roman" panose="02020603050405020304" pitchFamily="18" charset="0"/>
                <a:cs typeface="Times New Roman" panose="02020603050405020304" pitchFamily="18" charset="0"/>
              </a:rPr>
              <a:t>коммуникаций;</a:t>
            </a:r>
          </a:p>
          <a:p>
            <a:r>
              <a:rPr lang="ru-RU" dirty="0" smtClean="0">
                <a:latin typeface="Times New Roman" panose="02020603050405020304" pitchFamily="18" charset="0"/>
                <a:cs typeface="Times New Roman" panose="02020603050405020304" pitchFamily="18" charset="0"/>
              </a:rPr>
              <a:t>улучшение </a:t>
            </a:r>
            <a:r>
              <a:rPr lang="ru-RU" dirty="0">
                <a:latin typeface="Times New Roman" panose="02020603050405020304" pitchFamily="18" charset="0"/>
                <a:cs typeface="Times New Roman" panose="02020603050405020304" pitchFamily="18" charset="0"/>
              </a:rPr>
              <a:t>доступа к информации;</a:t>
            </a:r>
          </a:p>
          <a:p>
            <a:r>
              <a:rPr lang="ru-RU" dirty="0" smtClean="0">
                <a:latin typeface="Times New Roman" panose="02020603050405020304" pitchFamily="18" charset="0"/>
                <a:cs typeface="Times New Roman" panose="02020603050405020304" pitchFamily="18" charset="0"/>
              </a:rPr>
              <a:t>быстрое </a:t>
            </a:r>
            <a:r>
              <a:rPr lang="ru-RU" dirty="0">
                <a:latin typeface="Times New Roman" panose="02020603050405020304" pitchFamily="18" charset="0"/>
                <a:cs typeface="Times New Roman" panose="02020603050405020304" pitchFamily="18" charset="0"/>
              </a:rPr>
              <a:t>и качественное принятие решений;</a:t>
            </a:r>
          </a:p>
          <a:p>
            <a:r>
              <a:rPr lang="ru-RU" dirty="0" smtClean="0">
                <a:latin typeface="Times New Roman" panose="02020603050405020304" pitchFamily="18" charset="0"/>
                <a:cs typeface="Times New Roman" panose="02020603050405020304" pitchFamily="18" charset="0"/>
              </a:rPr>
              <a:t>свобода </a:t>
            </a:r>
            <a:r>
              <a:rPr lang="ru-RU" dirty="0">
                <a:latin typeface="Times New Roman" panose="02020603050405020304" pitchFamily="18" charset="0"/>
                <a:cs typeface="Times New Roman" panose="02020603050405020304" pitchFamily="18" charset="0"/>
              </a:rPr>
              <a:t>в территориальном размещении компьютеров.</a:t>
            </a:r>
          </a:p>
        </p:txBody>
      </p:sp>
    </p:spTree>
    <p:extLst>
      <p:ext uri="{BB962C8B-B14F-4D97-AF65-F5344CB8AC3E}">
        <p14:creationId xmlns:p14="http://schemas.microsoft.com/office/powerpoint/2010/main" val="3476560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4000" b="1" dirty="0"/>
              <a:t>Основные программные и аппаратные компоненты сети</a:t>
            </a:r>
            <a:endParaRPr lang="ru-RU" sz="4000" dirty="0"/>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Вычислительная сеть – это сложный комплекс взаимосвязанных </a:t>
            </a:r>
            <a:r>
              <a:rPr lang="ru-RU" dirty="0" smtClean="0">
                <a:latin typeface="Times New Roman" panose="02020603050405020304" pitchFamily="18" charset="0"/>
                <a:cs typeface="Times New Roman" panose="02020603050405020304" pitchFamily="18" charset="0"/>
              </a:rPr>
              <a:t>и согласованно </a:t>
            </a:r>
            <a:r>
              <a:rPr lang="ru-RU" dirty="0">
                <a:latin typeface="Times New Roman" panose="02020603050405020304" pitchFamily="18" charset="0"/>
                <a:cs typeface="Times New Roman" panose="02020603050405020304" pitchFamily="18" charset="0"/>
              </a:rPr>
              <a:t>функционирующих программных и аппаратных компонентов.</a:t>
            </a:r>
          </a:p>
          <a:p>
            <a:pPr marL="114300" indent="0">
              <a:buNone/>
            </a:pPr>
            <a:r>
              <a:rPr lang="ru-RU" dirty="0">
                <a:latin typeface="Times New Roman" panose="02020603050405020304" pitchFamily="18" charset="0"/>
                <a:cs typeface="Times New Roman" panose="02020603050405020304" pitchFamily="18" charset="0"/>
              </a:rPr>
              <a:t>Изучение сети в целом предполагает знание принципов работы ее </a:t>
            </a:r>
            <a:r>
              <a:rPr lang="ru-RU" dirty="0" smtClean="0">
                <a:latin typeface="Times New Roman" panose="02020603050405020304" pitchFamily="18" charset="0"/>
                <a:cs typeface="Times New Roman" panose="02020603050405020304" pitchFamily="18" charset="0"/>
              </a:rPr>
              <a:t>отдельных элементов</a:t>
            </a:r>
            <a:r>
              <a:rPr lang="ru-RU" dirty="0">
                <a:latin typeface="Times New Roman" panose="02020603050405020304" pitchFamily="18" charset="0"/>
                <a:cs typeface="Times New Roman" panose="02020603050405020304" pitchFamily="18" charset="0"/>
              </a:rPr>
              <a:t>:</a:t>
            </a:r>
          </a:p>
          <a:p>
            <a:r>
              <a:rPr lang="ru-RU" dirty="0" smtClean="0">
                <a:latin typeface="Times New Roman" panose="02020603050405020304" pitchFamily="18" charset="0"/>
                <a:cs typeface="Times New Roman" panose="02020603050405020304" pitchFamily="18" charset="0"/>
              </a:rPr>
              <a:t>компьютеров</a:t>
            </a:r>
            <a:r>
              <a:rPr lang="ru-RU" dirty="0">
                <a:latin typeface="Times New Roman" panose="02020603050405020304" pitchFamily="18" charset="0"/>
                <a:cs typeface="Times New Roman" panose="02020603050405020304" pitchFamily="18" charset="0"/>
              </a:rPr>
              <a:t>;</a:t>
            </a:r>
          </a:p>
          <a:p>
            <a:r>
              <a:rPr lang="ru-RU" dirty="0" smtClean="0">
                <a:latin typeface="Times New Roman" panose="02020603050405020304" pitchFamily="18" charset="0"/>
                <a:cs typeface="Times New Roman" panose="02020603050405020304" pitchFamily="18" charset="0"/>
              </a:rPr>
              <a:t>коммуникационного </a:t>
            </a:r>
            <a:r>
              <a:rPr lang="ru-RU" dirty="0">
                <a:latin typeface="Times New Roman" panose="02020603050405020304" pitchFamily="18" charset="0"/>
                <a:cs typeface="Times New Roman" panose="02020603050405020304" pitchFamily="18" charset="0"/>
              </a:rPr>
              <a:t>оборудования;</a:t>
            </a:r>
          </a:p>
          <a:p>
            <a:r>
              <a:rPr lang="ru-RU" dirty="0" smtClean="0">
                <a:latin typeface="Times New Roman" panose="02020603050405020304" pitchFamily="18" charset="0"/>
                <a:cs typeface="Times New Roman" panose="02020603050405020304" pitchFamily="18" charset="0"/>
              </a:rPr>
              <a:t>операционных </a:t>
            </a:r>
            <a:r>
              <a:rPr lang="ru-RU" dirty="0">
                <a:latin typeface="Times New Roman" panose="02020603050405020304" pitchFamily="18" charset="0"/>
                <a:cs typeface="Times New Roman" panose="02020603050405020304" pitchFamily="18" charset="0"/>
              </a:rPr>
              <a:t>систем;</a:t>
            </a:r>
          </a:p>
          <a:p>
            <a:r>
              <a:rPr lang="ru-RU" dirty="0" smtClean="0">
                <a:latin typeface="Times New Roman" panose="02020603050405020304" pitchFamily="18" charset="0"/>
                <a:cs typeface="Times New Roman" panose="02020603050405020304" pitchFamily="18" charset="0"/>
              </a:rPr>
              <a:t>сетевых </a:t>
            </a:r>
            <a:r>
              <a:rPr lang="ru-RU" dirty="0">
                <a:latin typeface="Times New Roman" panose="02020603050405020304" pitchFamily="18" charset="0"/>
                <a:cs typeface="Times New Roman" panose="02020603050405020304" pitchFamily="18" charset="0"/>
              </a:rPr>
              <a:t>приложений.</a:t>
            </a:r>
          </a:p>
        </p:txBody>
      </p:sp>
    </p:spTree>
    <p:extLst>
      <p:ext uri="{BB962C8B-B14F-4D97-AF65-F5344CB8AC3E}">
        <p14:creationId xmlns:p14="http://schemas.microsoft.com/office/powerpoint/2010/main" val="1271380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Топология физических связей</a:t>
            </a:r>
            <a:endParaRPr lang="ru-RU" dirty="0"/>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Под </a:t>
            </a:r>
            <a:r>
              <a:rPr lang="ru-RU" dirty="0" smtClean="0">
                <a:latin typeface="Times New Roman" panose="02020603050405020304" pitchFamily="18" charset="0"/>
                <a:cs typeface="Times New Roman" panose="02020603050405020304" pitchFamily="18" charset="0"/>
              </a:rPr>
              <a:t>топологией вычислительной </a:t>
            </a:r>
            <a:r>
              <a:rPr lang="ru-RU" dirty="0">
                <a:latin typeface="Times New Roman" panose="02020603050405020304" pitchFamily="18" charset="0"/>
                <a:cs typeface="Times New Roman" panose="02020603050405020304" pitchFamily="18" charset="0"/>
              </a:rPr>
              <a:t>сети понимается конфигурация графа, вершинам </a:t>
            </a:r>
            <a:r>
              <a:rPr lang="ru-RU" dirty="0" smtClean="0">
                <a:latin typeface="Times New Roman" panose="02020603050405020304" pitchFamily="18" charset="0"/>
                <a:cs typeface="Times New Roman" panose="02020603050405020304" pitchFamily="18" charset="0"/>
              </a:rPr>
              <a:t>которого соответствуют </a:t>
            </a:r>
            <a:r>
              <a:rPr lang="ru-RU" dirty="0">
                <a:latin typeface="Times New Roman" panose="02020603050405020304" pitchFamily="18" charset="0"/>
                <a:cs typeface="Times New Roman" panose="02020603050405020304" pitchFamily="18" charset="0"/>
              </a:rPr>
              <a:t>компьютеры сети (иногда и другое оборудование, </a:t>
            </a:r>
            <a:r>
              <a:rPr lang="ru-RU" dirty="0" smtClean="0">
                <a:latin typeface="Times New Roman" panose="02020603050405020304" pitchFamily="18" charset="0"/>
                <a:cs typeface="Times New Roman" panose="02020603050405020304" pitchFamily="18" charset="0"/>
              </a:rPr>
              <a:t>например концентраторы</a:t>
            </a:r>
            <a:r>
              <a:rPr lang="ru-RU" dirty="0">
                <a:latin typeface="Times New Roman" panose="02020603050405020304" pitchFamily="18" charset="0"/>
                <a:cs typeface="Times New Roman" panose="02020603050405020304" pitchFamily="18" charset="0"/>
              </a:rPr>
              <a:t>), а ребрам – физические связи между ними. </a:t>
            </a:r>
            <a:r>
              <a:rPr lang="ru-RU" dirty="0" smtClean="0">
                <a:latin typeface="Times New Roman" panose="02020603050405020304" pitchFamily="18" charset="0"/>
                <a:cs typeface="Times New Roman" panose="02020603050405020304" pitchFamily="18" charset="0"/>
              </a:rPr>
              <a:t>Компьютеры, подключенные </a:t>
            </a:r>
            <a:r>
              <a:rPr lang="ru-RU" dirty="0">
                <a:latin typeface="Times New Roman" panose="02020603050405020304" pitchFamily="18" charset="0"/>
                <a:cs typeface="Times New Roman" panose="02020603050405020304" pitchFamily="18" charset="0"/>
              </a:rPr>
              <a:t>к сети, часто называют </a:t>
            </a:r>
            <a:r>
              <a:rPr lang="ru-RU" b="1" i="1" dirty="0">
                <a:latin typeface="Times New Roman" panose="02020603050405020304" pitchFamily="18" charset="0"/>
                <a:cs typeface="Times New Roman" panose="02020603050405020304" pitchFamily="18" charset="0"/>
              </a:rPr>
              <a:t>станциями</a:t>
            </a:r>
            <a:r>
              <a:rPr lang="ru-RU" i="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или </a:t>
            </a:r>
            <a:r>
              <a:rPr lang="ru-RU" b="1" i="1" dirty="0">
                <a:latin typeface="Times New Roman" panose="02020603050405020304" pitchFamily="18" charset="0"/>
                <a:cs typeface="Times New Roman" panose="02020603050405020304" pitchFamily="18" charset="0"/>
              </a:rPr>
              <a:t>узлами сети</a:t>
            </a:r>
            <a:r>
              <a:rPr lang="ru-RU" i="1" dirty="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27354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4972" y="2708920"/>
            <a:ext cx="4104456" cy="3510390"/>
          </a:xfrm>
          <a:prstGeom prst="rect">
            <a:avLst/>
          </a:prstGeom>
        </p:spPr>
      </p:pic>
      <p:sp>
        <p:nvSpPr>
          <p:cNvPr id="2" name="Заголовок 1"/>
          <p:cNvSpPr>
            <a:spLocks noGrp="1"/>
          </p:cNvSpPr>
          <p:nvPr>
            <p:ph type="title"/>
          </p:nvPr>
        </p:nvSpPr>
        <p:spPr/>
        <p:txBody>
          <a:bodyPr/>
          <a:lstStyle/>
          <a:p>
            <a:pPr algn="ctr"/>
            <a:r>
              <a:rPr lang="ru-RU" b="1" dirty="0" err="1"/>
              <a:t>Полносвязная</a:t>
            </a:r>
            <a:r>
              <a:rPr lang="ru-RU" b="1" dirty="0"/>
              <a:t> топология</a:t>
            </a:r>
            <a:endParaRPr lang="ru-RU" dirty="0"/>
          </a:p>
        </p:txBody>
      </p:sp>
      <p:sp>
        <p:nvSpPr>
          <p:cNvPr id="3" name="Объект 2"/>
          <p:cNvSpPr>
            <a:spLocks noGrp="1"/>
          </p:cNvSpPr>
          <p:nvPr>
            <p:ph idx="1"/>
          </p:nvPr>
        </p:nvSpPr>
        <p:spPr>
          <a:xfrm>
            <a:off x="457200" y="1700808"/>
            <a:ext cx="7620000" cy="5040560"/>
          </a:xfrm>
        </p:spPr>
        <p:txBody>
          <a:bodyPr>
            <a:normAutofit lnSpcReduction="10000"/>
          </a:bodyPr>
          <a:lstStyle/>
          <a:p>
            <a:pPr marL="114300" indent="0">
              <a:buNone/>
            </a:pPr>
            <a:r>
              <a:rPr lang="ru-RU" b="1" i="1" dirty="0" err="1">
                <a:latin typeface="Times New Roman" panose="02020603050405020304" pitchFamily="18" charset="0"/>
                <a:cs typeface="Times New Roman" panose="02020603050405020304" pitchFamily="18" charset="0"/>
              </a:rPr>
              <a:t>Полносвязная</a:t>
            </a:r>
            <a:r>
              <a:rPr lang="ru-RU" i="1" dirty="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топология соответствует </a:t>
            </a:r>
            <a:r>
              <a:rPr lang="ru-RU" dirty="0">
                <a:latin typeface="Times New Roman" panose="02020603050405020304" pitchFamily="18" charset="0"/>
                <a:cs typeface="Times New Roman" panose="02020603050405020304" pitchFamily="18" charset="0"/>
              </a:rPr>
              <a:t>сети, в которой </a:t>
            </a:r>
            <a:r>
              <a:rPr lang="ru-RU" dirty="0" smtClean="0">
                <a:latin typeface="Times New Roman" panose="02020603050405020304" pitchFamily="18" charset="0"/>
                <a:cs typeface="Times New Roman" panose="02020603050405020304" pitchFamily="18" charset="0"/>
              </a:rPr>
              <a:t>каждый компьютер </a:t>
            </a:r>
            <a:r>
              <a:rPr lang="ru-RU" dirty="0">
                <a:latin typeface="Times New Roman" panose="02020603050405020304" pitchFamily="18" charset="0"/>
                <a:cs typeface="Times New Roman" panose="02020603050405020304" pitchFamily="18" charset="0"/>
              </a:rPr>
              <a:t>связан с каждым </a:t>
            </a:r>
            <a:r>
              <a:rPr lang="ru-RU" dirty="0" smtClean="0">
                <a:latin typeface="Times New Roman" panose="02020603050405020304" pitchFamily="18" charset="0"/>
                <a:cs typeface="Times New Roman" panose="02020603050405020304" pitchFamily="18" charset="0"/>
              </a:rPr>
              <a:t>компьютером </a:t>
            </a:r>
            <a:r>
              <a:rPr lang="ru-RU" dirty="0">
                <a:latin typeface="Times New Roman" panose="02020603050405020304" pitchFamily="18" charset="0"/>
                <a:cs typeface="Times New Roman" panose="02020603050405020304" pitchFamily="18" charset="0"/>
              </a:rPr>
              <a:t>сети. Несмотря на </a:t>
            </a:r>
            <a:r>
              <a:rPr lang="ru-RU" dirty="0" smtClean="0">
                <a:latin typeface="Times New Roman" panose="02020603050405020304" pitchFamily="18" charset="0"/>
                <a:cs typeface="Times New Roman" panose="02020603050405020304" pitchFamily="18" charset="0"/>
              </a:rPr>
              <a:t>логическую простоту</a:t>
            </a:r>
            <a:r>
              <a:rPr lang="ru-RU" dirty="0">
                <a:latin typeface="Times New Roman" panose="02020603050405020304" pitchFamily="18" charset="0"/>
                <a:cs typeface="Times New Roman" panose="02020603050405020304" pitchFamily="18" charset="0"/>
              </a:rPr>
              <a:t>, этот вариант оказывается громоздким и неэффективным</a:t>
            </a:r>
            <a:r>
              <a:rPr lang="ru-RU"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114300" indent="0">
              <a:buNone/>
            </a:pPr>
            <a:endParaRPr lang="en-US" dirty="0">
              <a:latin typeface="Times New Roman" panose="02020603050405020304" pitchFamily="18" charset="0"/>
              <a:cs typeface="Times New Roman" panose="02020603050405020304" pitchFamily="18" charset="0"/>
            </a:endParaRPr>
          </a:p>
          <a:p>
            <a:pPr marL="114300" indent="0">
              <a:buNone/>
            </a:pPr>
            <a:endParaRPr lang="en-US" dirty="0" smtClean="0">
              <a:latin typeface="Times New Roman" panose="02020603050405020304" pitchFamily="18" charset="0"/>
              <a:cs typeface="Times New Roman" panose="02020603050405020304" pitchFamily="18" charset="0"/>
            </a:endParaRPr>
          </a:p>
          <a:p>
            <a:pPr marL="114300" indent="0">
              <a:buNone/>
            </a:pPr>
            <a:endParaRPr lang="en-US" dirty="0">
              <a:latin typeface="Times New Roman" panose="02020603050405020304" pitchFamily="18" charset="0"/>
              <a:cs typeface="Times New Roman" panose="02020603050405020304" pitchFamily="18" charset="0"/>
            </a:endParaRPr>
          </a:p>
          <a:p>
            <a:pPr marL="114300" indent="0">
              <a:buNone/>
            </a:pPr>
            <a:endParaRPr lang="en-US" dirty="0" smtClean="0">
              <a:latin typeface="Times New Roman" panose="02020603050405020304" pitchFamily="18" charset="0"/>
              <a:cs typeface="Times New Roman" panose="02020603050405020304" pitchFamily="18" charset="0"/>
            </a:endParaRPr>
          </a:p>
          <a:p>
            <a:pPr marL="114300" indent="0">
              <a:buNone/>
            </a:pPr>
            <a:endParaRPr lang="en-US" dirty="0">
              <a:latin typeface="Times New Roman" panose="02020603050405020304" pitchFamily="18" charset="0"/>
              <a:cs typeface="Times New Roman" panose="02020603050405020304" pitchFamily="18" charset="0"/>
            </a:endParaRPr>
          </a:p>
          <a:p>
            <a:pPr marL="114300" indent="0">
              <a:buNone/>
            </a:pPr>
            <a:endParaRPr lang="en-US" dirty="0" smtClean="0">
              <a:latin typeface="Times New Roman" panose="02020603050405020304" pitchFamily="18" charset="0"/>
              <a:cs typeface="Times New Roman" panose="02020603050405020304" pitchFamily="18" charset="0"/>
            </a:endParaRPr>
          </a:p>
          <a:p>
            <a:pPr marL="114300" indent="0">
              <a:buNone/>
            </a:pPr>
            <a:endParaRPr lang="en-US" dirty="0">
              <a:latin typeface="Times New Roman" panose="02020603050405020304" pitchFamily="18" charset="0"/>
              <a:cs typeface="Times New Roman" panose="02020603050405020304" pitchFamily="18" charset="0"/>
            </a:endParaRPr>
          </a:p>
          <a:p>
            <a:pPr marL="114300" indent="0" algn="ctr">
              <a:buNone/>
            </a:pPr>
            <a:endParaRPr lang="ru-RU" dirty="0" smtClean="0">
              <a:latin typeface="Times New Roman" panose="02020603050405020304" pitchFamily="18" charset="0"/>
              <a:cs typeface="Times New Roman" panose="02020603050405020304" pitchFamily="18" charset="0"/>
            </a:endParaRPr>
          </a:p>
          <a:p>
            <a:pPr marL="114300" indent="0" algn="ctr">
              <a:buNone/>
            </a:pPr>
            <a:r>
              <a:rPr lang="ru-RU" dirty="0" smtClean="0">
                <a:latin typeface="Times New Roman" panose="02020603050405020304" pitchFamily="18" charset="0"/>
                <a:cs typeface="Times New Roman" panose="02020603050405020304" pitchFamily="18" charset="0"/>
              </a:rPr>
              <a:t>Рисунок 1 – </a:t>
            </a:r>
            <a:r>
              <a:rPr lang="ru-RU" dirty="0" err="1" smtClean="0">
                <a:latin typeface="Times New Roman" panose="02020603050405020304" pitchFamily="18" charset="0"/>
                <a:cs typeface="Times New Roman" panose="02020603050405020304" pitchFamily="18" charset="0"/>
              </a:rPr>
              <a:t>Полносвязная</a:t>
            </a:r>
            <a:r>
              <a:rPr lang="ru-RU" dirty="0" smtClean="0">
                <a:latin typeface="Times New Roman" panose="02020603050405020304" pitchFamily="18" charset="0"/>
                <a:cs typeface="Times New Roman" panose="02020603050405020304" pitchFamily="18" charset="0"/>
              </a:rPr>
              <a:t> топология</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09488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1760" y="3356992"/>
            <a:ext cx="3240360" cy="2639831"/>
          </a:xfrm>
          <a:prstGeom prst="rect">
            <a:avLst/>
          </a:prstGeom>
        </p:spPr>
      </p:pic>
      <p:sp>
        <p:nvSpPr>
          <p:cNvPr id="2" name="Заголовок 1"/>
          <p:cNvSpPr>
            <a:spLocks noGrp="1"/>
          </p:cNvSpPr>
          <p:nvPr>
            <p:ph type="title"/>
          </p:nvPr>
        </p:nvSpPr>
        <p:spPr>
          <a:xfrm>
            <a:off x="430487" y="53752"/>
            <a:ext cx="7620000" cy="1143000"/>
          </a:xfrm>
        </p:spPr>
        <p:txBody>
          <a:bodyPr/>
          <a:lstStyle/>
          <a:p>
            <a:pPr algn="ctr"/>
            <a:r>
              <a:rPr lang="ru-RU" b="1" dirty="0"/>
              <a:t>Ячеистая топология</a:t>
            </a:r>
            <a:endParaRPr lang="ru-RU" dirty="0"/>
          </a:p>
        </p:txBody>
      </p:sp>
      <p:sp>
        <p:nvSpPr>
          <p:cNvPr id="3" name="Объект 2"/>
          <p:cNvSpPr>
            <a:spLocks noGrp="1"/>
          </p:cNvSpPr>
          <p:nvPr>
            <p:ph idx="1"/>
          </p:nvPr>
        </p:nvSpPr>
        <p:spPr>
          <a:xfrm>
            <a:off x="430487" y="1052736"/>
            <a:ext cx="7620000" cy="3024336"/>
          </a:xfrm>
        </p:spPr>
        <p:txBody>
          <a:bodyPr>
            <a:normAutofit fontScale="92500"/>
          </a:bodyPr>
          <a:lstStyle/>
          <a:p>
            <a:pPr marL="114300" indent="0">
              <a:buNone/>
            </a:pPr>
            <a:r>
              <a:rPr lang="ru-RU" b="1" i="1" dirty="0">
                <a:latin typeface="Times New Roman" panose="02020603050405020304" pitchFamily="18" charset="0"/>
                <a:cs typeface="Times New Roman" panose="02020603050405020304" pitchFamily="18" charset="0"/>
              </a:rPr>
              <a:t>Ячеистая</a:t>
            </a:r>
            <a:r>
              <a:rPr lang="ru-RU" i="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топология (англ. </a:t>
            </a:r>
            <a:r>
              <a:rPr lang="ru-RU" dirty="0" err="1">
                <a:latin typeface="Times New Roman" panose="02020603050405020304" pitchFamily="18" charset="0"/>
                <a:cs typeface="Times New Roman" panose="02020603050405020304" pitchFamily="18" charset="0"/>
              </a:rPr>
              <a:t>Mesh</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Topology</a:t>
            </a:r>
            <a:r>
              <a:rPr lang="ru-RU" dirty="0">
                <a:latin typeface="Times New Roman" panose="02020603050405020304" pitchFamily="18" charset="0"/>
                <a:cs typeface="Times New Roman" panose="02020603050405020304" pitchFamily="18" charset="0"/>
              </a:rPr>
              <a:t>) может быть получена </a:t>
            </a:r>
            <a:r>
              <a:rPr lang="ru-RU" dirty="0" smtClean="0">
                <a:latin typeface="Times New Roman" panose="02020603050405020304" pitchFamily="18" charset="0"/>
                <a:cs typeface="Times New Roman" panose="02020603050405020304" pitchFamily="18" charset="0"/>
              </a:rPr>
              <a:t>из </a:t>
            </a:r>
            <a:r>
              <a:rPr lang="ru-RU" dirty="0" err="1" smtClean="0">
                <a:latin typeface="Times New Roman" panose="02020603050405020304" pitchFamily="18" charset="0"/>
                <a:cs typeface="Times New Roman" panose="02020603050405020304" pitchFamily="18" charset="0"/>
              </a:rPr>
              <a:t>полносвязной</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путем удаления некоторых избыточных </a:t>
            </a:r>
            <a:r>
              <a:rPr lang="ru-RU" dirty="0" smtClean="0">
                <a:latin typeface="Times New Roman" panose="02020603050405020304" pitchFamily="18" charset="0"/>
                <a:cs typeface="Times New Roman" panose="02020603050405020304" pitchFamily="18" charset="0"/>
              </a:rPr>
              <a:t>связей. </a:t>
            </a:r>
            <a:r>
              <a:rPr lang="ru-RU" dirty="0">
                <a:latin typeface="Times New Roman" panose="02020603050405020304" pitchFamily="18" charset="0"/>
                <a:cs typeface="Times New Roman" panose="02020603050405020304" pitchFamily="18" charset="0"/>
              </a:rPr>
              <a:t>В </a:t>
            </a:r>
            <a:r>
              <a:rPr lang="ru-RU" dirty="0" smtClean="0">
                <a:latin typeface="Times New Roman" panose="02020603050405020304" pitchFamily="18" charset="0"/>
                <a:cs typeface="Times New Roman" panose="02020603050405020304" pitchFamily="18" charset="0"/>
              </a:rPr>
              <a:t>сети с </a:t>
            </a:r>
            <a:r>
              <a:rPr lang="ru-RU" dirty="0">
                <a:latin typeface="Times New Roman" panose="02020603050405020304" pitchFamily="18" charset="0"/>
                <a:cs typeface="Times New Roman" panose="02020603050405020304" pitchFamily="18" charset="0"/>
              </a:rPr>
              <a:t>ячеистой топологией непосредственно связываются только те </a:t>
            </a:r>
            <a:r>
              <a:rPr lang="ru-RU" dirty="0" smtClean="0">
                <a:latin typeface="Times New Roman" panose="02020603050405020304" pitchFamily="18" charset="0"/>
                <a:cs typeface="Times New Roman" panose="02020603050405020304" pitchFamily="18" charset="0"/>
              </a:rPr>
              <a:t>компьютеры, между </a:t>
            </a:r>
            <a:r>
              <a:rPr lang="ru-RU" dirty="0">
                <a:latin typeface="Times New Roman" panose="02020603050405020304" pitchFamily="18" charset="0"/>
                <a:cs typeface="Times New Roman" panose="02020603050405020304" pitchFamily="18" charset="0"/>
              </a:rPr>
              <a:t>которыми происходит интенсивный обмен данными, а для </a:t>
            </a:r>
            <a:r>
              <a:rPr lang="ru-RU" dirty="0" smtClean="0">
                <a:latin typeface="Times New Roman" panose="02020603050405020304" pitchFamily="18" charset="0"/>
                <a:cs typeface="Times New Roman" panose="02020603050405020304" pitchFamily="18" charset="0"/>
              </a:rPr>
              <a:t>обмена </a:t>
            </a:r>
            <a:r>
              <a:rPr lang="ru-RU" dirty="0">
                <a:latin typeface="Times New Roman" panose="02020603050405020304" pitchFamily="18" charset="0"/>
                <a:cs typeface="Times New Roman" panose="02020603050405020304" pitchFamily="18" charset="0"/>
              </a:rPr>
              <a:t>данными между компьютерами, не соединенными прямыми </a:t>
            </a:r>
            <a:r>
              <a:rPr lang="ru-RU" dirty="0" smtClean="0">
                <a:latin typeface="Times New Roman" panose="02020603050405020304" pitchFamily="18" charset="0"/>
                <a:cs typeface="Times New Roman" panose="02020603050405020304" pitchFamily="18" charset="0"/>
              </a:rPr>
              <a:t>связями, используются </a:t>
            </a:r>
            <a:r>
              <a:rPr lang="ru-RU" dirty="0">
                <a:latin typeface="Times New Roman" panose="02020603050405020304" pitchFamily="18" charset="0"/>
                <a:cs typeface="Times New Roman" panose="02020603050405020304" pitchFamily="18" charset="0"/>
              </a:rPr>
              <a:t>транзитные передачи через промежуточные </a:t>
            </a:r>
            <a:r>
              <a:rPr lang="ru-RU" dirty="0" smtClean="0">
                <a:latin typeface="Times New Roman" panose="02020603050405020304" pitchFamily="18" charset="0"/>
                <a:cs typeface="Times New Roman" panose="02020603050405020304" pitchFamily="18" charset="0"/>
              </a:rPr>
              <a:t>узлы</a:t>
            </a:r>
            <a:r>
              <a:rPr lang="en-US" dirty="0" smtClean="0">
                <a:latin typeface="Times New Roman" panose="02020603050405020304" pitchFamily="18" charset="0"/>
                <a:cs typeface="Times New Roman" panose="02020603050405020304" pitchFamily="18" charset="0"/>
              </a:rPr>
              <a:t>.</a:t>
            </a:r>
          </a:p>
          <a:p>
            <a:pPr marL="114300" indent="0">
              <a:buNone/>
            </a:pPr>
            <a:r>
              <a:rPr lang="ru-RU" dirty="0" smtClean="0">
                <a:latin typeface="Times New Roman" panose="02020603050405020304" pitchFamily="18" charset="0"/>
                <a:cs typeface="Times New Roman" panose="02020603050405020304" pitchFamily="18" charset="0"/>
              </a:rPr>
              <a:t>Ячеистая топология </a:t>
            </a:r>
            <a:r>
              <a:rPr lang="ru-RU" dirty="0">
                <a:latin typeface="Times New Roman" panose="02020603050405020304" pitchFamily="18" charset="0"/>
                <a:cs typeface="Times New Roman" panose="02020603050405020304" pitchFamily="18" charset="0"/>
              </a:rPr>
              <a:t>допускает соединение большого количества компьютеров </a:t>
            </a:r>
            <a:r>
              <a:rPr lang="ru-RU" dirty="0" smtClean="0">
                <a:latin typeface="Times New Roman" panose="02020603050405020304" pitchFamily="18" charset="0"/>
                <a:cs typeface="Times New Roman" panose="02020603050405020304" pitchFamily="18" charset="0"/>
              </a:rPr>
              <a:t>и характерна </a:t>
            </a:r>
            <a:r>
              <a:rPr lang="ru-RU" dirty="0">
                <a:latin typeface="Times New Roman" panose="02020603050405020304" pitchFamily="18" charset="0"/>
                <a:cs typeface="Times New Roman" panose="02020603050405020304" pitchFamily="18" charset="0"/>
              </a:rPr>
              <a:t>для глобальных сетей.</a:t>
            </a:r>
          </a:p>
        </p:txBody>
      </p:sp>
      <p:sp>
        <p:nvSpPr>
          <p:cNvPr id="5" name="TextBox 4"/>
          <p:cNvSpPr txBox="1"/>
          <p:nvPr/>
        </p:nvSpPr>
        <p:spPr>
          <a:xfrm>
            <a:off x="2843808" y="6237312"/>
            <a:ext cx="3378041" cy="369332"/>
          </a:xfrm>
          <a:prstGeom prst="rect">
            <a:avLst/>
          </a:prstGeom>
          <a:noFill/>
        </p:spPr>
        <p:txBody>
          <a:bodyPr wrap="none" rtlCol="0">
            <a:spAutoFit/>
          </a:bodyPr>
          <a:lstStyle/>
          <a:p>
            <a:r>
              <a:rPr lang="ru-RU" dirty="0" smtClean="0">
                <a:latin typeface="Times New Roman" panose="02020603050405020304" pitchFamily="18" charset="0"/>
                <a:cs typeface="Times New Roman" panose="02020603050405020304" pitchFamily="18" charset="0"/>
              </a:rPr>
              <a:t>Рисунок 2 – Ячеистая топология</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049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Топология «общая шина»</a:t>
            </a:r>
            <a:endParaRPr lang="ru-RU" dirty="0"/>
          </a:p>
        </p:txBody>
      </p:sp>
      <p:sp>
        <p:nvSpPr>
          <p:cNvPr id="3" name="Объект 2"/>
          <p:cNvSpPr>
            <a:spLocks noGrp="1"/>
          </p:cNvSpPr>
          <p:nvPr>
            <p:ph idx="1"/>
          </p:nvPr>
        </p:nvSpPr>
        <p:spPr>
          <a:xfrm>
            <a:off x="457200" y="1196752"/>
            <a:ext cx="7620000" cy="5400600"/>
          </a:xfrm>
        </p:spPr>
        <p:txBody>
          <a:bodyPr>
            <a:normAutofit/>
          </a:bodyPr>
          <a:lstStyle/>
          <a:p>
            <a:pPr marL="114300" indent="0">
              <a:buNone/>
            </a:pPr>
            <a:r>
              <a:rPr lang="ru-RU" sz="2000" b="1" i="1" dirty="0">
                <a:latin typeface="Times New Roman" panose="02020603050405020304" pitchFamily="18" charset="0"/>
                <a:cs typeface="Times New Roman" panose="02020603050405020304" pitchFamily="18" charset="0"/>
              </a:rPr>
              <a:t>Общая шина </a:t>
            </a:r>
            <a:r>
              <a:rPr lang="ru-RU" sz="2000" dirty="0" smtClean="0">
                <a:latin typeface="Times New Roman" panose="02020603050405020304" pitchFamily="18" charset="0"/>
                <a:cs typeface="Times New Roman" panose="02020603050405020304" pitchFamily="18" charset="0"/>
              </a:rPr>
              <a:t>образуется </a:t>
            </a:r>
            <a:r>
              <a:rPr lang="ru-RU" sz="2000" dirty="0">
                <a:latin typeface="Times New Roman" panose="02020603050405020304" pitchFamily="18" charset="0"/>
                <a:cs typeface="Times New Roman" panose="02020603050405020304" pitchFamily="18" charset="0"/>
              </a:rPr>
              <a:t>при подключении всех </a:t>
            </a:r>
            <a:r>
              <a:rPr lang="ru-RU" sz="2000" dirty="0" smtClean="0">
                <a:latin typeface="Times New Roman" panose="02020603050405020304" pitchFamily="18" charset="0"/>
                <a:cs typeface="Times New Roman" panose="02020603050405020304" pitchFamily="18" charset="0"/>
              </a:rPr>
              <a:t>компьютеров сети </a:t>
            </a:r>
            <a:r>
              <a:rPr lang="ru-RU" sz="2000" dirty="0">
                <a:latin typeface="Times New Roman" panose="02020603050405020304" pitchFamily="18" charset="0"/>
                <a:cs typeface="Times New Roman" panose="02020603050405020304" pitchFamily="18" charset="0"/>
              </a:rPr>
              <a:t>к единому каналу передачи данных и до недавнего времени была </a:t>
            </a:r>
            <a:r>
              <a:rPr lang="ru-RU" sz="2000" dirty="0" smtClean="0">
                <a:latin typeface="Times New Roman" panose="02020603050405020304" pitchFamily="18" charset="0"/>
                <a:cs typeface="Times New Roman" panose="02020603050405020304" pitchFamily="18" charset="0"/>
              </a:rPr>
              <a:t>самой распространенной </a:t>
            </a:r>
            <a:r>
              <a:rPr lang="ru-RU" sz="2000" dirty="0">
                <a:latin typeface="Times New Roman" panose="02020603050405020304" pitchFamily="18" charset="0"/>
                <a:cs typeface="Times New Roman" panose="02020603050405020304" pitchFamily="18" charset="0"/>
              </a:rPr>
              <a:t>топологией локальных сетей. </a:t>
            </a:r>
            <a:endParaRPr lang="en-US" sz="2000" dirty="0" smtClean="0">
              <a:latin typeface="Times New Roman" panose="02020603050405020304" pitchFamily="18" charset="0"/>
              <a:cs typeface="Times New Roman" panose="02020603050405020304" pitchFamily="18" charset="0"/>
            </a:endParaRPr>
          </a:p>
          <a:p>
            <a:pPr marL="114300" indent="0">
              <a:buNone/>
            </a:pPr>
            <a:endParaRPr lang="ru-RU" sz="2000" dirty="0" smtClean="0">
              <a:latin typeface="Times New Roman" panose="02020603050405020304" pitchFamily="18" charset="0"/>
              <a:cs typeface="Times New Roman" panose="02020603050405020304" pitchFamily="18" charset="0"/>
            </a:endParaRPr>
          </a:p>
          <a:p>
            <a:pPr marL="114300" indent="0">
              <a:buNone/>
            </a:pPr>
            <a:r>
              <a:rPr lang="ru-RU" sz="2000" dirty="0" smtClean="0">
                <a:latin typeface="Times New Roman" panose="02020603050405020304" pitchFamily="18" charset="0"/>
                <a:cs typeface="Times New Roman" panose="02020603050405020304" pitchFamily="18" charset="0"/>
              </a:rPr>
              <a:t>Основными </a:t>
            </a:r>
            <a:r>
              <a:rPr lang="ru-RU" sz="2000" b="1" dirty="0" smtClean="0">
                <a:latin typeface="Times New Roman" panose="02020603050405020304" pitchFamily="18" charset="0"/>
                <a:cs typeface="Times New Roman" panose="02020603050405020304" pitchFamily="18" charset="0"/>
              </a:rPr>
              <a:t>преимуществами</a:t>
            </a:r>
            <a:r>
              <a:rPr lang="ru-RU" sz="2000" dirty="0" smtClean="0">
                <a:latin typeface="Times New Roman" panose="02020603050405020304" pitchFamily="18" charset="0"/>
                <a:cs typeface="Times New Roman" panose="02020603050405020304" pitchFamily="18" charset="0"/>
              </a:rPr>
              <a:t> такой </a:t>
            </a:r>
            <a:r>
              <a:rPr lang="ru-RU" sz="2000" dirty="0">
                <a:latin typeface="Times New Roman" panose="02020603050405020304" pitchFamily="18" charset="0"/>
                <a:cs typeface="Times New Roman" panose="02020603050405020304" pitchFamily="18" charset="0"/>
              </a:rPr>
              <a:t>схемы являются дешевизна и простота разводки кабеля по помещениям.</a:t>
            </a:r>
          </a:p>
          <a:p>
            <a:pPr marL="114300" indent="0">
              <a:buNone/>
            </a:pPr>
            <a:r>
              <a:rPr lang="ru-RU" sz="2000" dirty="0">
                <a:latin typeface="Times New Roman" panose="02020603050405020304" pitchFamily="18" charset="0"/>
                <a:cs typeface="Times New Roman" panose="02020603050405020304" pitchFamily="18" charset="0"/>
              </a:rPr>
              <a:t>Самый серьезный </a:t>
            </a:r>
            <a:r>
              <a:rPr lang="ru-RU" sz="2000" b="1" dirty="0">
                <a:latin typeface="Times New Roman" panose="02020603050405020304" pitchFamily="18" charset="0"/>
                <a:cs typeface="Times New Roman" panose="02020603050405020304" pitchFamily="18" charset="0"/>
              </a:rPr>
              <a:t>недостаток</a:t>
            </a:r>
            <a:r>
              <a:rPr lang="ru-RU" sz="2000" dirty="0">
                <a:latin typeface="Times New Roman" panose="02020603050405020304" pitchFamily="18" charset="0"/>
                <a:cs typeface="Times New Roman" panose="02020603050405020304" pitchFamily="18" charset="0"/>
              </a:rPr>
              <a:t> общей шины заключается в ее </a:t>
            </a:r>
            <a:r>
              <a:rPr lang="ru-RU" sz="2000" dirty="0" smtClean="0">
                <a:latin typeface="Times New Roman" panose="02020603050405020304" pitchFamily="18" charset="0"/>
                <a:cs typeface="Times New Roman" panose="02020603050405020304" pitchFamily="18" charset="0"/>
              </a:rPr>
              <a:t>низкой надежности</a:t>
            </a:r>
            <a:r>
              <a:rPr lang="ru-RU" sz="2000" dirty="0">
                <a:latin typeface="Times New Roman" panose="02020603050405020304" pitchFamily="18" charset="0"/>
                <a:cs typeface="Times New Roman" panose="02020603050405020304" pitchFamily="18" charset="0"/>
              </a:rPr>
              <a:t>: любой дефект кабеля или какого-нибудь из </a:t>
            </a:r>
            <a:r>
              <a:rPr lang="ru-RU" sz="2000" dirty="0" smtClean="0">
                <a:latin typeface="Times New Roman" panose="02020603050405020304" pitchFamily="18" charset="0"/>
                <a:cs typeface="Times New Roman" panose="02020603050405020304" pitchFamily="18" charset="0"/>
              </a:rPr>
              <a:t>многочисленных разъемов </a:t>
            </a:r>
            <a:r>
              <a:rPr lang="ru-RU" sz="2000" dirty="0">
                <a:latin typeface="Times New Roman" panose="02020603050405020304" pitchFamily="18" charset="0"/>
                <a:cs typeface="Times New Roman" panose="02020603050405020304" pitchFamily="18" charset="0"/>
              </a:rPr>
              <a:t>подключения полностью парализует всю сеть</a:t>
            </a:r>
            <a:r>
              <a:rPr lang="ru-RU" sz="2000" dirty="0" smtClean="0">
                <a:latin typeface="Times New Roman" panose="02020603050405020304" pitchFamily="18" charset="0"/>
                <a:cs typeface="Times New Roman" panose="02020603050405020304" pitchFamily="18" charset="0"/>
              </a:rPr>
              <a:t>.</a:t>
            </a:r>
          </a:p>
          <a:p>
            <a:pPr marL="114300" indent="0">
              <a:buNone/>
            </a:pPr>
            <a:endParaRPr lang="ru-RU" sz="2000" dirty="0">
              <a:latin typeface="Times New Roman" panose="02020603050405020304" pitchFamily="18" charset="0"/>
              <a:cs typeface="Times New Roman" panose="02020603050405020304" pitchFamily="18" charset="0"/>
            </a:endParaRPr>
          </a:p>
          <a:p>
            <a:pPr marL="114300" indent="0">
              <a:buNone/>
            </a:pPr>
            <a:endParaRPr lang="ru-RU" sz="2000" dirty="0" smtClean="0">
              <a:latin typeface="Times New Roman" panose="02020603050405020304" pitchFamily="18" charset="0"/>
              <a:cs typeface="Times New Roman" panose="02020603050405020304" pitchFamily="18" charset="0"/>
            </a:endParaRPr>
          </a:p>
          <a:p>
            <a:pPr marL="114300" indent="0">
              <a:buNone/>
            </a:pPr>
            <a:endParaRPr lang="ru-RU" sz="2000" dirty="0">
              <a:latin typeface="Times New Roman" panose="02020603050405020304" pitchFamily="18" charset="0"/>
              <a:cs typeface="Times New Roman" panose="02020603050405020304" pitchFamily="18" charset="0"/>
            </a:endParaRPr>
          </a:p>
          <a:p>
            <a:pPr marL="114300" indent="0">
              <a:buNone/>
            </a:pPr>
            <a:endParaRPr lang="ru-RU" sz="2000" dirty="0" smtClean="0">
              <a:latin typeface="Times New Roman" panose="02020603050405020304" pitchFamily="18" charset="0"/>
              <a:cs typeface="Times New Roman" panose="02020603050405020304" pitchFamily="18" charset="0"/>
            </a:endParaRPr>
          </a:p>
          <a:p>
            <a:pPr marL="114300" indent="0" algn="ctr">
              <a:buNone/>
            </a:pPr>
            <a:r>
              <a:rPr lang="ru-RU" sz="2000" dirty="0" smtClean="0">
                <a:latin typeface="Times New Roman" panose="02020603050405020304" pitchFamily="18" charset="0"/>
                <a:cs typeface="Times New Roman" panose="02020603050405020304" pitchFamily="18" charset="0"/>
              </a:rPr>
              <a:t>Рисунок 3 – Топология «Общая шина»</a:t>
            </a:r>
          </a:p>
          <a:p>
            <a:pPr marL="114300" indent="0">
              <a:buNone/>
            </a:pPr>
            <a:endParaRPr lang="ru-RU"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4587" y="4293096"/>
            <a:ext cx="3225225" cy="1728192"/>
          </a:xfrm>
          <a:prstGeom prst="rect">
            <a:avLst/>
          </a:prstGeom>
        </p:spPr>
      </p:pic>
    </p:spTree>
    <p:extLst>
      <p:ext uri="{BB962C8B-B14F-4D97-AF65-F5344CB8AC3E}">
        <p14:creationId xmlns:p14="http://schemas.microsoft.com/office/powerpoint/2010/main" val="1997603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3808" y="3717032"/>
            <a:ext cx="2442104" cy="2303217"/>
          </a:xfrm>
          <a:prstGeom prst="rect">
            <a:avLst/>
          </a:prstGeom>
        </p:spPr>
      </p:pic>
      <p:sp>
        <p:nvSpPr>
          <p:cNvPr id="2" name="Заголовок 1"/>
          <p:cNvSpPr>
            <a:spLocks noGrp="1"/>
          </p:cNvSpPr>
          <p:nvPr>
            <p:ph type="title"/>
          </p:nvPr>
        </p:nvSpPr>
        <p:spPr/>
        <p:txBody>
          <a:bodyPr/>
          <a:lstStyle/>
          <a:p>
            <a:pPr algn="ctr"/>
            <a:r>
              <a:rPr lang="ru-RU" b="1" dirty="0"/>
              <a:t>Топология «звезда»</a:t>
            </a:r>
            <a:endParaRPr lang="ru-RU" dirty="0"/>
          </a:p>
        </p:txBody>
      </p:sp>
      <p:sp>
        <p:nvSpPr>
          <p:cNvPr id="3" name="Объект 2"/>
          <p:cNvSpPr>
            <a:spLocks noGrp="1"/>
          </p:cNvSpPr>
          <p:nvPr>
            <p:ph idx="1"/>
          </p:nvPr>
        </p:nvSpPr>
        <p:spPr/>
        <p:txBody>
          <a:bodyPr>
            <a:normAutofit lnSpcReduction="10000"/>
          </a:bodyPr>
          <a:lstStyle/>
          <a:p>
            <a:pPr marL="114300" indent="0">
              <a:buNone/>
            </a:pPr>
            <a:r>
              <a:rPr lang="ru-RU" dirty="0" smtClean="0">
                <a:latin typeface="Times New Roman" panose="02020603050405020304" pitchFamily="18" charset="0"/>
                <a:cs typeface="Times New Roman" panose="02020603050405020304" pitchFamily="18" charset="0"/>
              </a:rPr>
              <a:t>Топология </a:t>
            </a:r>
            <a:r>
              <a:rPr lang="ru-RU" b="1" i="1" dirty="0" smtClean="0">
                <a:latin typeface="Times New Roman" panose="02020603050405020304" pitchFamily="18" charset="0"/>
                <a:cs typeface="Times New Roman" panose="02020603050405020304" pitchFamily="18" charset="0"/>
              </a:rPr>
              <a:t>звезда</a:t>
            </a:r>
            <a:r>
              <a:rPr lang="ru-RU" i="1" dirty="0" smtClean="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образована подключением каждого из компьютеров к общему устройству, называемому </a:t>
            </a:r>
            <a:r>
              <a:rPr lang="ru-RU" b="1" i="1" dirty="0" smtClean="0">
                <a:latin typeface="Times New Roman" panose="02020603050405020304" pitchFamily="18" charset="0"/>
                <a:cs typeface="Times New Roman" panose="02020603050405020304" pitchFamily="18" charset="0"/>
              </a:rPr>
              <a:t>концентратором </a:t>
            </a:r>
            <a:r>
              <a:rPr lang="ru-RU" dirty="0">
                <a:latin typeface="Times New Roman" panose="02020603050405020304" pitchFamily="18" charset="0"/>
                <a:cs typeface="Times New Roman" panose="02020603050405020304" pitchFamily="18" charset="0"/>
              </a:rPr>
              <a:t>или </a:t>
            </a:r>
            <a:r>
              <a:rPr lang="ru-RU" b="1" i="1" dirty="0" smtClean="0">
                <a:latin typeface="Times New Roman" panose="02020603050405020304" pitchFamily="18" charset="0"/>
                <a:cs typeface="Times New Roman" panose="02020603050405020304" pitchFamily="18" charset="0"/>
              </a:rPr>
              <a:t>коммутатором</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при </a:t>
            </a:r>
            <a:r>
              <a:rPr lang="ru-RU" dirty="0" smtClean="0">
                <a:latin typeface="Times New Roman" panose="02020603050405020304" pitchFamily="18" charset="0"/>
                <a:cs typeface="Times New Roman" panose="02020603050405020304" pitchFamily="18" charset="0"/>
              </a:rPr>
              <a:t>помощи отдельного </a:t>
            </a:r>
            <a:r>
              <a:rPr lang="ru-RU" dirty="0">
                <a:latin typeface="Times New Roman" panose="02020603050405020304" pitchFamily="18" charset="0"/>
                <a:cs typeface="Times New Roman" panose="02020603050405020304" pitchFamily="18" charset="0"/>
              </a:rPr>
              <a:t>кабеля. </a:t>
            </a:r>
            <a:endParaRPr lang="en-US"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В </a:t>
            </a:r>
            <a:r>
              <a:rPr lang="ru-RU" dirty="0">
                <a:latin typeface="Times New Roman" panose="02020603050405020304" pitchFamily="18" charset="0"/>
                <a:cs typeface="Times New Roman" panose="02020603050405020304" pitchFamily="18" charset="0"/>
              </a:rPr>
              <a:t>функции концентратора (коммутатора) </a:t>
            </a:r>
            <a:r>
              <a:rPr lang="ru-RU" dirty="0" smtClean="0">
                <a:latin typeface="Times New Roman" panose="02020603050405020304" pitchFamily="18" charset="0"/>
                <a:cs typeface="Times New Roman" panose="02020603050405020304" pitchFamily="18" charset="0"/>
              </a:rPr>
              <a:t>входит направление </a:t>
            </a:r>
            <a:r>
              <a:rPr lang="ru-RU" dirty="0">
                <a:latin typeface="Times New Roman" panose="02020603050405020304" pitchFamily="18" charset="0"/>
                <a:cs typeface="Times New Roman" panose="02020603050405020304" pitchFamily="18" charset="0"/>
              </a:rPr>
              <a:t>передаваемой компьютером информации одному или </a:t>
            </a:r>
            <a:r>
              <a:rPr lang="ru-RU" dirty="0" smtClean="0">
                <a:latin typeface="Times New Roman" panose="02020603050405020304" pitchFamily="18" charset="0"/>
                <a:cs typeface="Times New Roman" panose="02020603050405020304" pitchFamily="18" charset="0"/>
              </a:rPr>
              <a:t>всем остальным </a:t>
            </a:r>
            <a:r>
              <a:rPr lang="ru-RU" dirty="0">
                <a:latin typeface="Times New Roman" panose="02020603050405020304" pitchFamily="18" charset="0"/>
                <a:cs typeface="Times New Roman" panose="02020603050405020304" pitchFamily="18" charset="0"/>
              </a:rPr>
              <a:t>компьютерам сети</a:t>
            </a:r>
            <a:r>
              <a:rPr lang="ru-RU" dirty="0" smtClean="0">
                <a:latin typeface="Times New Roman" panose="02020603050405020304" pitchFamily="18" charset="0"/>
                <a:cs typeface="Times New Roman" panose="02020603050405020304" pitchFamily="18" charset="0"/>
              </a:rPr>
              <a:t>.</a:t>
            </a:r>
          </a:p>
          <a:p>
            <a:pPr marL="114300" indent="0">
              <a:buNone/>
            </a:pPr>
            <a:endParaRPr lang="ru-RU" b="1" dirty="0">
              <a:latin typeface="Times New Roman" panose="02020603050405020304" pitchFamily="18" charset="0"/>
              <a:cs typeface="Times New Roman" panose="02020603050405020304" pitchFamily="18" charset="0"/>
            </a:endParaRPr>
          </a:p>
          <a:p>
            <a:pPr marL="114300" indent="0">
              <a:buNone/>
            </a:pPr>
            <a:endParaRPr lang="ru-RU" b="1" dirty="0" smtClean="0">
              <a:latin typeface="Times New Roman" panose="02020603050405020304" pitchFamily="18" charset="0"/>
              <a:cs typeface="Times New Roman" panose="02020603050405020304" pitchFamily="18" charset="0"/>
            </a:endParaRPr>
          </a:p>
          <a:p>
            <a:pPr marL="114300" indent="0">
              <a:buNone/>
            </a:pPr>
            <a:endParaRPr lang="ru-RU" b="1" dirty="0">
              <a:latin typeface="Times New Roman" panose="02020603050405020304" pitchFamily="18" charset="0"/>
              <a:cs typeface="Times New Roman" panose="02020603050405020304" pitchFamily="18" charset="0"/>
            </a:endParaRPr>
          </a:p>
          <a:p>
            <a:pPr marL="114300" indent="0">
              <a:buNone/>
            </a:pPr>
            <a:endParaRPr lang="ru-RU" b="1" dirty="0" smtClean="0">
              <a:latin typeface="Times New Roman" panose="02020603050405020304" pitchFamily="18" charset="0"/>
              <a:cs typeface="Times New Roman" panose="02020603050405020304" pitchFamily="18" charset="0"/>
            </a:endParaRPr>
          </a:p>
          <a:p>
            <a:pPr marL="114300" indent="0">
              <a:buNone/>
            </a:pPr>
            <a:endParaRPr lang="ru-RU" b="1" dirty="0">
              <a:latin typeface="Times New Roman" panose="02020603050405020304" pitchFamily="18" charset="0"/>
              <a:cs typeface="Times New Roman" panose="02020603050405020304" pitchFamily="18" charset="0"/>
            </a:endParaRPr>
          </a:p>
          <a:p>
            <a:pPr marL="114300" indent="0" algn="ctr">
              <a:buNone/>
            </a:pPr>
            <a:endParaRPr lang="ru-RU" sz="2000" dirty="0" smtClean="0">
              <a:latin typeface="Times New Roman" panose="02020603050405020304" pitchFamily="18" charset="0"/>
              <a:cs typeface="Times New Roman" panose="02020603050405020304" pitchFamily="18" charset="0"/>
            </a:endParaRPr>
          </a:p>
          <a:p>
            <a:pPr marL="114300" indent="0" algn="ctr">
              <a:buNone/>
            </a:pPr>
            <a:r>
              <a:rPr lang="ru-RU" sz="2000" dirty="0" smtClean="0">
                <a:latin typeface="Times New Roman" panose="02020603050405020304" pitchFamily="18" charset="0"/>
                <a:cs typeface="Times New Roman" panose="02020603050405020304" pitchFamily="18" charset="0"/>
              </a:rPr>
              <a:t>Рисунок 4 – Топология «Звезда»</a:t>
            </a:r>
            <a:endParaRPr lang="ru-RU"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4955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1840" y="4077072"/>
            <a:ext cx="2088232" cy="2155595"/>
          </a:xfrm>
          <a:prstGeom prst="rect">
            <a:avLst/>
          </a:prstGeom>
        </p:spPr>
      </p:pic>
      <p:sp>
        <p:nvSpPr>
          <p:cNvPr id="2" name="Заголовок 1"/>
          <p:cNvSpPr>
            <a:spLocks noGrp="1"/>
          </p:cNvSpPr>
          <p:nvPr>
            <p:ph type="title"/>
          </p:nvPr>
        </p:nvSpPr>
        <p:spPr/>
        <p:txBody>
          <a:bodyPr/>
          <a:lstStyle/>
          <a:p>
            <a:pPr algn="ctr"/>
            <a:r>
              <a:rPr lang="ru-RU" b="1" dirty="0"/>
              <a:t>Топология «кольцо»</a:t>
            </a:r>
            <a:endParaRPr lang="ru-RU" dirty="0"/>
          </a:p>
        </p:txBody>
      </p:sp>
      <p:sp>
        <p:nvSpPr>
          <p:cNvPr id="3" name="Объект 2"/>
          <p:cNvSpPr>
            <a:spLocks noGrp="1"/>
          </p:cNvSpPr>
          <p:nvPr>
            <p:ph idx="1"/>
          </p:nvPr>
        </p:nvSpPr>
        <p:spPr>
          <a:xfrm>
            <a:off x="457200" y="1600200"/>
            <a:ext cx="7620000" cy="5257800"/>
          </a:xfrm>
        </p:spPr>
        <p:txBody>
          <a:bodyPr>
            <a:normAutofit/>
          </a:bodyPr>
          <a:lstStyle/>
          <a:p>
            <a:pPr marL="114300" indent="0">
              <a:buNone/>
            </a:pPr>
            <a:r>
              <a:rPr lang="ru-RU" dirty="0">
                <a:latin typeface="Times New Roman" panose="02020603050405020304" pitchFamily="18" charset="0"/>
                <a:cs typeface="Times New Roman" panose="02020603050405020304" pitchFamily="18" charset="0"/>
              </a:rPr>
              <a:t>В сетях с </a:t>
            </a:r>
            <a:r>
              <a:rPr lang="ru-RU" b="1" i="1" dirty="0">
                <a:latin typeface="Times New Roman" panose="02020603050405020304" pitchFamily="18" charset="0"/>
                <a:cs typeface="Times New Roman" panose="02020603050405020304" pitchFamily="18" charset="0"/>
              </a:rPr>
              <a:t>кольцевой</a:t>
            </a:r>
            <a:r>
              <a:rPr lang="ru-RU" i="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топологией </a:t>
            </a:r>
            <a:r>
              <a:rPr lang="ru-RU" dirty="0" smtClean="0">
                <a:latin typeface="Times New Roman" panose="02020603050405020304" pitchFamily="18" charset="0"/>
                <a:cs typeface="Times New Roman" panose="02020603050405020304" pitchFamily="18" charset="0"/>
              </a:rPr>
              <a:t>данные </a:t>
            </a:r>
            <a:r>
              <a:rPr lang="ru-RU" dirty="0">
                <a:latin typeface="Times New Roman" panose="02020603050405020304" pitchFamily="18" charset="0"/>
                <a:cs typeface="Times New Roman" panose="02020603050405020304" pitchFamily="18" charset="0"/>
              </a:rPr>
              <a:t>передаются по </a:t>
            </a:r>
            <a:r>
              <a:rPr lang="ru-RU" dirty="0" smtClean="0">
                <a:latin typeface="Times New Roman" panose="02020603050405020304" pitchFamily="18" charset="0"/>
                <a:cs typeface="Times New Roman" panose="02020603050405020304" pitchFamily="18" charset="0"/>
              </a:rPr>
              <a:t>кольцу от </a:t>
            </a:r>
            <a:r>
              <a:rPr lang="ru-RU" dirty="0">
                <a:latin typeface="Times New Roman" panose="02020603050405020304" pitchFamily="18" charset="0"/>
                <a:cs typeface="Times New Roman" panose="02020603050405020304" pitchFamily="18" charset="0"/>
              </a:rPr>
              <a:t>одного компьютера к другому, как правило, в одном направлении. </a:t>
            </a:r>
            <a:r>
              <a:rPr lang="ru-RU" dirty="0" smtClean="0">
                <a:latin typeface="Times New Roman" panose="02020603050405020304" pitchFamily="18" charset="0"/>
                <a:cs typeface="Times New Roman" panose="02020603050405020304" pitchFamily="18" charset="0"/>
              </a:rPr>
              <a:t>Если компьютер </a:t>
            </a:r>
            <a:r>
              <a:rPr lang="ru-RU" dirty="0">
                <a:latin typeface="Times New Roman" panose="02020603050405020304" pitchFamily="18" charset="0"/>
                <a:cs typeface="Times New Roman" panose="02020603050405020304" pitchFamily="18" charset="0"/>
              </a:rPr>
              <a:t>распознает данные как «свои», то он копирует их себе </a:t>
            </a:r>
            <a:r>
              <a:rPr lang="ru-RU" dirty="0" smtClean="0">
                <a:latin typeface="Times New Roman" panose="02020603050405020304" pitchFamily="18" charset="0"/>
                <a:cs typeface="Times New Roman" panose="02020603050405020304" pitchFamily="18" charset="0"/>
              </a:rPr>
              <a:t>во внутренний </a:t>
            </a:r>
            <a:r>
              <a:rPr lang="ru-RU" dirty="0">
                <a:latin typeface="Times New Roman" panose="02020603050405020304" pitchFamily="18" charset="0"/>
                <a:cs typeface="Times New Roman" panose="02020603050405020304" pitchFamily="18" charset="0"/>
              </a:rPr>
              <a:t>буфер. </a:t>
            </a:r>
            <a:endParaRPr lang="en-US"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Кольцо </a:t>
            </a:r>
            <a:r>
              <a:rPr lang="ru-RU" dirty="0">
                <a:latin typeface="Times New Roman" panose="02020603050405020304" pitchFamily="18" charset="0"/>
                <a:cs typeface="Times New Roman" panose="02020603050405020304" pitchFamily="18" charset="0"/>
              </a:rPr>
              <a:t>представляет собой очень </a:t>
            </a:r>
            <a:r>
              <a:rPr lang="ru-RU" dirty="0" smtClean="0">
                <a:latin typeface="Times New Roman" panose="02020603050405020304" pitchFamily="18" charset="0"/>
                <a:cs typeface="Times New Roman" panose="02020603050405020304" pitchFamily="18" charset="0"/>
              </a:rPr>
              <a:t>удобную конфигурацию для </a:t>
            </a:r>
            <a:r>
              <a:rPr lang="ru-RU" dirty="0">
                <a:latin typeface="Times New Roman" panose="02020603050405020304" pitchFamily="18" charset="0"/>
                <a:cs typeface="Times New Roman" panose="02020603050405020304" pitchFamily="18" charset="0"/>
              </a:rPr>
              <a:t>организации обратной связи – данные, сделав полный </a:t>
            </a:r>
            <a:r>
              <a:rPr lang="ru-RU" dirty="0" smtClean="0">
                <a:latin typeface="Times New Roman" panose="02020603050405020304" pitchFamily="18" charset="0"/>
                <a:cs typeface="Times New Roman" panose="02020603050405020304" pitchFamily="18" charset="0"/>
              </a:rPr>
              <a:t>оборот, возвращаются </a:t>
            </a:r>
            <a:r>
              <a:rPr lang="ru-RU" dirty="0">
                <a:latin typeface="Times New Roman" panose="02020603050405020304" pitchFamily="18" charset="0"/>
                <a:cs typeface="Times New Roman" panose="02020603050405020304" pitchFamily="18" charset="0"/>
              </a:rPr>
              <a:t>к узлу-источнику</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lgn="ctr">
              <a:buNone/>
            </a:pPr>
            <a:endParaRPr lang="ru-RU" sz="2000" dirty="0" smtClean="0">
              <a:latin typeface="Times New Roman" panose="02020603050405020304" pitchFamily="18" charset="0"/>
              <a:cs typeface="Times New Roman" panose="02020603050405020304" pitchFamily="18" charset="0"/>
            </a:endParaRPr>
          </a:p>
          <a:p>
            <a:pPr marL="114300" indent="0" algn="ctr">
              <a:buNone/>
            </a:pPr>
            <a:r>
              <a:rPr lang="ru-RU" sz="2000" dirty="0" smtClean="0">
                <a:latin typeface="Times New Roman" panose="02020603050405020304" pitchFamily="18" charset="0"/>
                <a:cs typeface="Times New Roman" panose="02020603050405020304" pitchFamily="18" charset="0"/>
              </a:rPr>
              <a:t>Рисунок 5 – Топология «Кольцо»</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6188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3648" y="2996952"/>
            <a:ext cx="5106113" cy="2514951"/>
          </a:xfrm>
          <a:prstGeom prst="rect">
            <a:avLst/>
          </a:prstGeom>
        </p:spPr>
      </p:pic>
      <p:sp>
        <p:nvSpPr>
          <p:cNvPr id="2" name="Заголовок 1"/>
          <p:cNvSpPr>
            <a:spLocks noGrp="1"/>
          </p:cNvSpPr>
          <p:nvPr>
            <p:ph type="title"/>
          </p:nvPr>
        </p:nvSpPr>
        <p:spPr/>
        <p:txBody>
          <a:bodyPr/>
          <a:lstStyle/>
          <a:p>
            <a:pPr algn="ctr"/>
            <a:r>
              <a:rPr lang="ru-RU" b="1" dirty="0"/>
              <a:t>Составные топологии</a:t>
            </a:r>
          </a:p>
        </p:txBody>
      </p:sp>
      <p:sp>
        <p:nvSpPr>
          <p:cNvPr id="3" name="Объект 2"/>
          <p:cNvSpPr>
            <a:spLocks noGrp="1"/>
          </p:cNvSpPr>
          <p:nvPr>
            <p:ph idx="1"/>
          </p:nvPr>
        </p:nvSpPr>
        <p:spPr>
          <a:xfrm>
            <a:off x="179512" y="1417638"/>
            <a:ext cx="8280920" cy="5141168"/>
          </a:xfrm>
        </p:spPr>
        <p:txBody>
          <a:bodyPr>
            <a:normAutofit fontScale="92500"/>
          </a:bodyPr>
          <a:lstStyle/>
          <a:p>
            <a:pPr marL="114300" indent="0">
              <a:buNone/>
            </a:pPr>
            <a:r>
              <a:rPr lang="ru-RU" dirty="0">
                <a:latin typeface="Times New Roman" panose="02020603050405020304" pitchFamily="18" charset="0"/>
                <a:cs typeface="Times New Roman" panose="02020603050405020304" pitchFamily="18" charset="0"/>
              </a:rPr>
              <a:t>При построении сетей, более сложных, чем сети отделов, используются так называемые составные (смешанные) топологии связей.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Возможно </a:t>
            </a:r>
            <a:r>
              <a:rPr lang="ru-RU" dirty="0">
                <a:latin typeface="Times New Roman" panose="02020603050405020304" pitchFamily="18" charset="0"/>
                <a:cs typeface="Times New Roman" panose="02020603050405020304" pitchFamily="18" charset="0"/>
              </a:rPr>
              <a:t>использование практически любой составной топологии, полученной на основе рассмотренных </a:t>
            </a:r>
            <a:r>
              <a:rPr lang="ru-RU" dirty="0" smtClean="0">
                <a:latin typeface="Times New Roman" panose="02020603050405020304" pitchFamily="18" charset="0"/>
                <a:cs typeface="Times New Roman" panose="02020603050405020304" pitchFamily="18" charset="0"/>
              </a:rPr>
              <a:t>базовых </a:t>
            </a:r>
            <a:r>
              <a:rPr lang="ru-RU" dirty="0">
                <a:latin typeface="Times New Roman" panose="02020603050405020304" pitchFamily="18" charset="0"/>
                <a:cs typeface="Times New Roman" panose="02020603050405020304" pitchFamily="18" charset="0"/>
              </a:rPr>
              <a:t>технологий.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lgn="ctr">
              <a:buNone/>
            </a:pPr>
            <a:endParaRPr lang="ru-RU" sz="2400" dirty="0" smtClean="0">
              <a:latin typeface="Times New Roman" panose="02020603050405020304" pitchFamily="18" charset="0"/>
              <a:cs typeface="Times New Roman" panose="02020603050405020304" pitchFamily="18" charset="0"/>
            </a:endParaRPr>
          </a:p>
          <a:p>
            <a:pPr marL="114300" indent="0" algn="ctr">
              <a:buNone/>
            </a:pPr>
            <a:endParaRPr lang="ru-RU" sz="2400" dirty="0" smtClean="0">
              <a:latin typeface="Times New Roman" panose="02020603050405020304" pitchFamily="18" charset="0"/>
              <a:cs typeface="Times New Roman" panose="02020603050405020304" pitchFamily="18" charset="0"/>
            </a:endParaRPr>
          </a:p>
          <a:p>
            <a:pPr marL="114300" indent="0" algn="ctr">
              <a:buNone/>
            </a:pPr>
            <a:r>
              <a:rPr lang="ru-RU" sz="2400" dirty="0" smtClean="0">
                <a:latin typeface="Times New Roman" panose="02020603050405020304" pitchFamily="18" charset="0"/>
                <a:cs typeface="Times New Roman" panose="02020603050405020304" pitchFamily="18" charset="0"/>
              </a:rPr>
              <a:t>Рисунок 6 </a:t>
            </a:r>
            <a:r>
              <a:rPr lang="ru-RU" sz="2400" dirty="0">
                <a:latin typeface="Times New Roman" panose="02020603050405020304" pitchFamily="18" charset="0"/>
                <a:cs typeface="Times New Roman" panose="02020603050405020304" pitchFamily="18" charset="0"/>
              </a:rPr>
              <a:t>– Пример смешанной топологии физических связей</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4440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3861048"/>
            <a:ext cx="5260200" cy="2509536"/>
          </a:xfrm>
          <a:prstGeom prst="rect">
            <a:avLst/>
          </a:prstGeom>
        </p:spPr>
      </p:pic>
      <p:sp>
        <p:nvSpPr>
          <p:cNvPr id="2" name="Заголовок 1"/>
          <p:cNvSpPr>
            <a:spLocks noGrp="1"/>
          </p:cNvSpPr>
          <p:nvPr>
            <p:ph type="title"/>
          </p:nvPr>
        </p:nvSpPr>
        <p:spPr>
          <a:xfrm>
            <a:off x="539552" y="0"/>
            <a:ext cx="7620000" cy="1143000"/>
          </a:xfrm>
        </p:spPr>
        <p:txBody>
          <a:bodyPr/>
          <a:lstStyle/>
          <a:p>
            <a:pPr algn="ctr"/>
            <a:r>
              <a:rPr lang="ru-RU" b="1" dirty="0" smtClean="0"/>
              <a:t>Древовидная </a:t>
            </a:r>
            <a:r>
              <a:rPr lang="ru-RU" b="1" dirty="0"/>
              <a:t>топология</a:t>
            </a:r>
          </a:p>
        </p:txBody>
      </p:sp>
      <p:sp>
        <p:nvSpPr>
          <p:cNvPr id="3" name="Объект 2"/>
          <p:cNvSpPr>
            <a:spLocks noGrp="1"/>
          </p:cNvSpPr>
          <p:nvPr>
            <p:ph idx="1"/>
          </p:nvPr>
        </p:nvSpPr>
        <p:spPr>
          <a:xfrm>
            <a:off x="0" y="1052736"/>
            <a:ext cx="8532440" cy="5805264"/>
          </a:xfrm>
        </p:spPr>
        <p:txBody>
          <a:bodyPr/>
          <a:lstStyle/>
          <a:p>
            <a:pPr marL="114300" indent="0">
              <a:buNone/>
            </a:pPr>
            <a:r>
              <a:rPr lang="ru-RU" dirty="0">
                <a:latin typeface="Times New Roman" panose="02020603050405020304" pitchFamily="18" charset="0"/>
                <a:cs typeface="Times New Roman" panose="02020603050405020304" pitchFamily="18" charset="0"/>
              </a:rPr>
              <a:t>В локальных сетях древовидная топология реализуется иерархической структурой на основе концентраторов или коммутаторов. </a:t>
            </a:r>
            <a:endParaRPr lang="ru-RU" dirty="0" smtClean="0">
              <a:latin typeface="Times New Roman" panose="02020603050405020304" pitchFamily="18" charset="0"/>
              <a:cs typeface="Times New Roman" panose="02020603050405020304" pitchFamily="18" charset="0"/>
            </a:endParaRPr>
          </a:p>
          <a:p>
            <a:pPr marL="114300" indent="0">
              <a:buNone/>
            </a:pPr>
            <a:r>
              <a:rPr lang="ru-RU" b="1" dirty="0" smtClean="0">
                <a:latin typeface="Times New Roman" panose="02020603050405020304" pitchFamily="18" charset="0"/>
                <a:cs typeface="Times New Roman" panose="02020603050405020304" pitchFamily="18" charset="0"/>
              </a:rPr>
              <a:t>Корню </a:t>
            </a:r>
            <a:r>
              <a:rPr lang="ru-RU" b="1" dirty="0">
                <a:latin typeface="Times New Roman" panose="02020603050405020304" pitchFamily="18" charset="0"/>
                <a:cs typeface="Times New Roman" panose="02020603050405020304" pitchFamily="18" charset="0"/>
              </a:rPr>
              <a:t>графа </a:t>
            </a:r>
            <a:r>
              <a:rPr lang="ru-RU" dirty="0">
                <a:latin typeface="Times New Roman" panose="02020603050405020304" pitchFamily="18" charset="0"/>
                <a:cs typeface="Times New Roman" panose="02020603050405020304" pitchFamily="18" charset="0"/>
              </a:rPr>
              <a:t>соответствует корневой концентратор (коммутатор).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К </a:t>
            </a:r>
            <a:r>
              <a:rPr lang="ru-RU" dirty="0">
                <a:latin typeface="Times New Roman" panose="02020603050405020304" pitchFamily="18" charset="0"/>
                <a:cs typeface="Times New Roman" panose="02020603050405020304" pitchFamily="18" charset="0"/>
              </a:rPr>
              <a:t>корневому концентратору непосредственно подключаются концентраторы этажей (отделов), к которым подключены конечные пользователи сети. Серверы предприятия располагаются как можно ближе к корню графа, а серверы отделов – к концентраторам отделов</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lgn="ctr">
              <a:buNone/>
            </a:pPr>
            <a:r>
              <a:rPr lang="ru-RU" dirty="0" smtClean="0">
                <a:latin typeface="Times New Roman" panose="02020603050405020304" pitchFamily="18" charset="0"/>
                <a:cs typeface="Times New Roman" panose="02020603050405020304" pitchFamily="18" charset="0"/>
              </a:rPr>
              <a:t>Рисунок 7 -Древовидная </a:t>
            </a:r>
            <a:r>
              <a:rPr lang="ru-RU" dirty="0">
                <a:latin typeface="Times New Roman" panose="02020603050405020304" pitchFamily="18" charset="0"/>
                <a:cs typeface="Times New Roman" panose="02020603050405020304" pitchFamily="18" charset="0"/>
              </a:rPr>
              <a:t>топология</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369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2636912"/>
            <a:ext cx="7620000" cy="1143000"/>
          </a:xfrm>
        </p:spPr>
        <p:txBody>
          <a:bodyPr/>
          <a:lstStyle/>
          <a:p>
            <a:pPr algn="ctr"/>
            <a:r>
              <a:rPr lang="ru-RU" b="1" dirty="0"/>
              <a:t>Аппаратные компоненты компьютерных сетей</a:t>
            </a:r>
            <a:endParaRPr lang="ru-RU" dirty="0"/>
          </a:p>
        </p:txBody>
      </p:sp>
    </p:spTree>
    <p:extLst>
      <p:ext uri="{BB962C8B-B14F-4D97-AF65-F5344CB8AC3E}">
        <p14:creationId xmlns:p14="http://schemas.microsoft.com/office/powerpoint/2010/main" val="15088955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4400" b="1" dirty="0"/>
              <a:t>Сетевой кабель </a:t>
            </a:r>
            <a:r>
              <a:rPr lang="ru-RU" sz="4400" b="1" dirty="0" smtClean="0"/>
              <a:t>- физическая </a:t>
            </a:r>
            <a:r>
              <a:rPr lang="ru-RU" sz="4400" b="1" dirty="0"/>
              <a:t>среда передачи</a:t>
            </a:r>
            <a:endParaRPr lang="ru-RU" sz="4400" dirty="0"/>
          </a:p>
        </p:txBody>
      </p:sp>
      <p:sp>
        <p:nvSpPr>
          <p:cNvPr id="3" name="Объект 2"/>
          <p:cNvSpPr>
            <a:spLocks noGrp="1"/>
          </p:cNvSpPr>
          <p:nvPr>
            <p:ph idx="1"/>
          </p:nvPr>
        </p:nvSpPr>
        <p:spPr/>
        <p:txBody>
          <a:bodyPr/>
          <a:lstStyle/>
          <a:p>
            <a:pPr marL="114300" indent="0">
              <a:buNone/>
            </a:pPr>
            <a:r>
              <a:rPr lang="ru-RU" b="1" dirty="0">
                <a:latin typeface="Times New Roman" panose="02020603050405020304" pitchFamily="18" charset="0"/>
                <a:cs typeface="Times New Roman" panose="02020603050405020304" pitchFamily="18" charset="0"/>
              </a:rPr>
              <a:t>Линия связи</a:t>
            </a:r>
            <a:r>
              <a:rPr lang="ru-RU" dirty="0">
                <a:latin typeface="Times New Roman" panose="02020603050405020304" pitchFamily="18" charset="0"/>
                <a:cs typeface="Times New Roman" panose="02020603050405020304" pitchFamily="18" charset="0"/>
              </a:rPr>
              <a:t> состоит в общем случае из физической среды, по которой передаются электрические информационные сигналы, аппаратуры передачи данных и промежуточной аппаратуры</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b="1" dirty="0">
                <a:latin typeface="Times New Roman" panose="02020603050405020304" pitchFamily="18" charset="0"/>
                <a:cs typeface="Times New Roman" panose="02020603050405020304" pitchFamily="18" charset="0"/>
              </a:rPr>
              <a:t>Физическая среда </a:t>
            </a:r>
            <a:r>
              <a:rPr lang="ru-RU" dirty="0">
                <a:latin typeface="Times New Roman" panose="02020603050405020304" pitchFamily="18" charset="0"/>
                <a:cs typeface="Times New Roman" panose="02020603050405020304" pitchFamily="18" charset="0"/>
              </a:rPr>
              <a:t>передачи данных </a:t>
            </a:r>
            <a:r>
              <a:rPr lang="ru-RU" dirty="0" smtClean="0">
                <a:latin typeface="Times New Roman" panose="02020603050405020304" pitchFamily="18" charset="0"/>
                <a:cs typeface="Times New Roman" panose="02020603050405020304" pitchFamily="18" charset="0"/>
              </a:rPr>
              <a:t>может </a:t>
            </a:r>
            <a:r>
              <a:rPr lang="ru-RU" dirty="0">
                <a:latin typeface="Times New Roman" panose="02020603050405020304" pitchFamily="18" charset="0"/>
                <a:cs typeface="Times New Roman" panose="02020603050405020304" pitchFamily="18" charset="0"/>
              </a:rPr>
              <a:t>представлять собой кабель, то есть набор проводов, изоляционных и защитных оболочек и соединительных разъемов, а также земную атмосферу или космическое пространство, через которые распространяются электромагнитные волны.</a:t>
            </a:r>
          </a:p>
          <a:p>
            <a:pPr marL="11430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80288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В зависимости от среды передачи данных выделяются следующие линии связи: </a:t>
            </a:r>
            <a:endParaRPr lang="ru-RU"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проводные </a:t>
            </a:r>
            <a:r>
              <a:rPr lang="ru-RU" dirty="0">
                <a:latin typeface="Times New Roman" panose="02020603050405020304" pitchFamily="18" charset="0"/>
                <a:cs typeface="Times New Roman" panose="02020603050405020304" pitchFamily="18" charset="0"/>
              </a:rPr>
              <a:t>(воздушные); </a:t>
            </a:r>
            <a:endParaRPr lang="ru-RU"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кабельные</a:t>
            </a:r>
            <a:r>
              <a:rPr lang="ru-RU" dirty="0">
                <a:latin typeface="Times New Roman" panose="02020603050405020304" pitchFamily="18" charset="0"/>
                <a:cs typeface="Times New Roman" panose="02020603050405020304" pitchFamily="18" charset="0"/>
              </a:rPr>
              <a:t>: </a:t>
            </a:r>
            <a:endParaRPr lang="ru-RU" dirty="0" smtClean="0">
              <a:latin typeface="Times New Roman" panose="02020603050405020304" pitchFamily="18" charset="0"/>
              <a:cs typeface="Times New Roman" panose="02020603050405020304" pitchFamily="18" charset="0"/>
            </a:endParaRPr>
          </a:p>
          <a:p>
            <a:pPr marL="868680" lvl="1" indent="-457200">
              <a:buFont typeface="+mj-lt"/>
              <a:buAutoNum type="arabicParenR"/>
            </a:pPr>
            <a:r>
              <a:rPr lang="ru-RU" dirty="0" smtClean="0">
                <a:latin typeface="Times New Roman" panose="02020603050405020304" pitchFamily="18" charset="0"/>
                <a:cs typeface="Times New Roman" panose="02020603050405020304" pitchFamily="18" charset="0"/>
              </a:rPr>
              <a:t>медные</a:t>
            </a:r>
            <a:r>
              <a:rPr lang="ru-RU" dirty="0">
                <a:latin typeface="Times New Roman" panose="02020603050405020304" pitchFamily="18" charset="0"/>
                <a:cs typeface="Times New Roman" panose="02020603050405020304" pitchFamily="18" charset="0"/>
              </a:rPr>
              <a:t>: </a:t>
            </a:r>
            <a:endParaRPr lang="ru-RU" dirty="0" smtClean="0">
              <a:latin typeface="Times New Roman" panose="02020603050405020304" pitchFamily="18" charset="0"/>
              <a:cs typeface="Times New Roman" panose="02020603050405020304" pitchFamily="18" charset="0"/>
            </a:endParaRPr>
          </a:p>
          <a:p>
            <a:pPr lvl="2">
              <a:buFont typeface="Wingdings" panose="05000000000000000000" pitchFamily="2" charset="2"/>
              <a:buChar char="Ø"/>
            </a:pPr>
            <a:r>
              <a:rPr lang="ru-RU" dirty="0" smtClean="0">
                <a:latin typeface="Times New Roman" panose="02020603050405020304" pitchFamily="18" charset="0"/>
                <a:cs typeface="Times New Roman" panose="02020603050405020304" pitchFamily="18" charset="0"/>
              </a:rPr>
              <a:t>коаксиальные (</a:t>
            </a:r>
            <a:r>
              <a:rPr lang="ru-RU" dirty="0" err="1" smtClean="0">
                <a:latin typeface="Times New Roman" panose="02020603050405020304" pitchFamily="18" charset="0"/>
                <a:cs typeface="Times New Roman" panose="02020603050405020304" pitchFamily="18" charset="0"/>
              </a:rPr>
              <a:t>Coaxial</a:t>
            </a:r>
            <a:r>
              <a:rPr lang="ru-RU" dirty="0" smtClean="0">
                <a:latin typeface="Times New Roman" panose="02020603050405020304" pitchFamily="18" charset="0"/>
                <a:cs typeface="Times New Roman" panose="02020603050405020304" pitchFamily="18" charset="0"/>
              </a:rPr>
              <a:t>); </a:t>
            </a:r>
          </a:p>
          <a:p>
            <a:pPr lvl="2">
              <a:buFont typeface="Wingdings" panose="05000000000000000000" pitchFamily="2" charset="2"/>
              <a:buChar char="Ø"/>
            </a:pPr>
            <a:r>
              <a:rPr lang="ru-RU" dirty="0" smtClean="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витая пара» (</a:t>
            </a:r>
            <a:r>
              <a:rPr lang="ru-RU" dirty="0" err="1">
                <a:latin typeface="Times New Roman" panose="02020603050405020304" pitchFamily="18" charset="0"/>
                <a:cs typeface="Times New Roman" panose="02020603050405020304" pitchFamily="18" charset="0"/>
              </a:rPr>
              <a:t>Twisted</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Pair</a:t>
            </a:r>
            <a:r>
              <a:rPr lang="ru-RU" dirty="0">
                <a:latin typeface="Times New Roman" panose="02020603050405020304" pitchFamily="18" charset="0"/>
                <a:cs typeface="Times New Roman" panose="02020603050405020304" pitchFamily="18" charset="0"/>
              </a:rPr>
              <a:t>, TP); </a:t>
            </a:r>
          </a:p>
          <a:p>
            <a:pPr marL="868680" lvl="1" indent="-457200">
              <a:buFont typeface="+mj-lt"/>
              <a:buAutoNum type="arabicParenR"/>
            </a:pPr>
            <a:r>
              <a:rPr lang="ru-RU" dirty="0" smtClean="0">
                <a:latin typeface="Times New Roman" panose="02020603050405020304" pitchFamily="18" charset="0"/>
                <a:cs typeface="Times New Roman" panose="02020603050405020304" pitchFamily="18" charset="0"/>
              </a:rPr>
              <a:t>волоконно-оптические </a:t>
            </a:r>
            <a:r>
              <a:rPr lang="ru-RU"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Fiber</a:t>
            </a:r>
            <a:r>
              <a:rPr lang="ru-RU" dirty="0">
                <a:latin typeface="Times New Roman" panose="02020603050405020304" pitchFamily="18" charset="0"/>
                <a:cs typeface="Times New Roman" panose="02020603050405020304" pitchFamily="18" charset="0"/>
              </a:rPr>
              <a:t>); </a:t>
            </a:r>
            <a:endParaRPr lang="ru-RU"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радиоканалы</a:t>
            </a:r>
            <a:r>
              <a:rPr lang="ru-RU" dirty="0">
                <a:latin typeface="Times New Roman" panose="02020603050405020304" pitchFamily="18" charset="0"/>
                <a:cs typeface="Times New Roman" panose="02020603050405020304" pitchFamily="18" charset="0"/>
              </a:rPr>
              <a:t>: </a:t>
            </a:r>
            <a:endParaRPr lang="ru-RU" dirty="0" smtClean="0">
              <a:latin typeface="Times New Roman" panose="02020603050405020304" pitchFamily="18" charset="0"/>
              <a:cs typeface="Times New Roman" panose="02020603050405020304" pitchFamily="18" charset="0"/>
            </a:endParaRPr>
          </a:p>
          <a:p>
            <a:pPr marL="868680" lvl="1" indent="-457200">
              <a:buFont typeface="+mj-lt"/>
              <a:buAutoNum type="arabicParenR"/>
            </a:pPr>
            <a:r>
              <a:rPr lang="ru-RU" dirty="0" smtClean="0">
                <a:latin typeface="Times New Roman" panose="02020603050405020304" pitchFamily="18" charset="0"/>
                <a:cs typeface="Times New Roman" panose="02020603050405020304" pitchFamily="18" charset="0"/>
              </a:rPr>
              <a:t>наземная </a:t>
            </a:r>
            <a:r>
              <a:rPr lang="ru-RU" dirty="0">
                <a:latin typeface="Times New Roman" panose="02020603050405020304" pitchFamily="18" charset="0"/>
                <a:cs typeface="Times New Roman" panose="02020603050405020304" pitchFamily="18" charset="0"/>
              </a:rPr>
              <a:t>радиосвязь; </a:t>
            </a:r>
            <a:endParaRPr lang="ru-RU" dirty="0" smtClean="0">
              <a:latin typeface="Times New Roman" panose="02020603050405020304" pitchFamily="18" charset="0"/>
              <a:cs typeface="Times New Roman" panose="02020603050405020304" pitchFamily="18" charset="0"/>
            </a:endParaRPr>
          </a:p>
          <a:p>
            <a:pPr marL="868680" lvl="1" indent="-457200">
              <a:buFont typeface="+mj-lt"/>
              <a:buAutoNum type="arabicParenR"/>
            </a:pPr>
            <a:r>
              <a:rPr lang="ru-RU" dirty="0" smtClean="0">
                <a:latin typeface="Times New Roman" panose="02020603050405020304" pitchFamily="18" charset="0"/>
                <a:cs typeface="Times New Roman" panose="02020603050405020304" pitchFamily="18" charset="0"/>
              </a:rPr>
              <a:t>спутниковой </a:t>
            </a:r>
            <a:r>
              <a:rPr lang="ru-RU" dirty="0">
                <a:latin typeface="Times New Roman" panose="02020603050405020304" pitchFamily="18" charset="0"/>
                <a:cs typeface="Times New Roman" panose="02020603050405020304" pitchFamily="18" charset="0"/>
              </a:rPr>
              <a:t>радиосвязь. </a:t>
            </a:r>
          </a:p>
        </p:txBody>
      </p:sp>
      <p:sp>
        <p:nvSpPr>
          <p:cNvPr id="4" name="Заголовок 1"/>
          <p:cNvSpPr>
            <a:spLocks noGrp="1"/>
          </p:cNvSpPr>
          <p:nvPr>
            <p:ph type="title"/>
          </p:nvPr>
        </p:nvSpPr>
        <p:spPr/>
        <p:txBody>
          <a:bodyPr/>
          <a:lstStyle/>
          <a:p>
            <a:pPr algn="ctr"/>
            <a:r>
              <a:rPr lang="ru-RU" sz="4400" b="1" dirty="0"/>
              <a:t>Сетевой кабель </a:t>
            </a:r>
            <a:r>
              <a:rPr lang="ru-RU" sz="4400" b="1" dirty="0" smtClean="0"/>
              <a:t>- физическая </a:t>
            </a:r>
            <a:r>
              <a:rPr lang="ru-RU" sz="4400" b="1" dirty="0"/>
              <a:t>среда передачи</a:t>
            </a:r>
            <a:endParaRPr lang="ru-RU" sz="4400" dirty="0"/>
          </a:p>
        </p:txBody>
      </p:sp>
    </p:spTree>
    <p:extLst>
      <p:ext uri="{BB962C8B-B14F-4D97-AF65-F5344CB8AC3E}">
        <p14:creationId xmlns:p14="http://schemas.microsoft.com/office/powerpoint/2010/main" val="1496010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16632"/>
            <a:ext cx="7620000" cy="1143000"/>
          </a:xfrm>
        </p:spPr>
        <p:txBody>
          <a:bodyPr/>
          <a:lstStyle/>
          <a:p>
            <a:pPr algn="ctr"/>
            <a:r>
              <a:rPr lang="ru-RU" sz="4000" b="1" dirty="0"/>
              <a:t>Проводные (воздушные) линии связи</a:t>
            </a:r>
          </a:p>
        </p:txBody>
      </p:sp>
      <p:sp>
        <p:nvSpPr>
          <p:cNvPr id="3" name="Объект 2"/>
          <p:cNvSpPr>
            <a:spLocks noGrp="1"/>
          </p:cNvSpPr>
          <p:nvPr>
            <p:ph idx="1"/>
          </p:nvPr>
        </p:nvSpPr>
        <p:spPr>
          <a:xfrm>
            <a:off x="107504" y="1412776"/>
            <a:ext cx="8352928" cy="5184576"/>
          </a:xfrm>
        </p:spPr>
        <p:txBody>
          <a:bodyPr/>
          <a:lstStyle/>
          <a:p>
            <a:pPr marL="180000" indent="360000">
              <a:buNone/>
            </a:pPr>
            <a:r>
              <a:rPr lang="ru-RU" b="1" dirty="0">
                <a:latin typeface="Times New Roman" panose="02020603050405020304" pitchFamily="18" charset="0"/>
                <a:cs typeface="Times New Roman" panose="02020603050405020304" pitchFamily="18" charset="0"/>
              </a:rPr>
              <a:t>Проводные (воздушные) линии связи </a:t>
            </a:r>
            <a:r>
              <a:rPr lang="ru-RU" dirty="0">
                <a:latin typeface="Times New Roman" panose="02020603050405020304" pitchFamily="18" charset="0"/>
                <a:cs typeface="Times New Roman" panose="02020603050405020304" pitchFamily="18" charset="0"/>
              </a:rPr>
              <a:t>представляют собой провода без каких-либо изолирующих или экранирующих оплеток, проложенные между столбами и висящие в воздухе. </a:t>
            </a:r>
            <a:endParaRPr lang="ru-RU" dirty="0" smtClean="0">
              <a:latin typeface="Times New Roman" panose="02020603050405020304" pitchFamily="18" charset="0"/>
              <a:cs typeface="Times New Roman" panose="02020603050405020304" pitchFamily="18" charset="0"/>
            </a:endParaRPr>
          </a:p>
          <a:p>
            <a:pPr marL="180000" indent="360000">
              <a:buNone/>
            </a:pPr>
            <a:r>
              <a:rPr lang="ru-RU" dirty="0" smtClean="0">
                <a:latin typeface="Times New Roman" panose="02020603050405020304" pitchFamily="18" charset="0"/>
                <a:cs typeface="Times New Roman" panose="02020603050405020304" pitchFamily="18" charset="0"/>
              </a:rPr>
              <a:t>Роль </a:t>
            </a:r>
            <a:r>
              <a:rPr lang="ru-RU" dirty="0">
                <a:latin typeface="Times New Roman" panose="02020603050405020304" pitchFamily="18" charset="0"/>
                <a:cs typeface="Times New Roman" panose="02020603050405020304" pitchFamily="18" charset="0"/>
              </a:rPr>
              <a:t>изолятора между парой проводников выполняет воздушная среда (атмосфера). </a:t>
            </a:r>
            <a:endParaRPr lang="ru-RU" dirty="0" smtClean="0">
              <a:latin typeface="Times New Roman" panose="02020603050405020304" pitchFamily="18" charset="0"/>
              <a:cs typeface="Times New Roman" panose="02020603050405020304" pitchFamily="18" charset="0"/>
            </a:endParaRPr>
          </a:p>
          <a:p>
            <a:pPr marL="180000" indent="360000">
              <a:buNone/>
            </a:pPr>
            <a:r>
              <a:rPr lang="ru-RU" dirty="0" smtClean="0">
                <a:latin typeface="Times New Roman" panose="02020603050405020304" pitchFamily="18" charset="0"/>
                <a:cs typeface="Times New Roman" panose="02020603050405020304" pitchFamily="18" charset="0"/>
              </a:rPr>
              <a:t>По </a:t>
            </a:r>
            <a:r>
              <a:rPr lang="ru-RU" dirty="0">
                <a:latin typeface="Times New Roman" panose="02020603050405020304" pitchFamily="18" charset="0"/>
                <a:cs typeface="Times New Roman" panose="02020603050405020304" pitchFamily="18" charset="0"/>
              </a:rPr>
              <a:t>воздушным линиям связи традиционно передаются телефонные или телеграфные сигналы, но при отсутствии других, возможностей эти линии используются и для передачи компьютерных данных. </a:t>
            </a:r>
            <a:endParaRPr lang="ru-RU" dirty="0" smtClean="0">
              <a:latin typeface="Times New Roman" panose="02020603050405020304" pitchFamily="18" charset="0"/>
              <a:cs typeface="Times New Roman" panose="02020603050405020304" pitchFamily="18" charset="0"/>
            </a:endParaRPr>
          </a:p>
          <a:p>
            <a:pPr marL="180000" indent="360000">
              <a:buNone/>
            </a:pPr>
            <a:r>
              <a:rPr lang="ru-RU" dirty="0" smtClean="0">
                <a:latin typeface="Times New Roman" panose="02020603050405020304" pitchFamily="18" charset="0"/>
                <a:cs typeface="Times New Roman" panose="02020603050405020304" pitchFamily="18" charset="0"/>
              </a:rPr>
              <a:t>Скоростные </a:t>
            </a:r>
            <a:r>
              <a:rPr lang="ru-RU" dirty="0">
                <a:latin typeface="Times New Roman" panose="02020603050405020304" pitchFamily="18" charset="0"/>
                <a:cs typeface="Times New Roman" panose="02020603050405020304" pitchFamily="18" charset="0"/>
              </a:rPr>
              <a:t>качества и помехозащищенность этих линий оставляют желать много лучшего. </a:t>
            </a:r>
            <a:endParaRPr lang="ru-RU" dirty="0" smtClean="0">
              <a:latin typeface="Times New Roman" panose="02020603050405020304" pitchFamily="18" charset="0"/>
              <a:cs typeface="Times New Roman" panose="02020603050405020304" pitchFamily="18" charset="0"/>
            </a:endParaRPr>
          </a:p>
          <a:p>
            <a:pPr marL="180000" indent="360000">
              <a:buNone/>
            </a:pPr>
            <a:r>
              <a:rPr lang="ru-RU" dirty="0" smtClean="0">
                <a:latin typeface="Times New Roman" panose="02020603050405020304" pitchFamily="18" charset="0"/>
                <a:cs typeface="Times New Roman" panose="02020603050405020304" pitchFamily="18" charset="0"/>
              </a:rPr>
              <a:t>Сегодня </a:t>
            </a:r>
            <a:r>
              <a:rPr lang="ru-RU" dirty="0">
                <a:latin typeface="Times New Roman" panose="02020603050405020304" pitchFamily="18" charset="0"/>
                <a:cs typeface="Times New Roman" panose="02020603050405020304" pitchFamily="18" charset="0"/>
              </a:rPr>
              <a:t>проводные линии связи практически вытеснены кабелями различных типов</a:t>
            </a:r>
          </a:p>
        </p:txBody>
      </p:sp>
    </p:spTree>
    <p:extLst>
      <p:ext uri="{BB962C8B-B14F-4D97-AF65-F5344CB8AC3E}">
        <p14:creationId xmlns:p14="http://schemas.microsoft.com/office/powerpoint/2010/main" val="1901114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Кабельные линии</a:t>
            </a:r>
          </a:p>
        </p:txBody>
      </p:sp>
      <p:sp>
        <p:nvSpPr>
          <p:cNvPr id="3" name="Объект 2"/>
          <p:cNvSpPr>
            <a:spLocks noGrp="1"/>
          </p:cNvSpPr>
          <p:nvPr>
            <p:ph idx="1"/>
          </p:nvPr>
        </p:nvSpPr>
        <p:spPr>
          <a:xfrm>
            <a:off x="251520" y="1600200"/>
            <a:ext cx="8136904" cy="5357192"/>
          </a:xfrm>
        </p:spPr>
        <p:txBody>
          <a:bodyPr/>
          <a:lstStyle/>
          <a:p>
            <a:pPr marL="114300" indent="360000">
              <a:buNone/>
            </a:pPr>
            <a:r>
              <a:rPr lang="ru-RU" dirty="0">
                <a:latin typeface="Times New Roman" panose="02020603050405020304" pitchFamily="18" charset="0"/>
                <a:cs typeface="Times New Roman" panose="02020603050405020304" pitchFamily="18" charset="0"/>
              </a:rPr>
              <a:t>Кабельные линии представляют собой достаточно сложную конструкцию. </a:t>
            </a:r>
            <a:endParaRPr lang="ru-RU" dirty="0" smtClean="0">
              <a:latin typeface="Times New Roman" panose="02020603050405020304" pitchFamily="18" charset="0"/>
              <a:cs typeface="Times New Roman" panose="02020603050405020304" pitchFamily="18" charset="0"/>
            </a:endParaRPr>
          </a:p>
          <a:p>
            <a:pPr marL="114300" indent="360000">
              <a:buNone/>
            </a:pPr>
            <a:r>
              <a:rPr lang="ru-RU" dirty="0" smtClean="0">
                <a:latin typeface="Times New Roman" panose="02020603050405020304" pitchFamily="18" charset="0"/>
                <a:cs typeface="Times New Roman" panose="02020603050405020304" pitchFamily="18" charset="0"/>
              </a:rPr>
              <a:t>Кабель </a:t>
            </a:r>
            <a:r>
              <a:rPr lang="ru-RU" dirty="0">
                <a:latin typeface="Times New Roman" panose="02020603050405020304" pitchFamily="18" charset="0"/>
                <a:cs typeface="Times New Roman" panose="02020603050405020304" pitchFamily="18" charset="0"/>
              </a:rPr>
              <a:t>состоит из проводников, заключенных в несколько слоев изоляции: электрической, электромагнитной, механической, а также, возможно, климатической. </a:t>
            </a:r>
            <a:endParaRPr lang="ru-RU" dirty="0" smtClean="0">
              <a:latin typeface="Times New Roman" panose="02020603050405020304" pitchFamily="18" charset="0"/>
              <a:cs typeface="Times New Roman" panose="02020603050405020304" pitchFamily="18" charset="0"/>
            </a:endParaRPr>
          </a:p>
          <a:p>
            <a:pPr marL="114300" indent="360000">
              <a:buNone/>
            </a:pPr>
            <a:r>
              <a:rPr lang="ru-RU" dirty="0" smtClean="0">
                <a:latin typeface="Times New Roman" panose="02020603050405020304" pitchFamily="18" charset="0"/>
                <a:cs typeface="Times New Roman" panose="02020603050405020304" pitchFamily="18" charset="0"/>
              </a:rPr>
              <a:t>Кроме </a:t>
            </a:r>
            <a:r>
              <a:rPr lang="ru-RU" dirty="0">
                <a:latin typeface="Times New Roman" panose="02020603050405020304" pitchFamily="18" charset="0"/>
                <a:cs typeface="Times New Roman" panose="02020603050405020304" pitchFamily="18" charset="0"/>
              </a:rPr>
              <a:t>того, кабель может быть оснащен разъемами, позволяющими быстро выполнять присоединение к нему различного оборудования. </a:t>
            </a:r>
            <a:endParaRPr lang="ru-RU" dirty="0" smtClean="0">
              <a:latin typeface="Times New Roman" panose="02020603050405020304" pitchFamily="18" charset="0"/>
              <a:cs typeface="Times New Roman" panose="02020603050405020304" pitchFamily="18" charset="0"/>
            </a:endParaRPr>
          </a:p>
          <a:p>
            <a:pPr marL="114300" indent="360000">
              <a:buNone/>
            </a:pPr>
            <a:r>
              <a:rPr lang="ru-RU" dirty="0" smtClean="0">
                <a:latin typeface="Times New Roman" panose="02020603050405020304" pitchFamily="18" charset="0"/>
                <a:cs typeface="Times New Roman" panose="02020603050405020304" pitchFamily="18" charset="0"/>
              </a:rPr>
              <a:t>В </a:t>
            </a:r>
            <a:r>
              <a:rPr lang="ru-RU" dirty="0">
                <a:latin typeface="Times New Roman" panose="02020603050405020304" pitchFamily="18" charset="0"/>
                <a:cs typeface="Times New Roman" panose="02020603050405020304" pitchFamily="18" charset="0"/>
              </a:rPr>
              <a:t>компьютерных сетях применяются три основных типа кабеля: </a:t>
            </a:r>
            <a:endParaRPr lang="ru-RU" dirty="0" smtClean="0">
              <a:latin typeface="Times New Roman" panose="02020603050405020304" pitchFamily="18" charset="0"/>
              <a:cs typeface="Times New Roman" panose="02020603050405020304" pitchFamily="18" charset="0"/>
            </a:endParaRPr>
          </a:p>
          <a:p>
            <a:pPr indent="228600">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кабели </a:t>
            </a:r>
            <a:r>
              <a:rPr lang="ru-RU" dirty="0">
                <a:latin typeface="Times New Roman" panose="02020603050405020304" pitchFamily="18" charset="0"/>
                <a:cs typeface="Times New Roman" panose="02020603050405020304" pitchFamily="18" charset="0"/>
              </a:rPr>
              <a:t>на основе скрученных пар медных </a:t>
            </a:r>
            <a:r>
              <a:rPr lang="ru-RU" dirty="0" smtClean="0">
                <a:latin typeface="Times New Roman" panose="02020603050405020304" pitchFamily="18" charset="0"/>
                <a:cs typeface="Times New Roman" panose="02020603050405020304" pitchFamily="18" charset="0"/>
              </a:rPr>
              <a:t>проводов</a:t>
            </a:r>
            <a:r>
              <a:rPr lang="ru-RU" dirty="0">
                <a:latin typeface="Times New Roman" panose="02020603050405020304" pitchFamily="18" charset="0"/>
                <a:cs typeface="Times New Roman" panose="02020603050405020304" pitchFamily="18" charset="0"/>
              </a:rPr>
              <a:t>;</a:t>
            </a:r>
            <a:endParaRPr lang="ru-RU" dirty="0" smtClean="0">
              <a:latin typeface="Times New Roman" panose="02020603050405020304" pitchFamily="18" charset="0"/>
              <a:cs typeface="Times New Roman" panose="02020603050405020304" pitchFamily="18" charset="0"/>
            </a:endParaRPr>
          </a:p>
          <a:p>
            <a:pPr indent="228600">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коаксиальные </a:t>
            </a:r>
            <a:r>
              <a:rPr lang="ru-RU" dirty="0">
                <a:latin typeface="Times New Roman" panose="02020603050405020304" pitchFamily="18" charset="0"/>
                <a:cs typeface="Times New Roman" panose="02020603050405020304" pitchFamily="18" charset="0"/>
              </a:rPr>
              <a:t>кабели с центральной медной </a:t>
            </a:r>
            <a:r>
              <a:rPr lang="ru-RU" dirty="0" smtClean="0">
                <a:latin typeface="Times New Roman" panose="02020603050405020304" pitchFamily="18" charset="0"/>
                <a:cs typeface="Times New Roman" panose="02020603050405020304" pitchFamily="18" charset="0"/>
              </a:rPr>
              <a:t>жилой;</a:t>
            </a:r>
          </a:p>
          <a:p>
            <a:pPr indent="228600">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волоконно-оптические </a:t>
            </a:r>
            <a:r>
              <a:rPr lang="ru-RU" dirty="0">
                <a:latin typeface="Times New Roman" panose="02020603050405020304" pitchFamily="18" charset="0"/>
                <a:cs typeface="Times New Roman" panose="02020603050405020304" pitchFamily="18" charset="0"/>
              </a:rPr>
              <a:t>кабели.</a:t>
            </a:r>
          </a:p>
        </p:txBody>
      </p:sp>
    </p:spTree>
    <p:extLst>
      <p:ext uri="{BB962C8B-B14F-4D97-AF65-F5344CB8AC3E}">
        <p14:creationId xmlns:p14="http://schemas.microsoft.com/office/powerpoint/2010/main" val="144466070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4601749"/>
            <a:ext cx="6768752" cy="2256251"/>
          </a:xfrm>
          <a:prstGeom prst="rect">
            <a:avLst/>
          </a:prstGeom>
        </p:spPr>
      </p:pic>
      <p:sp>
        <p:nvSpPr>
          <p:cNvPr id="2" name="Заголовок 1"/>
          <p:cNvSpPr>
            <a:spLocks noGrp="1"/>
          </p:cNvSpPr>
          <p:nvPr>
            <p:ph type="title"/>
          </p:nvPr>
        </p:nvSpPr>
        <p:spPr>
          <a:xfrm>
            <a:off x="460094" y="-24045"/>
            <a:ext cx="7620000" cy="1143000"/>
          </a:xfrm>
        </p:spPr>
        <p:txBody>
          <a:bodyPr/>
          <a:lstStyle/>
          <a:p>
            <a:pPr algn="ctr"/>
            <a:r>
              <a:rPr lang="ru-RU" b="1" dirty="0"/>
              <a:t>Коаксиальный кабель</a:t>
            </a:r>
          </a:p>
        </p:txBody>
      </p:sp>
      <p:sp>
        <p:nvSpPr>
          <p:cNvPr id="3" name="Объект 2"/>
          <p:cNvSpPr>
            <a:spLocks noGrp="1"/>
          </p:cNvSpPr>
          <p:nvPr>
            <p:ph idx="1"/>
          </p:nvPr>
        </p:nvSpPr>
        <p:spPr>
          <a:xfrm>
            <a:off x="438726" y="908720"/>
            <a:ext cx="7620000" cy="4800600"/>
          </a:xfrm>
        </p:spPr>
        <p:txBody>
          <a:bodyPr/>
          <a:lstStyle/>
          <a:p>
            <a:pPr marL="114300" indent="0">
              <a:buNone/>
            </a:pPr>
            <a:r>
              <a:rPr lang="ru-RU" b="1" dirty="0">
                <a:latin typeface="Times New Roman" panose="02020603050405020304" pitchFamily="18" charset="0"/>
                <a:cs typeface="Times New Roman" panose="02020603050405020304" pitchFamily="18" charset="0"/>
              </a:rPr>
              <a:t>Коаксиальный кабель </a:t>
            </a:r>
            <a:r>
              <a:rPr lang="ru-RU" dirty="0">
                <a:latin typeface="Times New Roman" panose="02020603050405020304" pitchFamily="18" charset="0"/>
                <a:cs typeface="Times New Roman" panose="02020603050405020304" pitchFamily="18" charset="0"/>
              </a:rPr>
              <a:t>(англ. </a:t>
            </a:r>
            <a:r>
              <a:rPr lang="ru-RU" dirty="0" err="1">
                <a:latin typeface="Times New Roman" panose="02020603050405020304" pitchFamily="18" charset="0"/>
                <a:cs typeface="Times New Roman" panose="02020603050405020304" pitchFamily="18" charset="0"/>
              </a:rPr>
              <a:t>Coaxial</a:t>
            </a:r>
            <a:r>
              <a:rPr lang="ru-RU" dirty="0">
                <a:latin typeface="Times New Roman" panose="02020603050405020304" pitchFamily="18" charset="0"/>
                <a:cs typeface="Times New Roman" panose="02020603050405020304" pitchFamily="18" charset="0"/>
              </a:rPr>
              <a:t> – коаксиальный) имеет симметричную конструкцию и состоит из внутренней медной жилы и оплетки, отделенной от жилы слоем изоляции. Центральная медная жила и оплетка играют роль парных проводников. При коаксиальном исполнении пары проводников магнитное поле, порождаемое переменными электрическими токами, почти полностью заключено внутри кабеля, что существенно снижает потери энергии сигнала на излучение. Поэтому коаксиальные кабели имеют очень хорошие характеристики при передаче высокочастотных сигналов, при достаточно высокой стоимости изготовления</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226371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3121"/>
            <a:ext cx="7620000" cy="1143000"/>
          </a:xfrm>
        </p:spPr>
        <p:txBody>
          <a:bodyPr/>
          <a:lstStyle/>
          <a:p>
            <a:pPr algn="ctr"/>
            <a:r>
              <a:rPr lang="ru-RU" b="1" dirty="0"/>
              <a:t>Витая пара</a:t>
            </a:r>
          </a:p>
        </p:txBody>
      </p:sp>
      <p:sp>
        <p:nvSpPr>
          <p:cNvPr id="3" name="Объект 2"/>
          <p:cNvSpPr>
            <a:spLocks noGrp="1"/>
          </p:cNvSpPr>
          <p:nvPr>
            <p:ph idx="1"/>
          </p:nvPr>
        </p:nvSpPr>
        <p:spPr>
          <a:xfrm>
            <a:off x="470221" y="908720"/>
            <a:ext cx="7620000" cy="4800600"/>
          </a:xfrm>
        </p:spPr>
        <p:txBody>
          <a:bodyPr/>
          <a:lstStyle/>
          <a:p>
            <a:pPr marL="114300" indent="0">
              <a:buNone/>
            </a:pPr>
            <a:r>
              <a:rPr lang="ru-RU" dirty="0" smtClean="0">
                <a:latin typeface="Times New Roman" panose="02020603050405020304" pitchFamily="18" charset="0"/>
                <a:cs typeface="Times New Roman" panose="02020603050405020304" pitchFamily="18" charset="0"/>
              </a:rPr>
              <a:t>Витая </a:t>
            </a:r>
            <a:r>
              <a:rPr lang="ru-RU" dirty="0">
                <a:latin typeface="Times New Roman" panose="02020603050405020304" pitchFamily="18" charset="0"/>
                <a:cs typeface="Times New Roman" panose="02020603050405020304" pitchFamily="18" charset="0"/>
              </a:rPr>
              <a:t>пара существует в экранированном </a:t>
            </a:r>
            <a:r>
              <a:rPr lang="ru-RU" dirty="0" smtClean="0">
                <a:latin typeface="Times New Roman" panose="02020603050405020304" pitchFamily="18" charset="0"/>
                <a:cs typeface="Times New Roman" panose="02020603050405020304" pitchFamily="18" charset="0"/>
              </a:rPr>
              <a:t>варианте, </a:t>
            </a:r>
            <a:r>
              <a:rPr lang="ru-RU" dirty="0">
                <a:latin typeface="Times New Roman" panose="02020603050405020304" pitchFamily="18" charset="0"/>
                <a:cs typeface="Times New Roman" panose="02020603050405020304" pitchFamily="18" charset="0"/>
              </a:rPr>
              <a:t>когда пара медных проводов обертывается в изоляционный экран, и </a:t>
            </a:r>
            <a:r>
              <a:rPr lang="ru-RU" dirty="0" smtClean="0">
                <a:latin typeface="Times New Roman" panose="02020603050405020304" pitchFamily="18" charset="0"/>
                <a:cs typeface="Times New Roman" panose="02020603050405020304" pitchFamily="18" charset="0"/>
              </a:rPr>
              <a:t>неэкранированном, когда </a:t>
            </a:r>
            <a:r>
              <a:rPr lang="ru-RU" dirty="0">
                <a:latin typeface="Times New Roman" panose="02020603050405020304" pitchFamily="18" charset="0"/>
                <a:cs typeface="Times New Roman" panose="02020603050405020304" pitchFamily="18" charset="0"/>
              </a:rPr>
              <a:t>изоляционная обертка отсутствует</a:t>
            </a:r>
            <a:r>
              <a:rPr lang="ru-RU" dirty="0" smtClean="0">
                <a:latin typeface="Times New Roman" panose="02020603050405020304" pitchFamily="18" charset="0"/>
                <a:cs typeface="Times New Roman" panose="02020603050405020304" pitchFamily="18" charset="0"/>
              </a:rPr>
              <a:t>.</a:t>
            </a:r>
          </a:p>
          <a:p>
            <a:pPr marL="114300" indent="0">
              <a:buNone/>
            </a:pPr>
            <a:r>
              <a:rPr lang="ru-RU" dirty="0" smtClean="0">
                <a:latin typeface="Times New Roman" panose="02020603050405020304" pitchFamily="18" charset="0"/>
                <a:cs typeface="Times New Roman" panose="02020603050405020304" pitchFamily="18" charset="0"/>
              </a:rPr>
              <a:t>Скручивание </a:t>
            </a:r>
            <a:r>
              <a:rPr lang="ru-RU" dirty="0">
                <a:latin typeface="Times New Roman" panose="02020603050405020304" pitchFamily="18" charset="0"/>
                <a:cs typeface="Times New Roman" panose="02020603050405020304" pitchFamily="18" charset="0"/>
              </a:rPr>
              <a:t>проводов снижает долю энергии, излучаемой в окружающее пространство и влияние внешних помех на полезные сигналы, передаваемые по кабелю.</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707015"/>
            <a:ext cx="4224469" cy="3168352"/>
          </a:xfrm>
          <a:prstGeom prst="rect">
            <a:avLst/>
          </a:prstGeom>
        </p:spPr>
      </p:pic>
      <p:pic>
        <p:nvPicPr>
          <p:cNvPr id="5" name="Рисунок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4690" y="3573016"/>
            <a:ext cx="3240360" cy="3240360"/>
          </a:xfrm>
          <a:prstGeom prst="rect">
            <a:avLst/>
          </a:prstGeom>
        </p:spPr>
      </p:pic>
    </p:spTree>
    <p:extLst>
      <p:ext uri="{BB962C8B-B14F-4D97-AF65-F5344CB8AC3E}">
        <p14:creationId xmlns:p14="http://schemas.microsoft.com/office/powerpoint/2010/main" val="109525793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792" y="0"/>
            <a:ext cx="8532440" cy="1143000"/>
          </a:xfrm>
        </p:spPr>
        <p:txBody>
          <a:bodyPr/>
          <a:lstStyle/>
          <a:p>
            <a:pPr algn="ctr"/>
            <a:r>
              <a:rPr lang="ru-RU" b="1" dirty="0"/>
              <a:t>Волоконно-оптический кабель</a:t>
            </a:r>
          </a:p>
        </p:txBody>
      </p:sp>
      <p:sp>
        <p:nvSpPr>
          <p:cNvPr id="3" name="Объект 2"/>
          <p:cNvSpPr>
            <a:spLocks noGrp="1"/>
          </p:cNvSpPr>
          <p:nvPr>
            <p:ph idx="1"/>
          </p:nvPr>
        </p:nvSpPr>
        <p:spPr>
          <a:xfrm>
            <a:off x="179512" y="1340768"/>
            <a:ext cx="8280920" cy="2808312"/>
          </a:xfrm>
        </p:spPr>
        <p:txBody>
          <a:bodyPr>
            <a:normAutofit/>
          </a:bodyPr>
          <a:lstStyle/>
          <a:p>
            <a:pPr marL="114300" indent="0">
              <a:buNone/>
            </a:pPr>
            <a:r>
              <a:rPr lang="ru-RU" b="1" dirty="0">
                <a:latin typeface="Times New Roman" panose="02020603050405020304" pitchFamily="18" charset="0"/>
                <a:cs typeface="Times New Roman" panose="02020603050405020304" pitchFamily="18" charset="0"/>
              </a:rPr>
              <a:t>Волоконно-оптический </a:t>
            </a:r>
            <a:r>
              <a:rPr lang="ru-RU" b="1" dirty="0" smtClean="0">
                <a:latin typeface="Times New Roman" panose="02020603050405020304" pitchFamily="18" charset="0"/>
                <a:cs typeface="Times New Roman" panose="02020603050405020304" pitchFamily="18" charset="0"/>
              </a:rPr>
              <a:t>кабель</a:t>
            </a:r>
            <a:r>
              <a:rPr lang="ru-RU" dirty="0" smtClean="0">
                <a:latin typeface="Times New Roman" panose="02020603050405020304" pitchFamily="18" charset="0"/>
                <a:cs typeface="Times New Roman" panose="02020603050405020304" pitchFamily="18" charset="0"/>
              </a:rPr>
              <a:t> состоит </a:t>
            </a:r>
            <a:r>
              <a:rPr lang="ru-RU" dirty="0">
                <a:latin typeface="Times New Roman" panose="02020603050405020304" pitchFamily="18" charset="0"/>
                <a:cs typeface="Times New Roman" panose="02020603050405020304" pitchFamily="18" charset="0"/>
              </a:rPr>
              <a:t>из тонких (5-60 микрон) волокон, по которым распространяются световые сигналы.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Это </a:t>
            </a:r>
            <a:r>
              <a:rPr lang="ru-RU" dirty="0">
                <a:latin typeface="Times New Roman" panose="02020603050405020304" pitchFamily="18" charset="0"/>
                <a:cs typeface="Times New Roman" panose="02020603050405020304" pitchFamily="18" charset="0"/>
              </a:rPr>
              <a:t>наиболее качественный тип кабеля – он обеспечивает передачу данных с очень высокой скоростью (более 100 Гбит/с) и к тому же лучше других типов передающей среды обеспечивает защиту данных от внешних помех и высокий уровень защиты от несанкционированного доступа</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656" y="3861048"/>
            <a:ext cx="5186071" cy="2924944"/>
          </a:xfrm>
          <a:prstGeom prst="rect">
            <a:avLst/>
          </a:prstGeom>
        </p:spPr>
      </p:pic>
    </p:spTree>
    <p:extLst>
      <p:ext uri="{BB962C8B-B14F-4D97-AF65-F5344CB8AC3E}">
        <p14:creationId xmlns:p14="http://schemas.microsoft.com/office/powerpoint/2010/main" val="2629551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912" y="0"/>
            <a:ext cx="8460432" cy="1143000"/>
          </a:xfrm>
        </p:spPr>
        <p:txBody>
          <a:bodyPr/>
          <a:lstStyle/>
          <a:p>
            <a:pPr algn="ctr"/>
            <a:r>
              <a:rPr lang="ru-RU" b="1"/>
              <a:t>Радиоканалы наземной и спутниковой связи</a:t>
            </a:r>
          </a:p>
        </p:txBody>
      </p:sp>
      <p:sp>
        <p:nvSpPr>
          <p:cNvPr id="3" name="Объект 2"/>
          <p:cNvSpPr>
            <a:spLocks noGrp="1"/>
          </p:cNvSpPr>
          <p:nvPr>
            <p:ph idx="1"/>
          </p:nvPr>
        </p:nvSpPr>
        <p:spPr>
          <a:xfrm>
            <a:off x="0" y="1340768"/>
            <a:ext cx="8473344" cy="5517232"/>
          </a:xfrm>
        </p:spPr>
        <p:txBody>
          <a:bodyPr/>
          <a:lstStyle/>
          <a:p>
            <a:pPr marL="114300" indent="0">
              <a:buNone/>
            </a:pPr>
            <a:r>
              <a:rPr lang="ru-RU" b="1" dirty="0">
                <a:latin typeface="Times New Roman" panose="02020603050405020304" pitchFamily="18" charset="0"/>
                <a:cs typeface="Times New Roman" panose="02020603050405020304" pitchFamily="18" charset="0"/>
              </a:rPr>
              <a:t>Радиоканалы наземной и спутниковой связи </a:t>
            </a:r>
            <a:r>
              <a:rPr lang="ru-RU" dirty="0">
                <a:latin typeface="Times New Roman" panose="02020603050405020304" pitchFamily="18" charset="0"/>
                <a:cs typeface="Times New Roman" panose="02020603050405020304" pitchFamily="18" charset="0"/>
              </a:rPr>
              <a:t>образуются с помощью передатчика и приемника радиоволн.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Существует </a:t>
            </a:r>
            <a:r>
              <a:rPr lang="ru-RU" dirty="0">
                <a:latin typeface="Times New Roman" panose="02020603050405020304" pitchFamily="18" charset="0"/>
                <a:cs typeface="Times New Roman" panose="02020603050405020304" pitchFamily="18" charset="0"/>
              </a:rPr>
              <a:t>большое количество различных типов радиоканалов, отличающихся как используемым частотным диапазоном, так и дальностью канала.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Диапазоны </a:t>
            </a:r>
            <a:r>
              <a:rPr lang="ru-RU" dirty="0">
                <a:latin typeface="Times New Roman" panose="02020603050405020304" pitchFamily="18" charset="0"/>
                <a:cs typeface="Times New Roman" panose="02020603050405020304" pitchFamily="18" charset="0"/>
              </a:rPr>
              <a:t>коротких, средних и длинных волн (KB, СВ и ДВ), называемые также диапазонами амплитудной модуляции </a:t>
            </a:r>
            <a:r>
              <a:rPr lang="ru-RU" dirty="0" smtClean="0">
                <a:latin typeface="Times New Roman" panose="02020603050405020304" pitchFamily="18" charset="0"/>
                <a:cs typeface="Times New Roman" panose="02020603050405020304" pitchFamily="18" charset="0"/>
              </a:rPr>
              <a:t>по </a:t>
            </a:r>
            <a:r>
              <a:rPr lang="ru-RU" dirty="0">
                <a:latin typeface="Times New Roman" panose="02020603050405020304" pitchFamily="18" charset="0"/>
                <a:cs typeface="Times New Roman" panose="02020603050405020304" pitchFamily="18" charset="0"/>
              </a:rPr>
              <a:t>типу используемого в них метода модуляции сигнала, обеспечивают дальнюю связь, но при невысокой скорости передачи данных.</a:t>
            </a:r>
          </a:p>
        </p:txBody>
      </p:sp>
    </p:spTree>
    <p:extLst>
      <p:ext uri="{BB962C8B-B14F-4D97-AF65-F5344CB8AC3E}">
        <p14:creationId xmlns:p14="http://schemas.microsoft.com/office/powerpoint/2010/main" val="41402183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7544" y="2924944"/>
            <a:ext cx="7620000" cy="1143000"/>
          </a:xfrm>
        </p:spPr>
        <p:txBody>
          <a:bodyPr/>
          <a:lstStyle/>
          <a:p>
            <a:pPr algn="ctr"/>
            <a:r>
              <a:rPr lang="ru-RU" b="1" dirty="0"/>
              <a:t>Беспроводная среда передачи данных</a:t>
            </a:r>
            <a:endParaRPr lang="ru-RU" dirty="0"/>
          </a:p>
        </p:txBody>
      </p:sp>
    </p:spTree>
    <p:extLst>
      <p:ext uri="{BB962C8B-B14F-4D97-AF65-F5344CB8AC3E}">
        <p14:creationId xmlns:p14="http://schemas.microsoft.com/office/powerpoint/2010/main" val="25764389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4400" b="1" dirty="0"/>
              <a:t>Беспроводная среда </a:t>
            </a:r>
            <a:r>
              <a:rPr lang="ru-RU" sz="4400" b="1" dirty="0" smtClean="0"/>
              <a:t>передачи </a:t>
            </a:r>
            <a:r>
              <a:rPr lang="ru-RU" sz="4400" b="1" dirty="0"/>
              <a:t>данных</a:t>
            </a:r>
            <a:endParaRPr lang="ru-RU" sz="4400" dirty="0"/>
          </a:p>
        </p:txBody>
      </p:sp>
      <p:sp>
        <p:nvSpPr>
          <p:cNvPr id="3" name="Объект 2"/>
          <p:cNvSpPr>
            <a:spLocks noGrp="1"/>
          </p:cNvSpPr>
          <p:nvPr>
            <p:ph idx="1"/>
          </p:nvPr>
        </p:nvSpPr>
        <p:spPr>
          <a:xfrm>
            <a:off x="35496" y="1600200"/>
            <a:ext cx="8424936" cy="5257800"/>
          </a:xfrm>
        </p:spPr>
        <p:txBody>
          <a:bodyPr>
            <a:normAutofit/>
          </a:bodyPr>
          <a:lstStyle/>
          <a:p>
            <a:pPr marL="114300" indent="0">
              <a:buNone/>
            </a:pPr>
            <a:r>
              <a:rPr lang="ru-RU" b="1" dirty="0">
                <a:latin typeface="Times New Roman" panose="02020603050405020304" pitchFamily="18" charset="0"/>
                <a:cs typeface="Times New Roman" panose="02020603050405020304" pitchFamily="18" charset="0"/>
              </a:rPr>
              <a:t>Беспроводная среда </a:t>
            </a:r>
            <a:r>
              <a:rPr lang="ru-RU" dirty="0">
                <a:latin typeface="Times New Roman" panose="02020603050405020304" pitchFamily="18" charset="0"/>
                <a:cs typeface="Times New Roman" panose="02020603050405020304" pitchFamily="18" charset="0"/>
              </a:rPr>
              <a:t>постепенно входит в нашу жизнь. Как только технология окончательно сформируется, производители предложат широкий выбор продукции по приемлемым ценам, что приведет и к росту спроса на нее, и к увеличению объема продаж. В свою очередь, это вызовет дальнейшее совершенствование и развитие беспроводной среды</a:t>
            </a:r>
            <a:r>
              <a:rPr lang="ru-RU"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Словосочетание «беспроводная среда» может ввести в заблуждение, поскольку как бы означает полное отсутствие проводов в сети. В действительности же это не так. Обычно беспроводные компоненты взаимодействуют с сетью, в которой В качестве среды передачи используется кабель. Такая сеть со смешанными компонентами называется гибридной</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10220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5496" y="1268760"/>
            <a:ext cx="8424936" cy="5589240"/>
          </a:xfrm>
        </p:spPr>
        <p:txBody>
          <a:bodyPr>
            <a:normAutofit fontScale="92500" lnSpcReduction="10000"/>
          </a:bodyPr>
          <a:lstStyle/>
          <a:p>
            <a:pPr marL="114300" indent="0">
              <a:buNone/>
            </a:pPr>
            <a:r>
              <a:rPr lang="ru-RU" dirty="0">
                <a:latin typeface="Times New Roman" panose="02020603050405020304" pitchFamily="18" charset="0"/>
                <a:cs typeface="Times New Roman" panose="02020603050405020304" pitchFamily="18" charset="0"/>
              </a:rPr>
              <a:t>Идея беспроводной среды весьма привлекательна, так как ее компоненты обеспечивают временное подключение к существующей кабельной сети, помогают организовать резервное копирование в существующую кабельную сеть, гарантируют определенный уровень мобильности и позволяют снять ограничения на максимальную протяженность сети, накладываемые медными или даже оптоволоконными кабелями.</a:t>
            </a:r>
          </a:p>
          <a:p>
            <a:pPr marL="114300" indent="0">
              <a:buNone/>
            </a:pPr>
            <a:r>
              <a:rPr lang="ru-RU" dirty="0">
                <a:latin typeface="Times New Roman" panose="02020603050405020304" pitchFamily="18" charset="0"/>
                <a:cs typeface="Times New Roman" panose="02020603050405020304" pitchFamily="18" charset="0"/>
              </a:rPr>
              <a:t/>
            </a:r>
            <a:br>
              <a:rPr lang="ru-RU" dirty="0">
                <a:latin typeface="Times New Roman" panose="02020603050405020304" pitchFamily="18" charset="0"/>
                <a:cs typeface="Times New Roman" panose="02020603050405020304" pitchFamily="18" charset="0"/>
              </a:rPr>
            </a:br>
            <a:r>
              <a:rPr lang="ru-RU" b="1" dirty="0">
                <a:latin typeface="Times New Roman" panose="02020603050405020304" pitchFamily="18" charset="0"/>
                <a:cs typeface="Times New Roman" panose="02020603050405020304" pitchFamily="18" charset="0"/>
              </a:rPr>
              <a:t>Применение</a:t>
            </a: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Трудность установки кабеля - фактор, который дает беспроводной среде неоспоримое преимущество. Она может оказаться особенно полезной в следующих ситуациях: в помещениях, заполненных людьми (например, в прихожей или приемной);</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для людей, которые не работают на одном месте (например, для врачей или медсестер);</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в изолированных помещениях и зданиях;</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в помещениях, планировка которых часто меняется;</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в строениях (например, памятниках истории или архитектуры), где прокладывать </a:t>
            </a:r>
            <a:r>
              <a:rPr lang="ru-RU" dirty="0" smtClean="0">
                <a:latin typeface="Times New Roman" panose="02020603050405020304" pitchFamily="18" charset="0"/>
                <a:cs typeface="Times New Roman" panose="02020603050405020304" pitchFamily="18" charset="0"/>
              </a:rPr>
              <a:t>кабель </a:t>
            </a:r>
            <a:r>
              <a:rPr lang="ru-RU" dirty="0">
                <a:latin typeface="Times New Roman" panose="02020603050405020304" pitchFamily="18" charset="0"/>
                <a:cs typeface="Times New Roman" panose="02020603050405020304" pitchFamily="18" charset="0"/>
              </a:rPr>
              <a:t>непозволительно</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437964" y="0"/>
            <a:ext cx="7620000" cy="1143000"/>
          </a:xfrm>
        </p:spPr>
        <p:txBody>
          <a:bodyPr/>
          <a:lstStyle/>
          <a:p>
            <a:pPr algn="ctr"/>
            <a:r>
              <a:rPr lang="ru-RU" sz="4400" b="1" dirty="0"/>
              <a:t>Беспроводная среда </a:t>
            </a:r>
            <a:r>
              <a:rPr lang="ru-RU" sz="4400" b="1" dirty="0" smtClean="0"/>
              <a:t>передачи </a:t>
            </a:r>
            <a:r>
              <a:rPr lang="ru-RU" sz="4400" b="1" dirty="0"/>
              <a:t>данных</a:t>
            </a:r>
            <a:endParaRPr lang="ru-RU" sz="4400" dirty="0"/>
          </a:p>
        </p:txBody>
      </p:sp>
    </p:spTree>
    <p:extLst>
      <p:ext uri="{BB962C8B-B14F-4D97-AF65-F5344CB8AC3E}">
        <p14:creationId xmlns:p14="http://schemas.microsoft.com/office/powerpoint/2010/main" val="3876627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6563" y="0"/>
            <a:ext cx="7620000" cy="1143000"/>
          </a:xfrm>
        </p:spPr>
        <p:txBody>
          <a:bodyPr/>
          <a:lstStyle/>
          <a:p>
            <a:pPr algn="ctr"/>
            <a:r>
              <a:rPr lang="ru-RU" b="1" dirty="0"/>
              <a:t>Типы беспроводных сетей</a:t>
            </a:r>
            <a:endParaRPr lang="ru-RU" dirty="0"/>
          </a:p>
        </p:txBody>
      </p:sp>
      <p:sp>
        <p:nvSpPr>
          <p:cNvPr id="3" name="Объект 2"/>
          <p:cNvSpPr>
            <a:spLocks noGrp="1"/>
          </p:cNvSpPr>
          <p:nvPr>
            <p:ph idx="1"/>
          </p:nvPr>
        </p:nvSpPr>
        <p:spPr>
          <a:xfrm>
            <a:off x="35496" y="1143000"/>
            <a:ext cx="8424936" cy="5715000"/>
          </a:xfrm>
        </p:spPr>
        <p:txBody>
          <a:bodyPr>
            <a:normAutofit/>
          </a:bodyPr>
          <a:lstStyle/>
          <a:p>
            <a:pPr marL="114300" indent="0">
              <a:buNone/>
            </a:pPr>
            <a:r>
              <a:rPr lang="ru-RU" dirty="0">
                <a:latin typeface="Times New Roman" panose="02020603050405020304" pitchFamily="18" charset="0"/>
                <a:cs typeface="Times New Roman" panose="02020603050405020304" pitchFamily="18" charset="0"/>
              </a:rPr>
              <a:t>В зависимости от технологии беспроводные сети можно разделить на три типа:</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локальные вычислительные сети;</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расширенные локальные вычислительные сети;</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мобильные сети (переносные компьютеры).</a:t>
            </a:r>
          </a:p>
          <a:p>
            <a:pPr marL="114300" indent="0">
              <a:buNone/>
            </a:pPr>
            <a:endParaRPr lang="en-US"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Основные </a:t>
            </a:r>
            <a:r>
              <a:rPr lang="ru-RU" dirty="0">
                <a:latin typeface="Times New Roman" panose="02020603050405020304" pitchFamily="18" charset="0"/>
                <a:cs typeface="Times New Roman" panose="02020603050405020304" pitchFamily="18" charset="0"/>
              </a:rPr>
              <a:t>различия между этими типами сетей - параметры передачи. Локальные и расширенные локальные вычислительные сети используют передатчики и приемники, принадлежащие той организации, в которой функционирует сеть. </a:t>
            </a:r>
            <a:endParaRPr lang="en-US" dirty="0" smtClean="0">
              <a:latin typeface="Times New Roman" panose="02020603050405020304" pitchFamily="18" charset="0"/>
              <a:cs typeface="Times New Roman" panose="02020603050405020304" pitchFamily="18" charset="0"/>
            </a:endParaRPr>
          </a:p>
          <a:p>
            <a:pPr marL="114300" indent="0">
              <a:buNone/>
            </a:pPr>
            <a:endParaRPr lang="en-US" dirty="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Для переносных </a:t>
            </a:r>
            <a:r>
              <a:rPr lang="ru-RU" dirty="0">
                <a:latin typeface="Times New Roman" panose="02020603050405020304" pitchFamily="18" charset="0"/>
                <a:cs typeface="Times New Roman" panose="02020603050405020304" pitchFamily="18" charset="0"/>
              </a:rPr>
              <a:t>компьютеров в качестве среды передачи сигналов выступают AT&amp;T, МCI, </a:t>
            </a:r>
            <a:r>
              <a:rPr lang="ru-RU" dirty="0" err="1">
                <a:latin typeface="Times New Roman" panose="02020603050405020304" pitchFamily="18" charset="0"/>
                <a:cs typeface="Times New Roman" panose="02020603050405020304" pitchFamily="18" charset="0"/>
              </a:rPr>
              <a:t>Sprint</a:t>
            </a:r>
            <a:r>
              <a:rPr lang="ru-RU" dirty="0">
                <a:latin typeface="Times New Roman" panose="02020603050405020304" pitchFamily="18" charset="0"/>
                <a:cs typeface="Times New Roman" panose="02020603050405020304" pitchFamily="18" charset="0"/>
              </a:rPr>
              <a:t>, местные телефонные компании и их общедоступные службы.</a:t>
            </a:r>
          </a:p>
          <a:p>
            <a:pPr marL="11430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7891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8460432" cy="1331640"/>
          </a:xfrm>
        </p:spPr>
        <p:txBody>
          <a:bodyPr/>
          <a:lstStyle/>
          <a:p>
            <a:pPr algn="ctr"/>
            <a:r>
              <a:rPr lang="ru-RU" b="1" dirty="0"/>
              <a:t>Локальные вычислительные сети</a:t>
            </a:r>
            <a:endParaRPr lang="ru-RU" dirty="0"/>
          </a:p>
        </p:txBody>
      </p:sp>
      <p:sp>
        <p:nvSpPr>
          <p:cNvPr id="3" name="Объект 2"/>
          <p:cNvSpPr>
            <a:spLocks noGrp="1"/>
          </p:cNvSpPr>
          <p:nvPr>
            <p:ph idx="1"/>
          </p:nvPr>
        </p:nvSpPr>
        <p:spPr/>
        <p:txBody>
          <a:bodyPr>
            <a:normAutofit/>
          </a:bodyPr>
          <a:lstStyle/>
          <a:p>
            <a:pPr marL="114300" indent="0">
              <a:buNone/>
            </a:pPr>
            <a:r>
              <a:rPr lang="ru-RU" sz="2400" dirty="0">
                <a:latin typeface="Times New Roman" panose="02020603050405020304" pitchFamily="18" charset="0"/>
                <a:cs typeface="Times New Roman" panose="02020603050405020304" pitchFamily="18" charset="0"/>
              </a:rPr>
              <a:t>Типичная беспроводная сеть выглядит и функционирует практически так же, как обычная, за исключением среды передачи. </a:t>
            </a:r>
            <a:endParaRPr lang="en-US" sz="2400" dirty="0" smtClean="0">
              <a:latin typeface="Times New Roman" panose="02020603050405020304" pitchFamily="18" charset="0"/>
              <a:cs typeface="Times New Roman" panose="02020603050405020304" pitchFamily="18" charset="0"/>
            </a:endParaRPr>
          </a:p>
          <a:p>
            <a:pPr marL="114300" indent="0">
              <a:buNone/>
            </a:pPr>
            <a:r>
              <a:rPr lang="ru-RU" sz="2400" dirty="0" smtClean="0">
                <a:latin typeface="Times New Roman" panose="02020603050405020304" pitchFamily="18" charset="0"/>
                <a:cs typeface="Times New Roman" panose="02020603050405020304" pitchFamily="18" charset="0"/>
              </a:rPr>
              <a:t>Беспроводной </a:t>
            </a:r>
            <a:r>
              <a:rPr lang="ru-RU" sz="2400" dirty="0">
                <a:latin typeface="Times New Roman" panose="02020603050405020304" pitchFamily="18" charset="0"/>
                <a:cs typeface="Times New Roman" panose="02020603050405020304" pitchFamily="18" charset="0"/>
              </a:rPr>
              <a:t>сетевой адаптер с трансивером установлен в каждом компьютере, и пользователи работают так, будто их компьютеры соединены кабелем.</a:t>
            </a:r>
          </a:p>
          <a:p>
            <a:pPr marL="114300" indent="0">
              <a:buNone/>
            </a:pPr>
            <a:r>
              <a:rPr lang="ru-RU" dirty="0"/>
              <a:t/>
            </a:r>
            <a:br>
              <a:rPr lang="ru-RU" dirty="0"/>
            </a:br>
            <a:endParaRPr lang="ru-RU" dirty="0"/>
          </a:p>
        </p:txBody>
      </p:sp>
    </p:spTree>
    <p:extLst>
      <p:ext uri="{BB962C8B-B14F-4D97-AF65-F5344CB8AC3E}">
        <p14:creationId xmlns:p14="http://schemas.microsoft.com/office/powerpoint/2010/main" val="9550566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Точки </a:t>
            </a:r>
            <a:r>
              <a:rPr lang="ru-RU" b="1" dirty="0" smtClean="0"/>
              <a:t>доступа</a:t>
            </a:r>
            <a:endParaRPr lang="ru-RU" dirty="0"/>
          </a:p>
        </p:txBody>
      </p:sp>
      <p:sp>
        <p:nvSpPr>
          <p:cNvPr id="3" name="Объект 2"/>
          <p:cNvSpPr>
            <a:spLocks noGrp="1"/>
          </p:cNvSpPr>
          <p:nvPr>
            <p:ph idx="1"/>
          </p:nvPr>
        </p:nvSpPr>
        <p:spPr/>
        <p:txBody>
          <a:bodyPr/>
          <a:lstStyle/>
          <a:p>
            <a:pPr marL="114300" indent="0">
              <a:buNone/>
            </a:pPr>
            <a:r>
              <a:rPr lang="ru-RU" dirty="0" smtClean="0">
                <a:latin typeface="Times New Roman" panose="02020603050405020304" pitchFamily="18" charset="0"/>
                <a:cs typeface="Times New Roman" panose="02020603050405020304" pitchFamily="18" charset="0"/>
              </a:rPr>
              <a:t>Трансивер</a:t>
            </a:r>
            <a:r>
              <a:rPr lang="ru-RU" dirty="0">
                <a:latin typeface="Times New Roman" panose="02020603050405020304" pitchFamily="18" charset="0"/>
                <a:cs typeface="Times New Roman" panose="02020603050405020304" pitchFamily="18" charset="0"/>
              </a:rPr>
              <a:t>, называемый иногда точкой доступа (</a:t>
            </a:r>
            <a:r>
              <a:rPr lang="ru-RU" dirty="0" err="1">
                <a:latin typeface="Times New Roman" panose="02020603050405020304" pitchFamily="18" charset="0"/>
                <a:cs typeface="Times New Roman" panose="02020603050405020304" pitchFamily="18" charset="0"/>
              </a:rPr>
              <a:t>access</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point</a:t>
            </a:r>
            <a:r>
              <a:rPr lang="ru-RU" dirty="0">
                <a:latin typeface="Times New Roman" panose="02020603050405020304" pitchFamily="18" charset="0"/>
                <a:cs typeface="Times New Roman" panose="02020603050405020304" pitchFamily="18" charset="0"/>
              </a:rPr>
              <a:t>), обеспечивает обмен сигналами между компьютерами с беспроводным подключением и остальной сетью. В беспроводных ЛВС используются небольшие настенные трансиверы. Они устанавливают радиоконтакт между переносными устройствами. Такую сеть нельзя назвать полностью беспроводной именно из-за использования этих трансиверов</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8024" y="4042799"/>
            <a:ext cx="2540563" cy="2540563"/>
          </a:xfrm>
          <a:prstGeom prst="rect">
            <a:avLst/>
          </a:prstGeom>
        </p:spPr>
      </p:pic>
    </p:spTree>
    <p:extLst>
      <p:ext uri="{BB962C8B-B14F-4D97-AF65-F5344CB8AC3E}">
        <p14:creationId xmlns:p14="http://schemas.microsoft.com/office/powerpoint/2010/main" val="14503055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Способы передачи</a:t>
            </a:r>
            <a:endParaRPr lang="ru-RU" dirty="0"/>
          </a:p>
        </p:txBody>
      </p:sp>
      <p:sp>
        <p:nvSpPr>
          <p:cNvPr id="3" name="Объект 2"/>
          <p:cNvSpPr>
            <a:spLocks noGrp="1"/>
          </p:cNvSpPr>
          <p:nvPr>
            <p:ph idx="1"/>
          </p:nvPr>
        </p:nvSpPr>
        <p:spPr>
          <a:xfrm>
            <a:off x="179512" y="1600200"/>
            <a:ext cx="8280920" cy="4800600"/>
          </a:xfrm>
        </p:spPr>
        <p:txBody>
          <a:bodyPr>
            <a:normAutofit/>
          </a:bodyPr>
          <a:lstStyle/>
          <a:p>
            <a:pPr marL="114300" indent="0">
              <a:buNone/>
            </a:pPr>
            <a:r>
              <a:rPr lang="ru-RU" sz="2800" dirty="0">
                <a:latin typeface="Times New Roman" panose="02020603050405020304" pitchFamily="18" charset="0"/>
                <a:cs typeface="Times New Roman" panose="02020603050405020304" pitchFamily="18" charset="0"/>
              </a:rPr>
              <a:t>Беспроводные локальные сети используют четыре способа передачи данных</a:t>
            </a:r>
            <a:r>
              <a:rPr lang="ru-RU"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pPr marL="114300" indent="0">
              <a:buNone/>
            </a:pPr>
            <a:endParaRPr lang="ru-RU"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sz="2800" dirty="0">
                <a:latin typeface="Times New Roman" panose="02020603050405020304" pitchFamily="18" charset="0"/>
                <a:cs typeface="Times New Roman" panose="02020603050405020304" pitchFamily="18" charset="0"/>
              </a:rPr>
              <a:t>инфракрасное излучение;</a:t>
            </a:r>
          </a:p>
          <a:p>
            <a:pPr>
              <a:buFont typeface="Wingdings" panose="05000000000000000000" pitchFamily="2" charset="2"/>
              <a:buChar char="ü"/>
            </a:pPr>
            <a:r>
              <a:rPr lang="ru-RU" sz="2800" dirty="0">
                <a:latin typeface="Times New Roman" panose="02020603050405020304" pitchFamily="18" charset="0"/>
                <a:cs typeface="Times New Roman" panose="02020603050405020304" pitchFamily="18" charset="0"/>
              </a:rPr>
              <a:t>лазер;</a:t>
            </a:r>
          </a:p>
          <a:p>
            <a:pPr>
              <a:buFont typeface="Wingdings" panose="05000000000000000000" pitchFamily="2" charset="2"/>
              <a:buChar char="ü"/>
            </a:pPr>
            <a:r>
              <a:rPr lang="ru-RU" sz="2800" dirty="0">
                <a:latin typeface="Times New Roman" panose="02020603050405020304" pitchFamily="18" charset="0"/>
                <a:cs typeface="Times New Roman" panose="02020603050405020304" pitchFamily="18" charset="0"/>
              </a:rPr>
              <a:t>радиопередачу в узком спектре (одночастотная передача);</a:t>
            </a:r>
          </a:p>
          <a:p>
            <a:pPr>
              <a:buFont typeface="Wingdings" panose="05000000000000000000" pitchFamily="2" charset="2"/>
              <a:buChar char="ü"/>
            </a:pPr>
            <a:r>
              <a:rPr lang="ru-RU" sz="2800" dirty="0">
                <a:latin typeface="Times New Roman" panose="02020603050405020304" pitchFamily="18" charset="0"/>
                <a:cs typeface="Times New Roman" panose="02020603050405020304" pitchFamily="18" charset="0"/>
              </a:rPr>
              <a:t>радиопередачу в рассеянном спектре</a:t>
            </a:r>
            <a:r>
              <a:rPr lang="ru-RU" sz="2800" dirty="0" smtClean="0">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6045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Инфракрасное излучение</a:t>
            </a:r>
            <a:endParaRPr lang="ru-RU" dirty="0"/>
          </a:p>
        </p:txBody>
      </p:sp>
      <p:sp>
        <p:nvSpPr>
          <p:cNvPr id="3" name="Объект 2"/>
          <p:cNvSpPr>
            <a:spLocks noGrp="1"/>
          </p:cNvSpPr>
          <p:nvPr>
            <p:ph idx="1"/>
          </p:nvPr>
        </p:nvSpPr>
        <p:spPr>
          <a:xfrm>
            <a:off x="0" y="1600200"/>
            <a:ext cx="8460432" cy="5357192"/>
          </a:xfrm>
        </p:spPr>
        <p:txBody>
          <a:bodyPr>
            <a:normAutofit/>
          </a:bodyPr>
          <a:lstStyle/>
          <a:p>
            <a:pPr marL="114300" indent="0">
              <a:buNone/>
            </a:pPr>
            <a:r>
              <a:rPr lang="ru-RU" sz="2400" dirty="0">
                <a:latin typeface="Times New Roman" panose="02020603050405020304" pitchFamily="18" charset="0"/>
                <a:cs typeface="Times New Roman" panose="02020603050405020304" pitchFamily="18" charset="0"/>
              </a:rPr>
              <a:t>Все инфракрасные беспроводные сети используют для передачи данных инфракрасные лучи. В подобных системах необходимо генерировать очень сильный сигнал, так как в противном случае значительное влияние будут оказывать другие источники, например окна. Этот способ позволяет передавать сигналы с большой скоростью, поскольку инфракрасный свет имеет широкий диапазон частот. Инфракрасные сети способны нормально функционировать на скорости 10 Мбит/с. Существует четыре типа инфракрасных сетей</a:t>
            </a:r>
          </a:p>
          <a:p>
            <a:pPr marL="114300" indent="0">
              <a:buNone/>
            </a:pPr>
            <a:endParaRPr lang="en-US" sz="26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673125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14463"/>
            <a:ext cx="7620000" cy="1143000"/>
          </a:xfrm>
        </p:spPr>
        <p:txBody>
          <a:bodyPr/>
          <a:lstStyle/>
          <a:p>
            <a:r>
              <a:rPr lang="ru-RU" b="1" dirty="0"/>
              <a:t>Инфракрасное излучение</a:t>
            </a:r>
            <a:endParaRPr lang="ru-RU" dirty="0"/>
          </a:p>
        </p:txBody>
      </p:sp>
      <p:sp>
        <p:nvSpPr>
          <p:cNvPr id="3" name="Объект 2"/>
          <p:cNvSpPr>
            <a:spLocks noGrp="1"/>
          </p:cNvSpPr>
          <p:nvPr>
            <p:ph idx="1"/>
          </p:nvPr>
        </p:nvSpPr>
        <p:spPr>
          <a:xfrm>
            <a:off x="107504" y="1157463"/>
            <a:ext cx="7969696" cy="5544616"/>
          </a:xfrm>
        </p:spPr>
        <p:txBody>
          <a:bodyPr>
            <a:normAutofit lnSpcReduction="10000"/>
          </a:bodyPr>
          <a:lstStyle/>
          <a:p>
            <a:pPr>
              <a:buFont typeface="Wingdings" panose="05000000000000000000" pitchFamily="2" charset="2"/>
              <a:buChar char="ü"/>
            </a:pPr>
            <a:r>
              <a:rPr lang="ru-RU" sz="2000" b="1" dirty="0">
                <a:latin typeface="Times New Roman" panose="02020603050405020304" pitchFamily="18" charset="0"/>
                <a:cs typeface="Times New Roman" panose="02020603050405020304" pitchFamily="18" charset="0"/>
              </a:rPr>
              <a:t>Сети прямой видимости.</a:t>
            </a:r>
            <a:r>
              <a:rPr lang="en-US" sz="2000" b="1" dirty="0">
                <a:latin typeface="Times New Roman" panose="02020603050405020304" pitchFamily="18" charset="0"/>
                <a:cs typeface="Times New Roman" panose="02020603050405020304" pitchFamily="18" charset="0"/>
              </a:rPr>
              <a:t> </a:t>
            </a:r>
            <a:r>
              <a:rPr lang="ru-RU" sz="2000" dirty="0">
                <a:latin typeface="Times New Roman" panose="02020603050405020304" pitchFamily="18" charset="0"/>
                <a:cs typeface="Times New Roman" panose="02020603050405020304" pitchFamily="18" charset="0"/>
              </a:rPr>
              <a:t>Как говорит само название, в таких сетях передача возможна лишь в случае прямой видимости между передатчиком и приемником.</a:t>
            </a:r>
          </a:p>
          <a:p>
            <a:pPr>
              <a:buFont typeface="Wingdings" panose="05000000000000000000" pitchFamily="2" charset="2"/>
              <a:buChar char="ü"/>
            </a:pPr>
            <a:r>
              <a:rPr lang="ru-RU" sz="2000" b="1" dirty="0">
                <a:latin typeface="Times New Roman" panose="02020603050405020304" pitchFamily="18" charset="0"/>
                <a:cs typeface="Times New Roman" panose="02020603050405020304" pitchFamily="18" charset="0"/>
              </a:rPr>
              <a:t>Сети на рассеянном инфракрасном излучении. </a:t>
            </a:r>
            <a:r>
              <a:rPr lang="ru-RU" sz="2000" dirty="0">
                <a:latin typeface="Times New Roman" panose="02020603050405020304" pitchFamily="18" charset="0"/>
                <a:cs typeface="Times New Roman" panose="02020603050405020304" pitchFamily="18" charset="0"/>
              </a:rPr>
              <a:t>При этой технологии сигналы, отражаясь от стен и потолка, в конце концов достигают приемника. Эффективная область ограничивается примерно 30 м (100 футами), и скорость передачи невелика из-за большого уровня внешних помех.</a:t>
            </a:r>
          </a:p>
          <a:p>
            <a:pPr>
              <a:buFont typeface="Wingdings" panose="05000000000000000000" pitchFamily="2" charset="2"/>
              <a:buChar char="ü"/>
            </a:pPr>
            <a:r>
              <a:rPr lang="ru-RU" sz="2000" b="1" dirty="0">
                <a:latin typeface="Times New Roman" panose="02020603050405020304" pitchFamily="18" charset="0"/>
                <a:cs typeface="Times New Roman" panose="02020603050405020304" pitchFamily="18" charset="0"/>
              </a:rPr>
              <a:t>Сети на отраженном инфракрасном излучении. </a:t>
            </a:r>
            <a:r>
              <a:rPr lang="ru-RU" sz="2000" dirty="0">
                <a:latin typeface="Times New Roman" panose="02020603050405020304" pitchFamily="18" charset="0"/>
                <a:cs typeface="Times New Roman" panose="02020603050405020304" pitchFamily="18" charset="0"/>
              </a:rPr>
              <a:t>В этих сетях оптические трансиверы, расположенные рядом с компьютером, передают сигналы в определенное место, из которого они </a:t>
            </a:r>
            <a:r>
              <a:rPr lang="ru-RU" sz="2000" dirty="0" err="1">
                <a:latin typeface="Times New Roman" panose="02020603050405020304" pitchFamily="18" charset="0"/>
                <a:cs typeface="Times New Roman" panose="02020603050405020304" pitchFamily="18" charset="0"/>
              </a:rPr>
              <a:t>переадресуются</a:t>
            </a:r>
            <a:r>
              <a:rPr lang="ru-RU" sz="2000" dirty="0">
                <a:latin typeface="Times New Roman" panose="02020603050405020304" pitchFamily="18" charset="0"/>
                <a:cs typeface="Times New Roman" panose="02020603050405020304" pitchFamily="18" charset="0"/>
              </a:rPr>
              <a:t> соответствующему компьютеру.</a:t>
            </a:r>
          </a:p>
          <a:p>
            <a:pPr>
              <a:buFont typeface="Wingdings" panose="05000000000000000000" pitchFamily="2" charset="2"/>
              <a:buChar char="ü"/>
            </a:pPr>
            <a:r>
              <a:rPr lang="ru-RU" sz="2000" b="1" dirty="0">
                <a:latin typeface="Times New Roman" panose="02020603050405020304" pitchFamily="18" charset="0"/>
                <a:cs typeface="Times New Roman" panose="02020603050405020304" pitchFamily="18" charset="0"/>
              </a:rPr>
              <a:t>Широкополосные оптические сети</a:t>
            </a:r>
            <a:r>
              <a:rPr lang="ru-RU" sz="2000" b="1" dirty="0" smtClean="0">
                <a:latin typeface="Times New Roman" panose="02020603050405020304" pitchFamily="18" charset="0"/>
                <a:cs typeface="Times New Roman" panose="02020603050405020304" pitchFamily="18" charset="0"/>
              </a:rPr>
              <a:t>.</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Эти </a:t>
            </a:r>
            <a:r>
              <a:rPr lang="ru-RU" dirty="0">
                <a:latin typeface="Times New Roman" panose="02020603050405020304" pitchFamily="18" charset="0"/>
                <a:cs typeface="Times New Roman" panose="02020603050405020304" pitchFamily="18" charset="0"/>
              </a:rPr>
              <a:t>инфракрасные беспроводные сети предоставляют широкополосные услуги, соответствуют жестким требованиям мультимедийной среды и практически не уступают кабельным сетям</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067348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4800" dirty="0">
                <a:latin typeface="Times New Roman" panose="02020603050405020304" pitchFamily="18" charset="0"/>
                <a:cs typeface="Times New Roman" panose="02020603050405020304" pitchFamily="18" charset="0"/>
              </a:rPr>
              <a:t>Л</a:t>
            </a:r>
            <a:r>
              <a:rPr lang="ru-RU" sz="4800" dirty="0" smtClean="0">
                <a:latin typeface="Times New Roman" panose="02020603050405020304" pitchFamily="18" charset="0"/>
                <a:cs typeface="Times New Roman" panose="02020603050405020304" pitchFamily="18" charset="0"/>
              </a:rPr>
              <a:t>азер</a:t>
            </a:r>
            <a:endParaRPr lang="ru-RU" dirty="0"/>
          </a:p>
        </p:txBody>
      </p:sp>
      <p:sp>
        <p:nvSpPr>
          <p:cNvPr id="3" name="Объект 2"/>
          <p:cNvSpPr>
            <a:spLocks noGrp="1"/>
          </p:cNvSpPr>
          <p:nvPr>
            <p:ph idx="1"/>
          </p:nvPr>
        </p:nvSpPr>
        <p:spPr/>
        <p:txBody>
          <a:bodyPr>
            <a:normAutofit/>
          </a:bodyPr>
          <a:lstStyle/>
          <a:p>
            <a:pPr marL="114300" indent="0">
              <a:buNone/>
            </a:pPr>
            <a:r>
              <a:rPr lang="ru-RU" sz="3200" dirty="0">
                <a:latin typeface="Times New Roman" panose="02020603050405020304" pitchFamily="18" charset="0"/>
                <a:cs typeface="Times New Roman" panose="02020603050405020304" pitchFamily="18" charset="0"/>
              </a:rPr>
              <a:t>Лазерная технология похожа на инфракрасную тем, что требует прямой </a:t>
            </a:r>
            <a:r>
              <a:rPr lang="ru-RU" sz="3200" dirty="0" smtClean="0">
                <a:latin typeface="Times New Roman" panose="02020603050405020304" pitchFamily="18" charset="0"/>
                <a:cs typeface="Times New Roman" panose="02020603050405020304" pitchFamily="18" charset="0"/>
              </a:rPr>
              <a:t>видимости </a:t>
            </a:r>
            <a:r>
              <a:rPr lang="ru-RU" sz="3200" dirty="0">
                <a:latin typeface="Times New Roman" panose="02020603050405020304" pitchFamily="18" charset="0"/>
                <a:cs typeface="Times New Roman" panose="02020603050405020304" pitchFamily="18" charset="0"/>
              </a:rPr>
              <a:t>между передатчиком и приемником. Если по каким-либо причинам луч будет прерван это прервет и обмен данными.</a:t>
            </a:r>
          </a:p>
        </p:txBody>
      </p:sp>
    </p:spTree>
    <p:extLst>
      <p:ext uri="{BB962C8B-B14F-4D97-AF65-F5344CB8AC3E}">
        <p14:creationId xmlns:p14="http://schemas.microsoft.com/office/powerpoint/2010/main" val="363459093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4000" b="1" dirty="0"/>
              <a:t>Радиопередача в узком спектре (одночастотная передача)</a:t>
            </a:r>
            <a:endParaRPr lang="ru-RU" sz="4000" dirty="0"/>
          </a:p>
        </p:txBody>
      </p:sp>
      <p:sp>
        <p:nvSpPr>
          <p:cNvPr id="3" name="Объект 2"/>
          <p:cNvSpPr>
            <a:spLocks noGrp="1"/>
          </p:cNvSpPr>
          <p:nvPr>
            <p:ph idx="1"/>
          </p:nvPr>
        </p:nvSpPr>
        <p:spPr/>
        <p:txBody>
          <a:bodyPr>
            <a:normAutofit/>
          </a:bodyPr>
          <a:lstStyle/>
          <a:p>
            <a:pPr marL="114300" indent="0">
              <a:buNone/>
            </a:pPr>
            <a:r>
              <a:rPr lang="ru-RU" dirty="0">
                <a:latin typeface="Times New Roman" panose="02020603050405020304" pitchFamily="18" charset="0"/>
                <a:cs typeface="Times New Roman" panose="02020603050405020304" pitchFamily="18" charset="0"/>
              </a:rPr>
              <a:t>Этот способ напоминает вешание обыкновенной радиостанции. Пользователи настраивают передатчики и приемники на определенную частоту. При этом прямая видимость необязательна, площадь вещания составляет </a:t>
            </a:r>
            <a:r>
              <a:rPr lang="ru-RU" dirty="0" smtClean="0">
                <a:latin typeface="Times New Roman" panose="02020603050405020304" pitchFamily="18" charset="0"/>
                <a:cs typeface="Times New Roman" panose="02020603050405020304" pitchFamily="18" charset="0"/>
              </a:rPr>
              <a:t>около</a:t>
            </a:r>
            <a:r>
              <a:rPr lang="en-US" dirty="0" smtClean="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500 </a:t>
            </a:r>
            <a:r>
              <a:rPr lang="ru-RU" dirty="0">
                <a:latin typeface="Times New Roman" panose="02020603050405020304" pitchFamily="18" charset="0"/>
                <a:cs typeface="Times New Roman" panose="02020603050405020304" pitchFamily="18" charset="0"/>
              </a:rPr>
              <a:t>000 квадратных </a:t>
            </a:r>
            <a:r>
              <a:rPr lang="ru-RU" dirty="0" smtClean="0">
                <a:latin typeface="Times New Roman" panose="02020603050405020304" pitchFamily="18" charset="0"/>
                <a:cs typeface="Times New Roman" panose="02020603050405020304" pitchFamily="18" charset="0"/>
              </a:rPr>
              <a:t>футов.</a:t>
            </a:r>
            <a:endParaRPr lang="ru-RU" dirty="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Сигнал высокой частоты, который используется, не проникает через металлические или железобетонные преграды. Доступ к такому способу связи осуществляется через поставщика услуг, например </a:t>
            </a:r>
            <a:r>
              <a:rPr lang="ru-RU" dirty="0" err="1">
                <a:latin typeface="Times New Roman" panose="02020603050405020304" pitchFamily="18" charset="0"/>
                <a:cs typeface="Times New Roman" panose="02020603050405020304" pitchFamily="18" charset="0"/>
              </a:rPr>
              <a:t>Motorola</a:t>
            </a:r>
            <a:r>
              <a:rPr lang="ru-RU" dirty="0">
                <a:latin typeface="Times New Roman" panose="02020603050405020304" pitchFamily="18" charset="0"/>
                <a:cs typeface="Times New Roman" panose="02020603050405020304" pitchFamily="18" charset="0"/>
              </a:rPr>
              <a:t>. Поставщик услуг соответствует всем требованиям FCC (</a:t>
            </a:r>
            <a:r>
              <a:rPr lang="ru-RU" dirty="0" err="1">
                <a:latin typeface="Times New Roman" panose="02020603050405020304" pitchFamily="18" charset="0"/>
                <a:cs typeface="Times New Roman" panose="02020603050405020304" pitchFamily="18" charset="0"/>
              </a:rPr>
              <a:t>Federal</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Communications</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Commission</a:t>
            </a:r>
            <a:r>
              <a:rPr lang="ru-RU" dirty="0">
                <a:latin typeface="Times New Roman" panose="02020603050405020304" pitchFamily="18" charset="0"/>
                <a:cs typeface="Times New Roman" panose="02020603050405020304" pitchFamily="18" charset="0"/>
              </a:rPr>
              <a:t>). Связь относительно медленная (около </a:t>
            </a:r>
            <a:r>
              <a:rPr lang="ru-RU" dirty="0" smtClean="0">
                <a:latin typeface="Times New Roman" panose="02020603050405020304" pitchFamily="18" charset="0"/>
                <a:cs typeface="Times New Roman" panose="02020603050405020304" pitchFamily="18" charset="0"/>
              </a:rPr>
              <a:t>4,8 </a:t>
            </a:r>
            <a:r>
              <a:rPr lang="ru-RU" dirty="0">
                <a:latin typeface="Times New Roman" panose="02020603050405020304" pitchFamily="18" charset="0"/>
                <a:cs typeface="Times New Roman" panose="02020603050405020304" pitchFamily="18" charset="0"/>
              </a:rPr>
              <a:t>Мбит/с).</a:t>
            </a:r>
          </a:p>
        </p:txBody>
      </p:sp>
    </p:spTree>
    <p:extLst>
      <p:ext uri="{BB962C8B-B14F-4D97-AF65-F5344CB8AC3E}">
        <p14:creationId xmlns:p14="http://schemas.microsoft.com/office/powerpoint/2010/main" val="176356031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8460432" cy="1143000"/>
          </a:xfrm>
        </p:spPr>
        <p:txBody>
          <a:bodyPr/>
          <a:lstStyle/>
          <a:p>
            <a:pPr algn="ctr"/>
            <a:r>
              <a:rPr lang="ru-RU" b="1" dirty="0"/>
              <a:t>Радиопередача в рассеянном спектре</a:t>
            </a:r>
            <a:endParaRPr lang="ru-RU" dirty="0"/>
          </a:p>
        </p:txBody>
      </p:sp>
      <p:sp>
        <p:nvSpPr>
          <p:cNvPr id="3" name="Объект 2"/>
          <p:cNvSpPr>
            <a:spLocks noGrp="1"/>
          </p:cNvSpPr>
          <p:nvPr>
            <p:ph idx="1"/>
          </p:nvPr>
        </p:nvSpPr>
        <p:spPr>
          <a:xfrm>
            <a:off x="0" y="1600200"/>
            <a:ext cx="8532440" cy="5257800"/>
          </a:xfrm>
        </p:spPr>
        <p:txBody>
          <a:bodyPr>
            <a:normAutofit fontScale="92500" lnSpcReduction="10000"/>
          </a:bodyPr>
          <a:lstStyle/>
          <a:p>
            <a:pPr marL="114300" indent="0">
              <a:buNone/>
            </a:pPr>
            <a:r>
              <a:rPr lang="ru-RU" dirty="0">
                <a:latin typeface="Times New Roman" panose="02020603050405020304" pitchFamily="18" charset="0"/>
                <a:cs typeface="Times New Roman" panose="02020603050405020304" pitchFamily="18" charset="0"/>
              </a:rPr>
              <a:t>При этом способе сигналы передаются в некоторой в полосе частот, что позволяет избежать проблем связи, присущих одночастотной передаче</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Доступные частоты разделены на каналы, или интервалы. Адаптеры в течение предопределенного промежутка времени настроены на установленный интервал, после чего переключаются на другой интервал. Переключение всех компьютеров в сети происходит синхронно</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Чтобы защитить данные от несанкционированного доступа, применяют кодирование. Скорость передачи в 250 Кбит/с </a:t>
            </a:r>
            <a:r>
              <a:rPr lang="ru-RU" dirty="0" smtClean="0">
                <a:latin typeface="Times New Roman" panose="02020603050405020304" pitchFamily="18" charset="0"/>
                <a:cs typeface="Times New Roman" panose="02020603050405020304" pitchFamily="18" charset="0"/>
              </a:rPr>
              <a:t>относит </a:t>
            </a:r>
            <a:r>
              <a:rPr lang="ru-RU" dirty="0">
                <a:latin typeface="Times New Roman" panose="02020603050405020304" pitchFamily="18" charset="0"/>
                <a:cs typeface="Times New Roman" panose="02020603050405020304" pitchFamily="18" charset="0"/>
              </a:rPr>
              <a:t>данный способ к разряду самых </a:t>
            </a:r>
            <a:r>
              <a:rPr lang="ru-RU" dirty="0" smtClean="0">
                <a:latin typeface="Times New Roman" panose="02020603050405020304" pitchFamily="18" charset="0"/>
                <a:cs typeface="Times New Roman" panose="02020603050405020304" pitchFamily="18" charset="0"/>
              </a:rPr>
              <a:t>медленных, но есть </a:t>
            </a:r>
            <a:r>
              <a:rPr lang="ru-RU" dirty="0">
                <a:latin typeface="Times New Roman" panose="02020603050405020304" pitchFamily="18" charset="0"/>
                <a:cs typeface="Times New Roman" panose="02020603050405020304" pitchFamily="18" charset="0"/>
              </a:rPr>
              <a:t>сети, построенные на его основе, которые передают данные со скоростью до 2 Мбит/с на расстояние до 3,2 км на открытом пространстве и до 120 м внутри здания.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lgn="r">
              <a:buNone/>
            </a:pPr>
            <a:r>
              <a:rPr lang="ru-RU" sz="1900" i="1" dirty="0" smtClean="0">
                <a:latin typeface="Times New Roman" panose="02020603050405020304" pitchFamily="18" charset="0"/>
                <a:cs typeface="Times New Roman" panose="02020603050405020304" pitchFamily="18" charset="0"/>
              </a:rPr>
              <a:t>!!!Это </a:t>
            </a:r>
            <a:r>
              <a:rPr lang="ru-RU" sz="1900" i="1" dirty="0">
                <a:latin typeface="Times New Roman" panose="02020603050405020304" pitchFamily="18" charset="0"/>
                <a:cs typeface="Times New Roman" panose="02020603050405020304" pitchFamily="18" charset="0"/>
              </a:rPr>
              <a:t>тот самый </a:t>
            </a:r>
            <a:r>
              <a:rPr lang="ru-RU" sz="1900" i="1" dirty="0" err="1">
                <a:latin typeface="Times New Roman" panose="02020603050405020304" pitchFamily="18" charset="0"/>
                <a:cs typeface="Times New Roman" panose="02020603050405020304" pitchFamily="18" charset="0"/>
              </a:rPr>
              <a:t>понтовый</a:t>
            </a:r>
            <a:r>
              <a:rPr lang="ru-RU" sz="1900" i="1" dirty="0">
                <a:latin typeface="Times New Roman" panose="02020603050405020304" pitchFamily="18" charset="0"/>
                <a:cs typeface="Times New Roman" panose="02020603050405020304" pitchFamily="18" charset="0"/>
              </a:rPr>
              <a:t> случай для настоящих пацанов, когда технология позволяет получить по-настоящему беспроводную сеть.</a:t>
            </a:r>
          </a:p>
          <a:p>
            <a:pPr marL="11430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549432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7620000" cy="1143000"/>
          </a:xfrm>
        </p:spPr>
        <p:txBody>
          <a:bodyPr/>
          <a:lstStyle/>
          <a:p>
            <a:pPr algn="ctr"/>
            <a:r>
              <a:rPr lang="ru-RU" b="1" dirty="0"/>
              <a:t>Передача «точка-точка»</a:t>
            </a:r>
            <a:endParaRPr lang="ru-RU" dirty="0"/>
          </a:p>
        </p:txBody>
      </p:sp>
      <p:sp>
        <p:nvSpPr>
          <p:cNvPr id="3" name="Объект 2"/>
          <p:cNvSpPr>
            <a:spLocks noGrp="1"/>
          </p:cNvSpPr>
          <p:nvPr>
            <p:ph idx="1"/>
          </p:nvPr>
        </p:nvSpPr>
        <p:spPr>
          <a:xfrm>
            <a:off x="35496" y="1143000"/>
            <a:ext cx="8424936" cy="5715000"/>
          </a:xfrm>
        </p:spPr>
        <p:txBody>
          <a:bodyPr>
            <a:normAutofit fontScale="92500" lnSpcReduction="10000"/>
          </a:bodyPr>
          <a:lstStyle/>
          <a:p>
            <a:pPr marL="114300" indent="0">
              <a:buNone/>
            </a:pPr>
            <a:r>
              <a:rPr lang="ru-RU" dirty="0">
                <a:latin typeface="Times New Roman" panose="02020603050405020304" pitchFamily="18" charset="0"/>
                <a:cs typeface="Times New Roman" panose="02020603050405020304" pitchFamily="18" charset="0"/>
              </a:rPr>
              <a:t>Данный способ передачи несколько выходит за рамки существующего определения сети. Технология передачи «точка-точка» предусматривает обмен данными только между компьютерами, в отличие от взаимодействия между несколькими компьютерами и периферийными устройствами. Однако, чтобы организовать сеть с беспроводной передачей, надо использовать дополнительные компоненты, такие, как одиночные и хост-трансиверы. Их можно устанавливать как на автономных компьютерах, так и на компьютерах, подключенных к сети</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Эта технология, основанная на последовательной передаче данных, обеспечивает:</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высокоскоростную и безошибочную передачу, применяя радиоканал «точка-точка»;</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проникание сигнала через стены и перекрытия;</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скорость передачи от 1,2 до 38,4 Кбит/с на расстояние до 60 м внутри здания и на 530 м в условиях прямой видимости.</a:t>
            </a:r>
          </a:p>
          <a:p>
            <a:pPr marL="114300" indent="0">
              <a:buNone/>
            </a:pPr>
            <a:r>
              <a:rPr lang="ru-RU" dirty="0">
                <a:latin typeface="Times New Roman" panose="02020603050405020304" pitchFamily="18" charset="0"/>
                <a:cs typeface="Times New Roman" panose="02020603050405020304" pitchFamily="18" charset="0"/>
              </a:rPr>
              <a:t>Подобные системы позволяют передавать сигналы между компьютерами, между компьютерами и другими устройствами, например принтерами или сканерами штрих-кода.</a:t>
            </a:r>
          </a:p>
          <a:p>
            <a:pPr marL="114300" indent="0">
              <a:buNone/>
            </a:pPr>
            <a:endParaRPr lang="ru-RU" dirty="0"/>
          </a:p>
        </p:txBody>
      </p:sp>
    </p:spTree>
    <p:extLst>
      <p:ext uri="{BB962C8B-B14F-4D97-AF65-F5344CB8AC3E}">
        <p14:creationId xmlns:p14="http://schemas.microsoft.com/office/powerpoint/2010/main" val="24373188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Расширенные локальные сети</a:t>
            </a:r>
            <a:endParaRPr lang="ru-RU" dirty="0"/>
          </a:p>
        </p:txBody>
      </p:sp>
      <p:sp>
        <p:nvSpPr>
          <p:cNvPr id="3" name="Объект 2"/>
          <p:cNvSpPr>
            <a:spLocks noGrp="1"/>
          </p:cNvSpPr>
          <p:nvPr>
            <p:ph idx="1"/>
          </p:nvPr>
        </p:nvSpPr>
        <p:spPr/>
        <p:txBody>
          <a:bodyPr>
            <a:normAutofit/>
          </a:bodyPr>
          <a:lstStyle/>
          <a:p>
            <a:pPr marL="114300" indent="0">
              <a:buNone/>
            </a:pPr>
            <a:r>
              <a:rPr lang="ru-RU" sz="2400" dirty="0">
                <a:latin typeface="Times New Roman" panose="02020603050405020304" pitchFamily="18" charset="0"/>
                <a:cs typeface="Times New Roman" panose="02020603050405020304" pitchFamily="18" charset="0"/>
              </a:rPr>
              <a:t>Некоторые типы беспроводных компонентов способны функционировать в расширенных локальных вычислительных сетях так же, как их аналоги - в кабельных сетях. </a:t>
            </a:r>
            <a:endParaRPr lang="ru-RU" sz="2400" dirty="0" smtClean="0">
              <a:latin typeface="Times New Roman" panose="02020603050405020304" pitchFamily="18" charset="0"/>
              <a:cs typeface="Times New Roman" panose="02020603050405020304" pitchFamily="18" charset="0"/>
            </a:endParaRPr>
          </a:p>
          <a:p>
            <a:pPr marL="114300" indent="0">
              <a:buNone/>
            </a:pPr>
            <a:endParaRPr lang="ru-RU" sz="2400" dirty="0" smtClean="0">
              <a:latin typeface="Times New Roman" panose="02020603050405020304" pitchFamily="18" charset="0"/>
              <a:cs typeface="Times New Roman" panose="02020603050405020304" pitchFamily="18" charset="0"/>
            </a:endParaRPr>
          </a:p>
          <a:p>
            <a:pPr marL="114300" indent="0">
              <a:buNone/>
            </a:pPr>
            <a:r>
              <a:rPr lang="ru-RU" sz="2400" b="1" dirty="0" smtClean="0">
                <a:latin typeface="Times New Roman" panose="02020603050405020304" pitchFamily="18" charset="0"/>
                <a:cs typeface="Times New Roman" panose="02020603050405020304" pitchFamily="18" charset="0"/>
              </a:rPr>
              <a:t>Беспроводной мост</a:t>
            </a:r>
            <a:r>
              <a:rPr lang="ru-RU" sz="2400" dirty="0" smtClean="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предназначен для соединения сетей, находящихся друг от друга на расстоянии до нескольких километров.</a:t>
            </a: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0112" y="4365104"/>
            <a:ext cx="2708523" cy="2391206"/>
          </a:xfrm>
          <a:prstGeom prst="rect">
            <a:avLst/>
          </a:prstGeom>
          <a:ln>
            <a:noFill/>
          </a:ln>
          <a:effectLst>
            <a:softEdge rad="112500"/>
          </a:effectLst>
        </p:spPr>
      </p:pic>
    </p:spTree>
    <p:extLst>
      <p:ext uri="{BB962C8B-B14F-4D97-AF65-F5344CB8AC3E}">
        <p14:creationId xmlns:p14="http://schemas.microsoft.com/office/powerpoint/2010/main" val="126974028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Многоточечное беспроводное соединение</a:t>
            </a:r>
            <a:endParaRPr lang="ru-RU" dirty="0"/>
          </a:p>
        </p:txBody>
      </p:sp>
      <p:sp>
        <p:nvSpPr>
          <p:cNvPr id="3" name="Объект 2"/>
          <p:cNvSpPr>
            <a:spLocks noGrp="1"/>
          </p:cNvSpPr>
          <p:nvPr>
            <p:ph idx="1"/>
          </p:nvPr>
        </p:nvSpPr>
        <p:spPr>
          <a:xfrm>
            <a:off x="457200" y="1600200"/>
            <a:ext cx="7620000" cy="5257800"/>
          </a:xfrm>
        </p:spPr>
        <p:txBody>
          <a:bodyPr>
            <a:normAutofit lnSpcReduction="10000"/>
          </a:bodyPr>
          <a:lstStyle/>
          <a:p>
            <a:pPr marL="114300" indent="0">
              <a:buNone/>
            </a:pPr>
            <a:r>
              <a:rPr lang="ru-RU" sz="2800" dirty="0">
                <a:latin typeface="Times New Roman" panose="02020603050405020304" pitchFamily="18" charset="0"/>
                <a:cs typeface="Times New Roman" panose="02020603050405020304" pitchFamily="18" charset="0"/>
              </a:rPr>
              <a:t>Компонент, называемый беспроводным мостом (</a:t>
            </a:r>
            <a:r>
              <a:rPr lang="ru-RU" sz="2800" dirty="0" err="1">
                <a:latin typeface="Times New Roman" panose="02020603050405020304" pitchFamily="18" charset="0"/>
                <a:cs typeface="Times New Roman" panose="02020603050405020304" pitchFamily="18" charset="0"/>
              </a:rPr>
              <a:t>wireless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bridge</a:t>
            </a:r>
            <a:r>
              <a:rPr lang="ru-RU" sz="2800" dirty="0">
                <a:latin typeface="Times New Roman" panose="02020603050405020304" pitchFamily="18" charset="0"/>
                <a:cs typeface="Times New Roman" panose="02020603050405020304" pitchFamily="18" charset="0"/>
              </a:rPr>
              <a:t>), помогает установить связь между удаленными сетями без участия кабеля. Мост может использовать технологию радиопередачи в рассеянном спектре для создания магистрали, соединяющей несколько сетей. </a:t>
            </a:r>
            <a:endParaRPr lang="ru-RU" sz="2800" dirty="0" smtClean="0">
              <a:latin typeface="Times New Roman" panose="02020603050405020304" pitchFamily="18" charset="0"/>
              <a:cs typeface="Times New Roman" panose="02020603050405020304" pitchFamily="18" charset="0"/>
            </a:endParaRPr>
          </a:p>
          <a:p>
            <a:pPr marL="114300" indent="0">
              <a:buNone/>
            </a:pPr>
            <a:r>
              <a:rPr lang="ru-RU" sz="2800" dirty="0" smtClean="0">
                <a:latin typeface="Times New Roman" panose="02020603050405020304" pitchFamily="18" charset="0"/>
                <a:cs typeface="Times New Roman" panose="02020603050405020304" pitchFamily="18" charset="0"/>
              </a:rPr>
              <a:t>Расстояние </a:t>
            </a:r>
            <a:r>
              <a:rPr lang="ru-RU" sz="2800" dirty="0">
                <a:latin typeface="Times New Roman" panose="02020603050405020304" pitchFamily="18" charset="0"/>
                <a:cs typeface="Times New Roman" panose="02020603050405020304" pitchFamily="18" charset="0"/>
              </a:rPr>
              <a:t>между ними, в зависимости от условий, может достигать нескольких километров. Стоимость эксплуатации такого устройства зачастую оказывается ниже аренды линии связи.</a:t>
            </a:r>
          </a:p>
        </p:txBody>
      </p:sp>
    </p:spTree>
    <p:extLst>
      <p:ext uri="{BB962C8B-B14F-4D97-AF65-F5344CB8AC3E}">
        <p14:creationId xmlns:p14="http://schemas.microsoft.com/office/powerpoint/2010/main" val="278475096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Беспроводные мосты дальнего действия</a:t>
            </a:r>
            <a:endParaRPr lang="ru-RU" dirty="0"/>
          </a:p>
        </p:txBody>
      </p:sp>
      <p:sp>
        <p:nvSpPr>
          <p:cNvPr id="3" name="Объект 2"/>
          <p:cNvSpPr>
            <a:spLocks noGrp="1"/>
          </p:cNvSpPr>
          <p:nvPr>
            <p:ph idx="1"/>
          </p:nvPr>
        </p:nvSpPr>
        <p:spPr>
          <a:xfrm>
            <a:off x="35496" y="1600200"/>
            <a:ext cx="8424936" cy="4800600"/>
          </a:xfrm>
        </p:spPr>
        <p:txBody>
          <a:bodyPr/>
          <a:lstStyle/>
          <a:p>
            <a:pPr marL="114300" indent="0">
              <a:buNone/>
            </a:pPr>
            <a:r>
              <a:rPr lang="ru-RU" dirty="0">
                <a:latin typeface="Times New Roman" panose="02020603050405020304" pitchFamily="18" charset="0"/>
                <a:cs typeface="Times New Roman" panose="02020603050405020304" pitchFamily="18" charset="0"/>
              </a:rPr>
              <a:t>Если расстояние, которое покрывает беспроводной мост, недостаточно, можно установить мост дальнего действия. Для работы с сетями Ethernet и </a:t>
            </a:r>
            <a:r>
              <a:rPr lang="ru-RU" dirty="0" err="1">
                <a:latin typeface="Times New Roman" panose="02020603050405020304" pitchFamily="18" charset="0"/>
                <a:cs typeface="Times New Roman" panose="02020603050405020304" pitchFamily="18" charset="0"/>
              </a:rPr>
              <a:t>Token</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Ring</a:t>
            </a:r>
            <a:r>
              <a:rPr lang="ru-RU" dirty="0">
                <a:latin typeface="Times New Roman" panose="02020603050405020304" pitchFamily="18" charset="0"/>
                <a:cs typeface="Times New Roman" panose="02020603050405020304" pitchFamily="18" charset="0"/>
              </a:rPr>
              <a:t> на расстояниях до 40 км он также использует технологию радиопередачи в </a:t>
            </a:r>
            <a:r>
              <a:rPr lang="ru-RU" dirty="0" smtClean="0">
                <a:latin typeface="Times New Roman" panose="02020603050405020304" pitchFamily="18" charset="0"/>
                <a:cs typeface="Times New Roman" panose="02020603050405020304" pitchFamily="18" charset="0"/>
              </a:rPr>
              <a:t>рассеянном </a:t>
            </a:r>
            <a:r>
              <a:rPr lang="ru-RU" dirty="0">
                <a:latin typeface="Times New Roman" panose="02020603050405020304" pitchFamily="18" charset="0"/>
                <a:cs typeface="Times New Roman" panose="02020603050405020304" pitchFamily="18" charset="0"/>
              </a:rPr>
              <a:t>спектре.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Его </a:t>
            </a:r>
            <a:r>
              <a:rPr lang="ru-RU" dirty="0">
                <a:latin typeface="Times New Roman" panose="02020603050405020304" pitchFamily="18" charset="0"/>
                <a:cs typeface="Times New Roman" panose="02020603050405020304" pitchFamily="18" charset="0"/>
              </a:rPr>
              <a:t>стоимость (как и обыкновенного беспроводного моста) может оказаться вполне удовлетворительной, так как отпадут затраты на аренду микроволновых каналов или линий Т1. </a:t>
            </a:r>
            <a:endParaRPr lang="ru-RU" dirty="0" smtClean="0">
              <a:latin typeface="Times New Roman" panose="02020603050405020304" pitchFamily="18" charset="0"/>
              <a:cs typeface="Times New Roman" panose="02020603050405020304" pitchFamily="18" charset="0"/>
            </a:endParaRPr>
          </a:p>
          <a:p>
            <a:pPr marL="114300" indent="0">
              <a:buNone/>
            </a:pPr>
            <a:r>
              <a:rPr lang="ru-RU" b="1" dirty="0" smtClean="0">
                <a:latin typeface="Times New Roman" panose="02020603050405020304" pitchFamily="18" charset="0"/>
                <a:cs typeface="Times New Roman" panose="02020603050405020304" pitchFamily="18" charset="0"/>
              </a:rPr>
              <a:t>Линия </a:t>
            </a:r>
            <a:r>
              <a:rPr lang="ru-RU" b="1" dirty="0">
                <a:latin typeface="Times New Roman" panose="02020603050405020304" pitchFamily="18" charset="0"/>
                <a:cs typeface="Times New Roman" panose="02020603050405020304" pitchFamily="18" charset="0"/>
              </a:rPr>
              <a:t>Т1 </a:t>
            </a:r>
            <a:r>
              <a:rPr lang="ru-RU" dirty="0">
                <a:latin typeface="Times New Roman" panose="02020603050405020304" pitchFamily="18" charset="0"/>
                <a:cs typeface="Times New Roman" panose="02020603050405020304" pitchFamily="18" charset="0"/>
              </a:rPr>
              <a:t>- это стандартная цифровая линия, предназначенная для передачи данных со скоростью до 1,544 Мбит/с. По ней можно передавать и речь, и данные.</a:t>
            </a:r>
          </a:p>
          <a:p>
            <a:pPr marL="11430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093807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2564904"/>
            <a:ext cx="7620000" cy="1143000"/>
          </a:xfrm>
        </p:spPr>
        <p:txBody>
          <a:bodyPr/>
          <a:lstStyle/>
          <a:p>
            <a:pPr algn="ctr"/>
            <a:r>
              <a:rPr lang="ru-RU" b="1" dirty="0"/>
              <a:t>Сетевое </a:t>
            </a:r>
            <a:r>
              <a:rPr lang="ru-RU" b="1" dirty="0" smtClean="0"/>
              <a:t>оборудование</a:t>
            </a:r>
            <a:r>
              <a:rPr lang="en-US" b="1" dirty="0" smtClean="0"/>
              <a:t/>
            </a:r>
            <a:br>
              <a:rPr lang="en-US" b="1" dirty="0" smtClean="0"/>
            </a:br>
            <a:r>
              <a:rPr lang="ru-RU" b="1" smtClean="0"/>
              <a:t>СТОП</a:t>
            </a:r>
            <a:endParaRPr lang="ru-RU" b="1" dirty="0"/>
          </a:p>
        </p:txBody>
      </p:sp>
    </p:spTree>
    <p:extLst>
      <p:ext uri="{BB962C8B-B14F-4D97-AF65-F5344CB8AC3E}">
        <p14:creationId xmlns:p14="http://schemas.microsoft.com/office/powerpoint/2010/main" val="399696769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23" y="0"/>
            <a:ext cx="8460432" cy="1143000"/>
          </a:xfrm>
        </p:spPr>
        <p:txBody>
          <a:bodyPr/>
          <a:lstStyle/>
          <a:p>
            <a:pPr algn="ctr"/>
            <a:r>
              <a:rPr lang="ru-RU" b="1" dirty="0"/>
              <a:t>Группы сетевого оборудования</a:t>
            </a:r>
          </a:p>
        </p:txBody>
      </p:sp>
      <p:sp>
        <p:nvSpPr>
          <p:cNvPr id="3" name="Объект 2"/>
          <p:cNvSpPr>
            <a:spLocks noGrp="1"/>
          </p:cNvSpPr>
          <p:nvPr>
            <p:ph idx="1"/>
          </p:nvPr>
        </p:nvSpPr>
        <p:spPr>
          <a:xfrm>
            <a:off x="107503" y="1340768"/>
            <a:ext cx="8360051" cy="5060032"/>
          </a:xfrm>
        </p:spPr>
        <p:txBody>
          <a:bodyPr>
            <a:normAutofit/>
          </a:bodyPr>
          <a:lstStyle/>
          <a:p>
            <a:pPr marL="114300" indent="0">
              <a:buNone/>
            </a:pPr>
            <a:r>
              <a:rPr lang="ru-RU" sz="2400" b="1" dirty="0">
                <a:latin typeface="Times New Roman" panose="02020603050405020304" pitchFamily="18" charset="0"/>
                <a:cs typeface="Times New Roman" panose="02020603050405020304" pitchFamily="18" charset="0"/>
              </a:rPr>
              <a:t>Сетевым (телекоммуникационным) оборудованием </a:t>
            </a:r>
            <a:r>
              <a:rPr lang="ru-RU" sz="2400" dirty="0">
                <a:latin typeface="Times New Roman" panose="02020603050405020304" pitchFamily="18" charset="0"/>
                <a:cs typeface="Times New Roman" panose="02020603050405020304" pitchFamily="18" charset="0"/>
              </a:rPr>
              <a:t>называется оборудование, используемое для передачи аудио и видеосигналов или другой  информации, а также для осуществления связи между устройствами различного типа</a:t>
            </a:r>
            <a:r>
              <a:rPr lang="ru-RU" sz="2400" dirty="0" smtClean="0">
                <a:latin typeface="Times New Roman" panose="02020603050405020304" pitchFamily="18" charset="0"/>
                <a:cs typeface="Times New Roman" panose="02020603050405020304" pitchFamily="18" charset="0"/>
              </a:rPr>
              <a:t>.</a:t>
            </a:r>
          </a:p>
          <a:p>
            <a:pPr marL="114300" indent="0">
              <a:buNone/>
            </a:pPr>
            <a:endParaRPr lang="ru-RU" sz="2400" dirty="0">
              <a:latin typeface="Times New Roman" panose="02020603050405020304" pitchFamily="18" charset="0"/>
              <a:cs typeface="Times New Roman" panose="02020603050405020304" pitchFamily="18" charset="0"/>
            </a:endParaRPr>
          </a:p>
          <a:p>
            <a:pPr marL="114300" indent="0">
              <a:buNone/>
            </a:pPr>
            <a:r>
              <a:rPr lang="ru-RU" sz="2400" dirty="0">
                <a:latin typeface="Times New Roman" panose="02020603050405020304" pitchFamily="18" charset="0"/>
                <a:cs typeface="Times New Roman" panose="02020603050405020304" pitchFamily="18" charset="0"/>
              </a:rPr>
              <a:t>К основным видам телекоммуникационного оборудования относятся:</a:t>
            </a:r>
          </a:p>
          <a:p>
            <a:pPr>
              <a:buFont typeface="Wingdings" panose="05000000000000000000" pitchFamily="2" charset="2"/>
              <a:buChar char="ü"/>
            </a:pPr>
            <a:r>
              <a:rPr lang="ru-RU" sz="2400" dirty="0" smtClean="0">
                <a:latin typeface="Times New Roman" panose="02020603050405020304" pitchFamily="18" charset="0"/>
                <a:cs typeface="Times New Roman" panose="02020603050405020304" pitchFamily="18" charset="0"/>
              </a:rPr>
              <a:t>системы </a:t>
            </a:r>
            <a:r>
              <a:rPr lang="ru-RU" sz="2400" dirty="0">
                <a:latin typeface="Times New Roman" panose="02020603050405020304" pitchFamily="18" charset="0"/>
                <a:cs typeface="Times New Roman" panose="02020603050405020304" pitchFamily="18" charset="0"/>
              </a:rPr>
              <a:t>коммутации,</a:t>
            </a:r>
          </a:p>
          <a:p>
            <a:pPr>
              <a:buFont typeface="Wingdings" panose="05000000000000000000" pitchFamily="2" charset="2"/>
              <a:buChar char="ü"/>
            </a:pPr>
            <a:r>
              <a:rPr lang="ru-RU" sz="2400" dirty="0" smtClean="0">
                <a:latin typeface="Times New Roman" panose="02020603050405020304" pitchFamily="18" charset="0"/>
                <a:cs typeface="Times New Roman" panose="02020603050405020304" pitchFamily="18" charset="0"/>
              </a:rPr>
              <a:t>системы </a:t>
            </a:r>
            <a:r>
              <a:rPr lang="ru-RU" sz="2400" dirty="0">
                <a:latin typeface="Times New Roman" panose="02020603050405020304" pitchFamily="18" charset="0"/>
                <a:cs typeface="Times New Roman" panose="02020603050405020304" pitchFamily="18" charset="0"/>
              </a:rPr>
              <a:t>спутниковой связи,</a:t>
            </a:r>
          </a:p>
          <a:p>
            <a:pPr>
              <a:buFont typeface="Wingdings" panose="05000000000000000000" pitchFamily="2" charset="2"/>
              <a:buChar char="ü"/>
            </a:pPr>
            <a:r>
              <a:rPr lang="ru-RU" sz="2400" dirty="0" smtClean="0">
                <a:latin typeface="Times New Roman" panose="02020603050405020304" pitchFamily="18" charset="0"/>
                <a:cs typeface="Times New Roman" panose="02020603050405020304" pitchFamily="18" charset="0"/>
              </a:rPr>
              <a:t>абонентское </a:t>
            </a:r>
            <a:r>
              <a:rPr lang="ru-RU" sz="2400" dirty="0">
                <a:latin typeface="Times New Roman" panose="02020603050405020304" pitchFamily="18" charset="0"/>
                <a:cs typeface="Times New Roman" panose="02020603050405020304" pitchFamily="18" charset="0"/>
              </a:rPr>
              <a:t>телекоммуникационное оборудование,</a:t>
            </a:r>
          </a:p>
          <a:p>
            <a:pPr>
              <a:buFont typeface="Wingdings" panose="05000000000000000000" pitchFamily="2" charset="2"/>
              <a:buChar char="ü"/>
            </a:pPr>
            <a:r>
              <a:rPr lang="ru-RU" sz="2400" dirty="0" smtClean="0">
                <a:latin typeface="Times New Roman" panose="02020603050405020304" pitchFamily="18" charset="0"/>
                <a:cs typeface="Times New Roman" panose="02020603050405020304" pitchFamily="18" charset="0"/>
              </a:rPr>
              <a:t>оборудование </a:t>
            </a:r>
            <a:r>
              <a:rPr lang="ru-RU" sz="2400" dirty="0">
                <a:latin typeface="Times New Roman" panose="02020603050405020304" pitchFamily="18" charset="0"/>
                <a:cs typeface="Times New Roman" panose="02020603050405020304" pitchFamily="18" charset="0"/>
              </a:rPr>
              <a:t>для передачи данных.</a:t>
            </a:r>
          </a:p>
          <a:p>
            <a:pPr marL="114300" indent="0">
              <a:buNone/>
            </a:pP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404321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Пассивное оборудование</a:t>
            </a:r>
            <a:endParaRPr lang="ru-RU" dirty="0"/>
          </a:p>
        </p:txBody>
      </p:sp>
      <p:sp>
        <p:nvSpPr>
          <p:cNvPr id="3" name="Объект 2"/>
          <p:cNvSpPr>
            <a:spLocks noGrp="1"/>
          </p:cNvSpPr>
          <p:nvPr>
            <p:ph idx="1"/>
          </p:nvPr>
        </p:nvSpPr>
        <p:spPr>
          <a:xfrm>
            <a:off x="107504" y="1268760"/>
            <a:ext cx="8280920" cy="5132040"/>
          </a:xfrm>
        </p:spPr>
        <p:txBody>
          <a:bodyPr/>
          <a:lstStyle/>
          <a:p>
            <a:pPr marL="114300" indent="0">
              <a:buNone/>
            </a:pPr>
            <a:r>
              <a:rPr lang="ru-RU" b="1" dirty="0">
                <a:latin typeface="Times New Roman" panose="02020603050405020304" pitchFamily="18" charset="0"/>
                <a:cs typeface="Times New Roman" panose="02020603050405020304" pitchFamily="18" charset="0"/>
              </a:rPr>
              <a:t>Пассивное оборудование</a:t>
            </a:r>
            <a:r>
              <a:rPr lang="ru-RU" dirty="0">
                <a:latin typeface="Times New Roman" panose="02020603050405020304" pitchFamily="18" charset="0"/>
                <a:cs typeface="Times New Roman" panose="02020603050405020304" pitchFamily="18" charset="0"/>
              </a:rPr>
              <a:t> отличается от активного в первую очередь тем, что не питается непосредственно от электросети и передает сигнал без его усиления</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b="1" dirty="0">
                <a:latin typeface="Times New Roman" panose="02020603050405020304" pitchFamily="18" charset="0"/>
                <a:cs typeface="Times New Roman" panose="02020603050405020304" pitchFamily="18" charset="0"/>
              </a:rPr>
              <a:t>Первая группа</a:t>
            </a:r>
            <a:r>
              <a:rPr lang="ru-RU" dirty="0">
                <a:latin typeface="Times New Roman" panose="02020603050405020304" pitchFamily="18" charset="0"/>
                <a:cs typeface="Times New Roman" panose="02020603050405020304" pitchFamily="18" charset="0"/>
              </a:rPr>
              <a:t> включает в себя оборудование, являющееся трассой для кабелей: </a:t>
            </a:r>
            <a:r>
              <a:rPr lang="ru-RU" i="1" dirty="0">
                <a:latin typeface="Times New Roman" panose="02020603050405020304" pitchFamily="18" charset="0"/>
                <a:cs typeface="Times New Roman" panose="02020603050405020304" pitchFamily="18" charset="0"/>
              </a:rPr>
              <a:t>кронштейны, </a:t>
            </a:r>
            <a:r>
              <a:rPr lang="ru-RU" i="1" dirty="0" smtClean="0">
                <a:latin typeface="Times New Roman" panose="02020603050405020304" pitchFamily="18" charset="0"/>
                <a:cs typeface="Times New Roman" panose="02020603050405020304" pitchFamily="18" charset="0"/>
              </a:rPr>
              <a:t>кабель-каналы </a:t>
            </a:r>
            <a:r>
              <a:rPr lang="ru-RU" i="1" dirty="0">
                <a:latin typeface="Times New Roman" panose="02020603050405020304" pitchFamily="18" charset="0"/>
                <a:cs typeface="Times New Roman" panose="02020603050405020304" pitchFamily="18" charset="0"/>
              </a:rPr>
              <a:t>и аксессуары для них, металлические лотки, закладные трубы, клипсы, </a:t>
            </a:r>
            <a:r>
              <a:rPr lang="ru-RU" i="1" dirty="0" err="1">
                <a:latin typeface="Times New Roman" panose="02020603050405020304" pitchFamily="18" charset="0"/>
                <a:cs typeface="Times New Roman" panose="02020603050405020304" pitchFamily="18" charset="0"/>
              </a:rPr>
              <a:t>гофрошланги</a:t>
            </a:r>
            <a:r>
              <a:rPr lang="ru-RU" i="1" dirty="0">
                <a:latin typeface="Times New Roman" panose="02020603050405020304" pitchFamily="18" charset="0"/>
                <a:cs typeface="Times New Roman" panose="02020603050405020304" pitchFamily="18" charset="0"/>
              </a:rPr>
              <a:t> и коммутационные шкафы</a:t>
            </a:r>
            <a:r>
              <a:rPr lang="ru-RU" i="1" dirty="0" smtClean="0">
                <a:latin typeface="Times New Roman" panose="02020603050405020304" pitchFamily="18" charset="0"/>
                <a:cs typeface="Times New Roman" panose="02020603050405020304" pitchFamily="18" charset="0"/>
              </a:rPr>
              <a:t>.</a:t>
            </a:r>
          </a:p>
          <a:p>
            <a:pPr marL="114300" indent="0">
              <a:buNone/>
            </a:pPr>
            <a:endParaRPr lang="ru-RU" b="1"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Во вторую группу входит оборудование, которое служит трактом передачи данных. Сюда относят</a:t>
            </a:r>
            <a:r>
              <a:rPr lang="ru-RU" i="1" dirty="0">
                <a:latin typeface="Times New Roman" panose="02020603050405020304" pitchFamily="18" charset="0"/>
                <a:cs typeface="Times New Roman" panose="02020603050405020304" pitchFamily="18" charset="0"/>
              </a:rPr>
              <a:t> розетки, кабели и коммутационные панели</a:t>
            </a:r>
            <a:r>
              <a:rPr lang="ru-RU" i="1"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966365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4732" y="0"/>
            <a:ext cx="8424936" cy="1143000"/>
          </a:xfrm>
        </p:spPr>
        <p:txBody>
          <a:bodyPr/>
          <a:lstStyle/>
          <a:p>
            <a:pPr algn="ctr"/>
            <a:r>
              <a:rPr lang="ru-RU" b="1" cap="small" dirty="0" smtClean="0"/>
              <a:t>Активное сетевое оборудование</a:t>
            </a:r>
            <a:endParaRPr lang="ru-RU" b="1" dirty="0"/>
          </a:p>
        </p:txBody>
      </p:sp>
      <p:sp>
        <p:nvSpPr>
          <p:cNvPr id="3" name="Объект 2"/>
          <p:cNvSpPr>
            <a:spLocks noGrp="1"/>
          </p:cNvSpPr>
          <p:nvPr>
            <p:ph idx="1"/>
          </p:nvPr>
        </p:nvSpPr>
        <p:spPr>
          <a:xfrm>
            <a:off x="179512" y="1052736"/>
            <a:ext cx="8124056" cy="5760640"/>
          </a:xfrm>
        </p:spPr>
        <p:txBody>
          <a:bodyPr>
            <a:normAutofit/>
          </a:bodyPr>
          <a:lstStyle/>
          <a:p>
            <a:pPr marL="114300" indent="0">
              <a:buNone/>
            </a:pPr>
            <a:r>
              <a:rPr lang="ru-RU" dirty="0">
                <a:latin typeface="Times New Roman" panose="02020603050405020304" pitchFamily="18" charset="0"/>
                <a:cs typeface="Times New Roman" panose="02020603050405020304" pitchFamily="18" charset="0"/>
              </a:rPr>
              <a:t>Значение средств связи и сетевых коммуникаций в жизнедеятельности современной успешной компании сложно переоценить.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Как </a:t>
            </a:r>
            <a:r>
              <a:rPr lang="ru-RU" dirty="0">
                <a:latin typeface="Times New Roman" panose="02020603050405020304" pitchFamily="18" charset="0"/>
                <a:cs typeface="Times New Roman" panose="02020603050405020304" pitchFamily="18" charset="0"/>
              </a:rPr>
              <a:t>правило, для крупных и малых организаций существует ряд типовых задач по созданию вычислительных и телефонных сетей, таких как:</a:t>
            </a: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Создание </a:t>
            </a:r>
            <a:r>
              <a:rPr lang="ru-RU" dirty="0">
                <a:latin typeface="Times New Roman" panose="02020603050405020304" pitchFamily="18" charset="0"/>
                <a:cs typeface="Times New Roman" panose="02020603050405020304" pitchFamily="18" charset="0"/>
              </a:rPr>
              <a:t>локальной сети в рамках офиса или </a:t>
            </a:r>
            <a:r>
              <a:rPr lang="ru-RU" dirty="0" smtClean="0">
                <a:latin typeface="Times New Roman" panose="02020603050405020304" pitchFamily="18" charset="0"/>
                <a:cs typeface="Times New Roman" panose="02020603050405020304" pitchFamily="18" charset="0"/>
              </a:rPr>
              <a:t>здания;</a:t>
            </a:r>
            <a:endParaRPr lang="ru-RU"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Объединение </a:t>
            </a:r>
            <a:r>
              <a:rPr lang="ru-RU" dirty="0">
                <a:latin typeface="Times New Roman" panose="02020603050405020304" pitchFamily="18" charset="0"/>
                <a:cs typeface="Times New Roman" panose="02020603050405020304" pitchFamily="18" charset="0"/>
              </a:rPr>
              <a:t>в единую сеть группу разрозненных филиалов </a:t>
            </a:r>
            <a:r>
              <a:rPr lang="ru-RU" dirty="0" smtClean="0">
                <a:latin typeface="Times New Roman" panose="02020603050405020304" pitchFamily="18" charset="0"/>
                <a:cs typeface="Times New Roman" panose="02020603050405020304" pitchFamily="18" charset="0"/>
              </a:rPr>
              <a:t>компании;</a:t>
            </a:r>
            <a:endParaRPr lang="ru-RU"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Создание </a:t>
            </a:r>
            <a:r>
              <a:rPr lang="ru-RU" dirty="0">
                <a:latin typeface="Times New Roman" panose="02020603050405020304" pitchFamily="18" charset="0"/>
                <a:cs typeface="Times New Roman" panose="02020603050405020304" pitchFamily="18" charset="0"/>
              </a:rPr>
              <a:t>единого центра коммутации вычислительных и телефонных </a:t>
            </a:r>
            <a:r>
              <a:rPr lang="ru-RU" dirty="0" smtClean="0">
                <a:latin typeface="Times New Roman" panose="02020603050405020304" pitchFamily="18" charset="0"/>
                <a:cs typeface="Times New Roman" panose="02020603050405020304" pitchFamily="18" charset="0"/>
              </a:rPr>
              <a:t>сетей;</a:t>
            </a:r>
            <a:endParaRPr lang="ru-RU"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Повышение </a:t>
            </a:r>
            <a:r>
              <a:rPr lang="ru-RU" dirty="0">
                <a:latin typeface="Times New Roman" panose="02020603050405020304" pitchFamily="18" charset="0"/>
                <a:cs typeface="Times New Roman" panose="02020603050405020304" pitchFamily="18" charset="0"/>
              </a:rPr>
              <a:t>безопасности и контроля существующей </a:t>
            </a:r>
            <a:r>
              <a:rPr lang="ru-RU" dirty="0" smtClean="0">
                <a:latin typeface="Times New Roman" panose="02020603050405020304" pitchFamily="18" charset="0"/>
                <a:cs typeface="Times New Roman" panose="02020603050405020304" pitchFamily="18" charset="0"/>
              </a:rPr>
              <a:t>сети;</a:t>
            </a:r>
            <a:endParaRPr lang="ru-RU"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Интеграция </a:t>
            </a:r>
            <a:r>
              <a:rPr lang="ru-RU" dirty="0">
                <a:latin typeface="Times New Roman" panose="02020603050405020304" pitchFamily="18" charset="0"/>
                <a:cs typeface="Times New Roman" panose="02020603050405020304" pitchFamily="18" charset="0"/>
              </a:rPr>
              <a:t>различных каналов передачи данных в единую </a:t>
            </a:r>
            <a:r>
              <a:rPr lang="ru-RU" dirty="0" smtClean="0">
                <a:latin typeface="Times New Roman" panose="02020603050405020304" pitchFamily="18" charset="0"/>
                <a:cs typeface="Times New Roman" panose="02020603050405020304" pitchFamily="18" charset="0"/>
              </a:rPr>
              <a:t>сеть.</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8307230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07504" y="1167925"/>
            <a:ext cx="8280920" cy="5573443"/>
          </a:xfrm>
        </p:spPr>
        <p:txBody>
          <a:bodyPr/>
          <a:lstStyle/>
          <a:p>
            <a:pPr marL="114300" indent="0">
              <a:buNone/>
            </a:pPr>
            <a:r>
              <a:rPr lang="ru-RU" dirty="0">
                <a:latin typeface="Times New Roman" panose="02020603050405020304" pitchFamily="18" charset="0"/>
                <a:cs typeface="Times New Roman" panose="02020603050405020304" pitchFamily="18" charset="0"/>
              </a:rPr>
              <a:t>Среди активного сетевого оборудования можно выделить следующие основные типы устройств</a:t>
            </a:r>
            <a:r>
              <a:rPr lang="ru-RU" dirty="0" smtClean="0">
                <a:latin typeface="Times New Roman" panose="02020603050405020304" pitchFamily="18" charset="0"/>
                <a:cs typeface="Times New Roman" panose="02020603050405020304" pitchFamily="18" charset="0"/>
              </a:rPr>
              <a:t>:</a:t>
            </a:r>
          </a:p>
          <a:p>
            <a:pPr marL="114300" indent="0">
              <a:buNone/>
            </a:pPr>
            <a:endParaRPr lang="ru-RU" b="1"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Сетевая интерфейсная карта (</a:t>
            </a:r>
            <a:r>
              <a:rPr lang="en-US" dirty="0">
                <a:latin typeface="Times New Roman" panose="02020603050405020304" pitchFamily="18" charset="0"/>
                <a:cs typeface="Times New Roman" panose="02020603050405020304" pitchFamily="18" charset="0"/>
              </a:rPr>
              <a:t>NIC - network interface card</a:t>
            </a:r>
            <a:r>
              <a:rPr lang="en-US" dirty="0" smtClean="0">
                <a:latin typeface="Times New Roman" panose="02020603050405020304" pitchFamily="18" charset="0"/>
                <a:cs typeface="Times New Roman" panose="02020603050405020304" pitchFamily="18" charset="0"/>
              </a:rPr>
              <a:t>)</a:t>
            </a:r>
            <a:r>
              <a:rPr lang="ru-RU"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Повторитель </a:t>
            </a:r>
            <a:r>
              <a:rPr lang="ru-RU"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Repeater</a:t>
            </a:r>
            <a:r>
              <a:rPr lang="en-US" dirty="0" smtClean="0">
                <a:latin typeface="Times New Roman" panose="02020603050405020304" pitchFamily="18" charset="0"/>
                <a:cs typeface="Times New Roman" panose="02020603050405020304" pitchFamily="18" charset="0"/>
              </a:rPr>
              <a:t>)</a:t>
            </a:r>
            <a:r>
              <a:rPr lang="ru-RU"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Мост </a:t>
            </a:r>
            <a:r>
              <a:rPr lang="ru-RU"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Bridge</a:t>
            </a:r>
            <a:r>
              <a:rPr lang="en-US" dirty="0" smtClean="0">
                <a:latin typeface="Times New Roman" panose="02020603050405020304" pitchFamily="18" charset="0"/>
                <a:cs typeface="Times New Roman" panose="02020603050405020304" pitchFamily="18" charset="0"/>
              </a:rPr>
              <a:t>)</a:t>
            </a:r>
            <a:r>
              <a:rPr lang="ru-RU"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Концентратор </a:t>
            </a:r>
            <a:r>
              <a:rPr lang="ru-RU" dirty="0">
                <a:latin typeface="Times New Roman" panose="02020603050405020304" pitchFamily="18" charset="0"/>
                <a:cs typeface="Times New Roman" panose="02020603050405020304" pitchFamily="18" charset="0"/>
              </a:rPr>
              <a:t>или </a:t>
            </a:r>
            <a:r>
              <a:rPr lang="ru-RU" dirty="0" err="1">
                <a:latin typeface="Times New Roman" panose="02020603050405020304" pitchFamily="18" charset="0"/>
                <a:cs typeface="Times New Roman" panose="02020603050405020304" pitchFamily="18" charset="0"/>
              </a:rPr>
              <a:t>Хаб</a:t>
            </a:r>
            <a:r>
              <a:rPr lang="ru-RU"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Hub</a:t>
            </a:r>
            <a:r>
              <a:rPr lang="en-US" dirty="0" smtClean="0">
                <a:latin typeface="Times New Roman" panose="02020603050405020304" pitchFamily="18" charset="0"/>
                <a:cs typeface="Times New Roman" panose="02020603050405020304" pitchFamily="18" charset="0"/>
              </a:rPr>
              <a:t>)</a:t>
            </a:r>
            <a:r>
              <a:rPr lang="ru-RU"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Коммутатор </a:t>
            </a:r>
            <a:r>
              <a:rPr lang="ru-RU" dirty="0">
                <a:latin typeface="Times New Roman" panose="02020603050405020304" pitchFamily="18" charset="0"/>
                <a:cs typeface="Times New Roman" panose="02020603050405020304" pitchFamily="18" charset="0"/>
              </a:rPr>
              <a:t>или переключатель (</a:t>
            </a:r>
            <a:r>
              <a:rPr lang="en-US" dirty="0">
                <a:latin typeface="Times New Roman" panose="02020603050405020304" pitchFamily="18" charset="0"/>
                <a:cs typeface="Times New Roman" panose="02020603050405020304" pitchFamily="18" charset="0"/>
              </a:rPr>
              <a:t>Switch</a:t>
            </a:r>
            <a:r>
              <a:rPr lang="en-US" dirty="0" smtClean="0">
                <a:latin typeface="Times New Roman" panose="02020603050405020304" pitchFamily="18" charset="0"/>
                <a:cs typeface="Times New Roman" panose="02020603050405020304" pitchFamily="18" charset="0"/>
              </a:rPr>
              <a:t>)</a:t>
            </a:r>
            <a:r>
              <a:rPr lang="ru-RU"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Маршрутизатор </a:t>
            </a:r>
            <a:r>
              <a:rPr lang="ru-RU"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Router</a:t>
            </a:r>
            <a:r>
              <a:rPr lang="en-US" dirty="0" smtClean="0">
                <a:latin typeface="Times New Roman" panose="02020603050405020304" pitchFamily="18" charset="0"/>
                <a:cs typeface="Times New Roman" panose="02020603050405020304" pitchFamily="18" charset="0"/>
              </a:rPr>
              <a:t>)</a:t>
            </a:r>
            <a:r>
              <a:rPr lang="ru-RU" dirty="0" smtClean="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err="1" smtClean="0">
                <a:latin typeface="Times New Roman" panose="02020603050405020304" pitchFamily="18" charset="0"/>
                <a:cs typeface="Times New Roman" panose="02020603050405020304" pitchFamily="18" charset="0"/>
              </a:rPr>
              <a:t>Медиаконвертер</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dirty="0" smtClean="0">
                <a:latin typeface="Times New Roman" panose="02020603050405020304" pitchFamily="18" charset="0"/>
                <a:cs typeface="Times New Roman" panose="02020603050405020304" pitchFamily="18" charset="0"/>
              </a:rPr>
              <a:t>Сетевой трансивер.</a:t>
            </a: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0" y="24925"/>
            <a:ext cx="8424936" cy="1143000"/>
          </a:xfrm>
        </p:spPr>
        <p:txBody>
          <a:bodyPr/>
          <a:lstStyle/>
          <a:p>
            <a:pPr algn="ctr"/>
            <a:r>
              <a:rPr lang="ru-RU" b="1" cap="small" dirty="0"/>
              <a:t>Активное сетевое </a:t>
            </a:r>
            <a:r>
              <a:rPr lang="ru-RU" b="1" cap="small" dirty="0" smtClean="0"/>
              <a:t>оборудование</a:t>
            </a:r>
            <a:endParaRPr lang="ru-RU" b="1" dirty="0"/>
          </a:p>
        </p:txBody>
      </p:sp>
    </p:spTree>
    <p:extLst>
      <p:ext uri="{BB962C8B-B14F-4D97-AF65-F5344CB8AC3E}">
        <p14:creationId xmlns:p14="http://schemas.microsoft.com/office/powerpoint/2010/main" val="275225334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92933" y="5012649"/>
            <a:ext cx="3531495" cy="1845351"/>
          </a:xfrm>
          <a:prstGeom prst="rect">
            <a:avLst/>
          </a:prstGeom>
          <a:ln>
            <a:noFill/>
          </a:ln>
          <a:effectLst>
            <a:softEdge rad="112500"/>
          </a:effectLst>
        </p:spPr>
      </p:pic>
      <p:sp>
        <p:nvSpPr>
          <p:cNvPr id="2" name="Заголовок 1"/>
          <p:cNvSpPr>
            <a:spLocks noGrp="1"/>
          </p:cNvSpPr>
          <p:nvPr>
            <p:ph type="title"/>
          </p:nvPr>
        </p:nvSpPr>
        <p:spPr>
          <a:xfrm>
            <a:off x="0" y="0"/>
            <a:ext cx="8532440" cy="1143000"/>
          </a:xfrm>
        </p:spPr>
        <p:txBody>
          <a:bodyPr/>
          <a:lstStyle/>
          <a:p>
            <a:pPr algn="ctr"/>
            <a:r>
              <a:rPr lang="ru-RU" b="1" dirty="0"/>
              <a:t>Сетевые интерфейсные карты</a:t>
            </a:r>
            <a:endParaRPr lang="ru-RU" dirty="0"/>
          </a:p>
        </p:txBody>
      </p:sp>
      <p:sp>
        <p:nvSpPr>
          <p:cNvPr id="3" name="Объект 2"/>
          <p:cNvSpPr>
            <a:spLocks noGrp="1"/>
          </p:cNvSpPr>
          <p:nvPr>
            <p:ph idx="1"/>
          </p:nvPr>
        </p:nvSpPr>
        <p:spPr>
          <a:xfrm>
            <a:off x="179512" y="1143000"/>
            <a:ext cx="8136904" cy="5257800"/>
          </a:xfrm>
        </p:spPr>
        <p:txBody>
          <a:bodyPr/>
          <a:lstStyle/>
          <a:p>
            <a:pPr marL="114300" indent="0">
              <a:buNone/>
            </a:pPr>
            <a:r>
              <a:rPr lang="ru-RU" b="1" dirty="0">
                <a:latin typeface="Times New Roman" panose="02020603050405020304" pitchFamily="18" charset="0"/>
                <a:cs typeface="Times New Roman" panose="02020603050405020304" pitchFamily="18" charset="0"/>
              </a:rPr>
              <a:t>Сетевые интерфейсные карты</a:t>
            </a:r>
            <a:r>
              <a:rPr lang="ru-RU" dirty="0">
                <a:latin typeface="Times New Roman" panose="02020603050405020304" pitchFamily="18" charset="0"/>
                <a:cs typeface="Times New Roman" panose="02020603050405020304" pitchFamily="18" charset="0"/>
              </a:rPr>
              <a:t>, которые иногда называют сетевыми картами (</a:t>
            </a:r>
            <a:r>
              <a:rPr lang="ru-RU" dirty="0" err="1">
                <a:latin typeface="Times New Roman" panose="02020603050405020304" pitchFamily="18" charset="0"/>
                <a:cs typeface="Times New Roman" panose="02020603050405020304" pitchFamily="18" charset="0"/>
              </a:rPr>
              <a:t>network</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board</a:t>
            </a:r>
            <a:r>
              <a:rPr lang="ru-RU" dirty="0">
                <a:latin typeface="Times New Roman" panose="02020603050405020304" pitchFamily="18" charset="0"/>
                <a:cs typeface="Times New Roman" panose="02020603050405020304" pitchFamily="18" charset="0"/>
              </a:rPr>
              <a:t>) или адаптерами (</a:t>
            </a:r>
            <a:r>
              <a:rPr lang="ru-RU" dirty="0" err="1">
                <a:latin typeface="Times New Roman" panose="02020603050405020304" pitchFamily="18" charset="0"/>
                <a:cs typeface="Times New Roman" panose="02020603050405020304" pitchFamily="18" charset="0"/>
              </a:rPr>
              <a:t>adapter</a:t>
            </a:r>
            <a:r>
              <a:rPr lang="ru-RU" dirty="0">
                <a:latin typeface="Times New Roman" panose="02020603050405020304" pitchFamily="18" charset="0"/>
                <a:cs typeface="Times New Roman" panose="02020603050405020304" pitchFamily="18" charset="0"/>
              </a:rPr>
              <a:t>), представляют собой устройства, устанавливаемые в компьютер для организации сетевого интерфейса. Они являются обязательной частью любой ЛВС, поскольку без них реализация сети не возможна. Физически NIC может представлять собой как карту, вставляемую внутрь компьютера или ноутбука (с PCI, ISA или PCMCI интерфейсом), так и внешнее устройство, подключаемое к компьютеру через LPT. В последнее время получили распространение USB-адаптеры, позволяющие подключать компьютер в сеть на большой скорости без длительной настройки.</a:t>
            </a:r>
          </a:p>
        </p:txBody>
      </p:sp>
    </p:spTree>
    <p:extLst>
      <p:ext uri="{BB962C8B-B14F-4D97-AF65-F5344CB8AC3E}">
        <p14:creationId xmlns:p14="http://schemas.microsoft.com/office/powerpoint/2010/main" val="21696556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99392"/>
            <a:ext cx="7620000" cy="1143000"/>
          </a:xfrm>
        </p:spPr>
        <p:txBody>
          <a:bodyPr/>
          <a:lstStyle/>
          <a:p>
            <a:pPr algn="ctr"/>
            <a:r>
              <a:rPr lang="ru-RU" b="1" dirty="0"/>
              <a:t>Повторители</a:t>
            </a:r>
            <a:endParaRPr lang="ru-RU" dirty="0"/>
          </a:p>
        </p:txBody>
      </p:sp>
      <p:sp>
        <p:nvSpPr>
          <p:cNvPr id="3" name="Объект 2"/>
          <p:cNvSpPr>
            <a:spLocks noGrp="1"/>
          </p:cNvSpPr>
          <p:nvPr>
            <p:ph idx="1"/>
          </p:nvPr>
        </p:nvSpPr>
        <p:spPr>
          <a:xfrm>
            <a:off x="457200" y="1556792"/>
            <a:ext cx="7620000" cy="4844008"/>
          </a:xfrm>
        </p:spPr>
        <p:txBody>
          <a:bodyPr/>
          <a:lstStyle/>
          <a:p>
            <a:pPr marL="114300" indent="0">
              <a:buNone/>
            </a:pPr>
            <a:r>
              <a:rPr lang="ru-RU" b="1" dirty="0">
                <a:latin typeface="Times New Roman" panose="02020603050405020304" pitchFamily="18" charset="0"/>
                <a:cs typeface="Times New Roman" panose="02020603050405020304" pitchFamily="18" charset="0"/>
              </a:rPr>
              <a:t>Повторители </a:t>
            </a:r>
            <a:r>
              <a:rPr lang="ru-RU" dirty="0">
                <a:latin typeface="Times New Roman" panose="02020603050405020304" pitchFamily="18" charset="0"/>
                <a:cs typeface="Times New Roman" panose="02020603050405020304" pitchFamily="18" charset="0"/>
              </a:rPr>
              <a:t>в настоящее время в "чистом виде" не применяются. Это устройство служит для усиления сигнала, передающегося по сетевому кабелю, что позволяет строить более протяженные линии связи.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Повторитель </a:t>
            </a:r>
            <a:r>
              <a:rPr lang="ru-RU" dirty="0">
                <a:latin typeface="Times New Roman" panose="02020603050405020304" pitchFamily="18" charset="0"/>
                <a:cs typeface="Times New Roman" panose="02020603050405020304" pitchFamily="18" charset="0"/>
              </a:rPr>
              <a:t>имеет всего два порта (коаксиальных или для витой пары).</a:t>
            </a:r>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1103" y="3933056"/>
            <a:ext cx="4048690" cy="2362530"/>
          </a:xfrm>
          <a:prstGeom prst="rect">
            <a:avLst/>
          </a:prstGeom>
          <a:ln>
            <a:noFill/>
          </a:ln>
          <a:effectLst>
            <a:softEdge rad="112500"/>
          </a:effectLst>
        </p:spPr>
      </p:pic>
    </p:spTree>
    <p:extLst>
      <p:ext uri="{BB962C8B-B14F-4D97-AF65-F5344CB8AC3E}">
        <p14:creationId xmlns:p14="http://schemas.microsoft.com/office/powerpoint/2010/main" val="16628195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Мост</a:t>
            </a:r>
            <a:r>
              <a:rPr lang="ru-RU" dirty="0"/>
              <a:t> </a:t>
            </a:r>
          </a:p>
        </p:txBody>
      </p:sp>
      <p:sp>
        <p:nvSpPr>
          <p:cNvPr id="3" name="Объект 2"/>
          <p:cNvSpPr>
            <a:spLocks noGrp="1"/>
          </p:cNvSpPr>
          <p:nvPr>
            <p:ph idx="1"/>
          </p:nvPr>
        </p:nvSpPr>
        <p:spPr/>
        <p:txBody>
          <a:bodyPr/>
          <a:lstStyle/>
          <a:p>
            <a:pPr marL="114300" indent="0">
              <a:buNone/>
            </a:pPr>
            <a:r>
              <a:rPr lang="ru-RU" b="1" dirty="0">
                <a:latin typeface="Times New Roman" panose="02020603050405020304" pitchFamily="18" charset="0"/>
                <a:cs typeface="Times New Roman" panose="02020603050405020304" pitchFamily="18" charset="0"/>
              </a:rPr>
              <a:t>Мост</a:t>
            </a:r>
            <a:r>
              <a:rPr lang="ru-RU" dirty="0">
                <a:latin typeface="Times New Roman" panose="02020603050405020304" pitchFamily="18" charset="0"/>
                <a:cs typeface="Times New Roman" panose="02020603050405020304" pitchFamily="18" charset="0"/>
              </a:rPr>
              <a:t> используется в тех случаях, когда требуется разделить ЛВС на две независимые логически части. Основной функцией моста является ограничение распространения данных, передающихся по сети.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Мост </a:t>
            </a:r>
            <a:r>
              <a:rPr lang="ru-RU" dirty="0">
                <a:latin typeface="Times New Roman" panose="02020603050405020304" pitchFamily="18" charset="0"/>
                <a:cs typeface="Times New Roman" panose="02020603050405020304" pitchFamily="18" charset="0"/>
              </a:rPr>
              <a:t>производит анализ пакета данных, решая, какой части сети он предназначен. Таким образом, мост не пропускает пакеты из одной части сети в другую, если они другой части не предназначены. Это позволяет уменьшить нагрузку на сеть</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Другой функцией моста, </a:t>
            </a:r>
            <a:r>
              <a:rPr lang="ru-RU" dirty="0" smtClean="0">
                <a:latin typeface="Times New Roman" panose="02020603050405020304" pitchFamily="18" charset="0"/>
                <a:cs typeface="Times New Roman" panose="02020603050405020304" pitchFamily="18" charset="0"/>
              </a:rPr>
              <a:t>является </a:t>
            </a:r>
            <a:r>
              <a:rPr lang="ru-RU" dirty="0">
                <a:latin typeface="Times New Roman" panose="02020603050405020304" pitchFamily="18" charset="0"/>
                <a:cs typeface="Times New Roman" panose="02020603050405020304" pitchFamily="18" charset="0"/>
              </a:rPr>
              <a:t>объединение сетей с различной скоростью передачи данных. </a:t>
            </a:r>
          </a:p>
        </p:txBody>
      </p:sp>
    </p:spTree>
    <p:extLst>
      <p:ext uri="{BB962C8B-B14F-4D97-AF65-F5344CB8AC3E}">
        <p14:creationId xmlns:p14="http://schemas.microsoft.com/office/powerpoint/2010/main" val="6217715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Концентратор</a:t>
            </a:r>
            <a:r>
              <a:rPr lang="ru-RU" dirty="0"/>
              <a:t> </a:t>
            </a:r>
          </a:p>
        </p:txBody>
      </p:sp>
      <p:sp>
        <p:nvSpPr>
          <p:cNvPr id="3" name="Объект 2"/>
          <p:cNvSpPr>
            <a:spLocks noGrp="1"/>
          </p:cNvSpPr>
          <p:nvPr>
            <p:ph idx="1"/>
          </p:nvPr>
        </p:nvSpPr>
        <p:spPr/>
        <p:txBody>
          <a:bodyPr/>
          <a:lstStyle/>
          <a:p>
            <a:pPr marL="114300" indent="0">
              <a:buNone/>
            </a:pPr>
            <a:r>
              <a:rPr lang="ru-RU" b="1" dirty="0">
                <a:latin typeface="Times New Roman" panose="02020603050405020304" pitchFamily="18" charset="0"/>
                <a:cs typeface="Times New Roman" panose="02020603050405020304" pitchFamily="18" charset="0"/>
              </a:rPr>
              <a:t>Концентратор</a:t>
            </a:r>
            <a:r>
              <a:rPr lang="ru-RU" dirty="0">
                <a:latin typeface="Times New Roman" panose="02020603050405020304" pitchFamily="18" charset="0"/>
                <a:cs typeface="Times New Roman" panose="02020603050405020304" pitchFamily="18" charset="0"/>
              </a:rPr>
              <a:t> произошел от повторителя, целиком переняв его функции. Единственным отличием классического концентратора от повторителя является количество портов.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Существуют </a:t>
            </a:r>
            <a:r>
              <a:rPr lang="ru-RU" dirty="0">
                <a:latin typeface="Times New Roman" panose="02020603050405020304" pitchFamily="18" charset="0"/>
                <a:cs typeface="Times New Roman" panose="02020603050405020304" pitchFamily="18" charset="0"/>
              </a:rPr>
              <a:t>концентраторы с 5, 8, 16 и большим количеством портов. В настоящее время применяются концентраторы, рассчитанные на две скорости передачи данных, в этом случае на них ложатся еще и функции моста (в части объединения сетей с разной скоростью).</a:t>
            </a:r>
          </a:p>
        </p:txBody>
      </p:sp>
    </p:spTree>
    <p:extLst>
      <p:ext uri="{BB962C8B-B14F-4D97-AF65-F5344CB8AC3E}">
        <p14:creationId xmlns:p14="http://schemas.microsoft.com/office/powerpoint/2010/main" val="40927155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Коммутатор </a:t>
            </a:r>
            <a:endParaRPr lang="ru-RU" dirty="0"/>
          </a:p>
        </p:txBody>
      </p:sp>
      <p:sp>
        <p:nvSpPr>
          <p:cNvPr id="3" name="Объект 2"/>
          <p:cNvSpPr>
            <a:spLocks noGrp="1"/>
          </p:cNvSpPr>
          <p:nvPr>
            <p:ph idx="1"/>
          </p:nvPr>
        </p:nvSpPr>
        <p:spPr>
          <a:xfrm>
            <a:off x="72988" y="1619781"/>
            <a:ext cx="8388424" cy="5204048"/>
          </a:xfrm>
        </p:spPr>
        <p:txBody>
          <a:bodyPr>
            <a:normAutofit/>
          </a:bodyPr>
          <a:lstStyle/>
          <a:p>
            <a:pPr marL="114300" indent="0">
              <a:buNone/>
            </a:pPr>
            <a:r>
              <a:rPr lang="ru-RU" b="1" dirty="0" smtClean="0">
                <a:latin typeface="Times New Roman" panose="02020603050405020304" pitchFamily="18" charset="0"/>
                <a:cs typeface="Times New Roman" panose="02020603050405020304" pitchFamily="18" charset="0"/>
              </a:rPr>
              <a:t>Коммутатор</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перенял все функции у моста, концентратора и повторителя, добавив к ним много дополнительных. Данное устройство является "интеллектуальным", производя анализ пришедшего пакета на предмет выявления адресата, после чего отправляет пакет на тот порт, где находится адресат. Среди дополнительных свойств можно назвать возможность логического объединения портов в группы, позволяя на одном коммутаторе строить независимые физически сети (VLAN - виртуальные LAN), возможность управления отдельными портами (отключать/включать порты, настраивать список доступных пользователей конкретных портов).</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Фактически</a:t>
            </a:r>
            <a:r>
              <a:rPr lang="ru-RU" dirty="0">
                <a:latin typeface="Times New Roman" panose="02020603050405020304" pitchFamily="18" charset="0"/>
                <a:cs typeface="Times New Roman" panose="02020603050405020304" pitchFamily="18" charset="0"/>
              </a:rPr>
              <a:t>, концентраторы и коммутаторы в настоящее время являются наиболее популярными устройствами ЛВС</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51820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Маршрутизатор</a:t>
            </a:r>
            <a:r>
              <a:rPr lang="ru-RU" dirty="0"/>
              <a:t> </a:t>
            </a:r>
          </a:p>
        </p:txBody>
      </p:sp>
      <p:sp>
        <p:nvSpPr>
          <p:cNvPr id="3" name="Объект 2"/>
          <p:cNvSpPr>
            <a:spLocks noGrp="1"/>
          </p:cNvSpPr>
          <p:nvPr>
            <p:ph idx="1"/>
          </p:nvPr>
        </p:nvSpPr>
        <p:spPr>
          <a:xfrm>
            <a:off x="107504" y="1600200"/>
            <a:ext cx="8208912" cy="4997152"/>
          </a:xfrm>
        </p:spPr>
        <p:txBody>
          <a:bodyPr>
            <a:normAutofit/>
          </a:bodyPr>
          <a:lstStyle/>
          <a:p>
            <a:pPr marL="114300" indent="0">
              <a:buNone/>
            </a:pPr>
            <a:r>
              <a:rPr lang="ru-RU" b="1" dirty="0">
                <a:latin typeface="Times New Roman" panose="02020603050405020304" pitchFamily="18" charset="0"/>
                <a:cs typeface="Times New Roman" panose="02020603050405020304" pitchFamily="18" charset="0"/>
              </a:rPr>
              <a:t>Маршрутизатор</a:t>
            </a:r>
            <a:r>
              <a:rPr lang="ru-RU" dirty="0">
                <a:latin typeface="Times New Roman" panose="02020603050405020304" pitchFamily="18" charset="0"/>
                <a:cs typeface="Times New Roman" panose="02020603050405020304" pitchFamily="18" charset="0"/>
              </a:rPr>
              <a:t> в ЛВС практически не применяется, в основном его поле деятельности - WAN. Служит для объединения различных ЛВС в общую сеть, используя глобальные линии связи или сети (например, </a:t>
            </a:r>
            <a:r>
              <a:rPr lang="ru-RU" dirty="0" err="1">
                <a:latin typeface="Times New Roman" panose="02020603050405020304" pitchFamily="18" charset="0"/>
                <a:cs typeface="Times New Roman" panose="02020603050405020304" pitchFamily="18" charset="0"/>
              </a:rPr>
              <a:t>Internet</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Маршрутизаторы – это преимущественно устройства корпоративного класса, способные динамически объединять различные сети, фильтровать, транслировать  и шифровать данные, передаваемые по сети. Маршрутизаторы являются устройствами самого высокого уровня, которые используются </a:t>
            </a:r>
            <a:r>
              <a:rPr lang="ru-RU" dirty="0" err="1">
                <a:latin typeface="Times New Roman" panose="02020603050405020304" pitchFamily="18" charset="0"/>
                <a:cs typeface="Times New Roman" panose="02020603050405020304" pitchFamily="18" charset="0"/>
              </a:rPr>
              <a:t>интернет-провайдерами</a:t>
            </a:r>
            <a:r>
              <a:rPr lang="ru-RU" dirty="0">
                <a:latin typeface="Times New Roman" panose="02020603050405020304" pitchFamily="18" charset="0"/>
                <a:cs typeface="Times New Roman" panose="02020603050405020304" pitchFamily="18" charset="0"/>
              </a:rPr>
              <a:t>, и крупными организациями с целью объединения и контроля над группой сетей. Сегодня лидером на рынке такого рода устройств является компания </a:t>
            </a:r>
            <a:r>
              <a:rPr lang="ru-RU" dirty="0" err="1">
                <a:latin typeface="Times New Roman" panose="02020603050405020304" pitchFamily="18" charset="0"/>
                <a:cs typeface="Times New Roman" panose="02020603050405020304" pitchFamily="18" charset="0"/>
              </a:rPr>
              <a:t>Cisco</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17074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Точки доступа</a:t>
            </a:r>
            <a:endParaRPr lang="ru-RU" dirty="0"/>
          </a:p>
        </p:txBody>
      </p:sp>
      <p:sp>
        <p:nvSpPr>
          <p:cNvPr id="3" name="Объект 2"/>
          <p:cNvSpPr>
            <a:spLocks noGrp="1"/>
          </p:cNvSpPr>
          <p:nvPr>
            <p:ph idx="1"/>
          </p:nvPr>
        </p:nvSpPr>
        <p:spPr>
          <a:xfrm>
            <a:off x="0" y="1600200"/>
            <a:ext cx="8460432" cy="4800600"/>
          </a:xfrm>
        </p:spPr>
        <p:txBody>
          <a:bodyPr>
            <a:normAutofit/>
          </a:bodyPr>
          <a:lstStyle/>
          <a:p>
            <a:pPr marL="114300" indent="0">
              <a:buNone/>
            </a:pPr>
            <a:r>
              <a:rPr lang="ru-RU" sz="2800" b="1" dirty="0">
                <a:latin typeface="Times New Roman" panose="02020603050405020304" pitchFamily="18" charset="0"/>
                <a:cs typeface="Times New Roman" panose="02020603050405020304" pitchFamily="18" charset="0"/>
              </a:rPr>
              <a:t>Точки доступа</a:t>
            </a:r>
            <a:r>
              <a:rPr lang="ru-RU" sz="2800" dirty="0">
                <a:latin typeface="Times New Roman" panose="02020603050405020304" pitchFamily="18" charset="0"/>
                <a:cs typeface="Times New Roman" panose="02020603050405020304" pitchFamily="18" charset="0"/>
              </a:rPr>
              <a:t> для беспроводных сетей (</a:t>
            </a:r>
            <a:r>
              <a:rPr lang="ru-RU" sz="2800" dirty="0" err="1">
                <a:latin typeface="Times New Roman" panose="02020603050405020304" pitchFamily="18" charset="0"/>
                <a:cs typeface="Times New Roman" panose="02020603050405020304" pitchFamily="18" charset="0"/>
              </a:rPr>
              <a:t>wi-fi</a:t>
            </a:r>
            <a:r>
              <a:rPr lang="ru-RU" sz="2800" dirty="0">
                <a:latin typeface="Times New Roman" panose="02020603050405020304" pitchFamily="18" charset="0"/>
                <a:cs typeface="Times New Roman" panose="02020603050405020304" pitchFamily="18" charset="0"/>
              </a:rPr>
              <a:t>, 3G) - это отдельные недорогие устройства, которые можно добавить к существующей проводной сети. Такое решение будет удобным при реализации беспроводной сети в пределах офиса, позволит сэкономить на монтаже при переезде.</a:t>
            </a:r>
          </a:p>
        </p:txBody>
      </p:sp>
    </p:spTree>
    <p:extLst>
      <p:ext uri="{BB962C8B-B14F-4D97-AF65-F5344CB8AC3E}">
        <p14:creationId xmlns:p14="http://schemas.microsoft.com/office/powerpoint/2010/main" val="342941092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Межсетевые </a:t>
            </a:r>
            <a:r>
              <a:rPr lang="ru-RU" b="1" dirty="0"/>
              <a:t>экраны</a:t>
            </a:r>
            <a:endParaRPr lang="ru-RU" dirty="0"/>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Вопросы обеспечения сетевой безопасности актуальны для сетей любого уровня, в которых используется подключение к интернету, и породили целый класс сетевого оборудования, называемого </a:t>
            </a:r>
            <a:r>
              <a:rPr lang="ru-RU" b="1" dirty="0">
                <a:latin typeface="Times New Roman" panose="02020603050405020304" pitchFamily="18" charset="0"/>
                <a:cs typeface="Times New Roman" panose="02020603050405020304" pitchFamily="18" charset="0"/>
              </a:rPr>
              <a:t>Межсетевые экраны</a:t>
            </a:r>
            <a:r>
              <a:rPr lang="ru-RU" dirty="0">
                <a:latin typeface="Times New Roman" panose="02020603050405020304" pitchFamily="18" charset="0"/>
                <a:cs typeface="Times New Roman" panose="02020603050405020304" pitchFamily="18" charset="0"/>
              </a:rPr>
              <a:t> или </a:t>
            </a:r>
            <a:r>
              <a:rPr lang="ru-RU" dirty="0" err="1">
                <a:latin typeface="Times New Roman" panose="02020603050405020304" pitchFamily="18" charset="0"/>
                <a:cs typeface="Times New Roman" panose="02020603050405020304" pitchFamily="18" charset="0"/>
              </a:rPr>
              <a:t>Firewall</a:t>
            </a:r>
            <a:r>
              <a:rPr lang="ru-RU" dirty="0">
                <a:latin typeface="Times New Roman" panose="02020603050405020304" pitchFamily="18" charset="0"/>
                <a:cs typeface="Times New Roman" panose="02020603050405020304" pitchFamily="18" charset="0"/>
              </a:rPr>
              <a:t>. Основной функцией аппаратного </a:t>
            </a:r>
            <a:r>
              <a:rPr lang="ru-RU" dirty="0" err="1">
                <a:latin typeface="Times New Roman" panose="02020603050405020304" pitchFamily="18" charset="0"/>
                <a:cs typeface="Times New Roman" panose="02020603050405020304" pitchFamily="18" charset="0"/>
              </a:rPr>
              <a:t>Firewall</a:t>
            </a:r>
            <a:r>
              <a:rPr lang="ru-RU" dirty="0">
                <a:latin typeface="Times New Roman" panose="02020603050405020304" pitchFamily="18" charset="0"/>
                <a:cs typeface="Times New Roman" panose="02020603050405020304" pitchFamily="18" charset="0"/>
              </a:rPr>
              <a:t> является защита от различных сетевых угроз, внешних вторжений, фильтрация трафика на наличие вредоносных программ. Сегодня рынок межсетевых экранов представлен такими компаниями как: </a:t>
            </a:r>
            <a:r>
              <a:rPr lang="ru-RU" dirty="0" err="1">
                <a:latin typeface="Times New Roman" panose="02020603050405020304" pitchFamily="18" charset="0"/>
                <a:cs typeface="Times New Roman" panose="02020603050405020304" pitchFamily="18" charset="0"/>
              </a:rPr>
              <a:t>Cisco</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Zyxel</a:t>
            </a:r>
            <a:r>
              <a:rPr lang="ru-RU" dirty="0">
                <a:latin typeface="Times New Roman" panose="02020603050405020304" pitchFamily="18" charset="0"/>
                <a:cs typeface="Times New Roman" panose="02020603050405020304" pitchFamily="18" charset="0"/>
              </a:rPr>
              <a:t>, D-</a:t>
            </a:r>
            <a:r>
              <a:rPr lang="ru-RU" dirty="0" err="1">
                <a:latin typeface="Times New Roman" panose="02020603050405020304" pitchFamily="18" charset="0"/>
                <a:cs typeface="Times New Roman" panose="02020603050405020304" pitchFamily="18" charset="0"/>
              </a:rPr>
              <a:t>link</a:t>
            </a:r>
            <a:r>
              <a:rPr lang="ru-RU"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725112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sz="4400" b="1" dirty="0"/>
              <a:t>Оборудование для проверки работоспособности сети</a:t>
            </a:r>
          </a:p>
        </p:txBody>
      </p:sp>
      <p:sp>
        <p:nvSpPr>
          <p:cNvPr id="3" name="Объект 2"/>
          <p:cNvSpPr>
            <a:spLocks noGrp="1"/>
          </p:cNvSpPr>
          <p:nvPr>
            <p:ph idx="1"/>
          </p:nvPr>
        </p:nvSpPr>
        <p:spPr/>
        <p:txBody>
          <a:bodyPr>
            <a:normAutofit/>
          </a:bodyPr>
          <a:lstStyle/>
          <a:p>
            <a:pPr marL="114300" indent="0">
              <a:buNone/>
            </a:pPr>
            <a:r>
              <a:rPr lang="ru-RU" sz="2400" dirty="0">
                <a:latin typeface="Times New Roman" panose="02020603050405020304" pitchFamily="18" charset="0"/>
                <a:cs typeface="Times New Roman" panose="02020603050405020304" pitchFamily="18" charset="0"/>
              </a:rPr>
              <a:t>Диагностика бывает двух типов: упреждающая (</a:t>
            </a:r>
            <a:r>
              <a:rPr lang="ru-RU" sz="2400" dirty="0" err="1">
                <a:latin typeface="Times New Roman" panose="02020603050405020304" pitchFamily="18" charset="0"/>
                <a:cs typeface="Times New Roman" panose="02020603050405020304" pitchFamily="18" charset="0"/>
              </a:rPr>
              <a:t>proactive</a:t>
            </a:r>
            <a:r>
              <a:rPr lang="ru-RU" sz="2400" dirty="0">
                <a:latin typeface="Times New Roman" panose="02020603050405020304" pitchFamily="18" charset="0"/>
                <a:cs typeface="Times New Roman" panose="02020603050405020304" pitchFamily="18" charset="0"/>
              </a:rPr>
              <a:t>) и реактивная (</a:t>
            </a:r>
            <a:r>
              <a:rPr lang="ru-RU" sz="2400" dirty="0" err="1">
                <a:latin typeface="Times New Roman" panose="02020603050405020304" pitchFamily="18" charset="0"/>
                <a:cs typeface="Times New Roman" panose="02020603050405020304" pitchFamily="18" charset="0"/>
              </a:rPr>
              <a:t>reactive</a:t>
            </a:r>
            <a:r>
              <a:rPr lang="ru-RU" sz="2400" dirty="0">
                <a:latin typeface="Times New Roman" panose="02020603050405020304" pitchFamily="18" charset="0"/>
                <a:cs typeface="Times New Roman" panose="02020603050405020304" pitchFamily="18" charset="0"/>
              </a:rPr>
              <a:t>). </a:t>
            </a:r>
            <a:endParaRPr lang="ru-RU" sz="2400" dirty="0" smtClean="0">
              <a:latin typeface="Times New Roman" panose="02020603050405020304" pitchFamily="18" charset="0"/>
              <a:cs typeface="Times New Roman" panose="02020603050405020304" pitchFamily="18" charset="0"/>
            </a:endParaRPr>
          </a:p>
          <a:p>
            <a:pPr marL="114300" indent="0">
              <a:buNone/>
            </a:pPr>
            <a:endParaRPr lang="ru-RU" sz="2400" dirty="0">
              <a:latin typeface="Times New Roman" panose="02020603050405020304" pitchFamily="18" charset="0"/>
              <a:cs typeface="Times New Roman" panose="02020603050405020304" pitchFamily="18" charset="0"/>
            </a:endParaRPr>
          </a:p>
          <a:p>
            <a:pPr marL="114300" indent="0">
              <a:buNone/>
            </a:pPr>
            <a:r>
              <a:rPr lang="ru-RU" sz="2400" dirty="0" smtClean="0">
                <a:latin typeface="Times New Roman" panose="02020603050405020304" pitchFamily="18" charset="0"/>
                <a:cs typeface="Times New Roman" panose="02020603050405020304" pitchFamily="18" charset="0"/>
              </a:rPr>
              <a:t>Упреждающая </a:t>
            </a:r>
            <a:r>
              <a:rPr lang="ru-RU" sz="2400" dirty="0">
                <a:latin typeface="Times New Roman" panose="02020603050405020304" pitchFamily="18" charset="0"/>
                <a:cs typeface="Times New Roman" panose="02020603050405020304" pitchFamily="18" charset="0"/>
              </a:rPr>
              <a:t>диагностика должна проводиться в процессе эксплуатации сети ежедневно. </a:t>
            </a:r>
            <a:r>
              <a:rPr lang="ru-RU" sz="2400" dirty="0" smtClean="0">
                <a:latin typeface="Times New Roman" panose="02020603050405020304" pitchFamily="18" charset="0"/>
                <a:cs typeface="Times New Roman" panose="02020603050405020304" pitchFamily="18" charset="0"/>
              </a:rPr>
              <a:t>Основная </a:t>
            </a:r>
            <a:r>
              <a:rPr lang="ru-RU" sz="2400" dirty="0">
                <a:latin typeface="Times New Roman" panose="02020603050405020304" pitchFamily="18" charset="0"/>
                <a:cs typeface="Times New Roman" panose="02020603050405020304" pitchFamily="18" charset="0"/>
              </a:rPr>
              <a:t>цель упреждающей диагностики — предотвращение сбоев в работе сети. </a:t>
            </a:r>
            <a:endParaRPr lang="ru-RU" sz="2400" dirty="0" smtClean="0">
              <a:latin typeface="Times New Roman" panose="02020603050405020304" pitchFamily="18" charset="0"/>
              <a:cs typeface="Times New Roman" panose="02020603050405020304" pitchFamily="18" charset="0"/>
            </a:endParaRPr>
          </a:p>
          <a:p>
            <a:pPr marL="114300" indent="0">
              <a:buNone/>
            </a:pPr>
            <a:endParaRPr lang="ru-RU" sz="2400" dirty="0">
              <a:latin typeface="Times New Roman" panose="02020603050405020304" pitchFamily="18" charset="0"/>
              <a:cs typeface="Times New Roman" panose="02020603050405020304" pitchFamily="18" charset="0"/>
            </a:endParaRPr>
          </a:p>
          <a:p>
            <a:pPr marL="114300" indent="0">
              <a:buNone/>
            </a:pPr>
            <a:r>
              <a:rPr lang="ru-RU" sz="2400" dirty="0" smtClean="0">
                <a:latin typeface="Times New Roman" panose="02020603050405020304" pitchFamily="18" charset="0"/>
                <a:cs typeface="Times New Roman" panose="02020603050405020304" pitchFamily="18" charset="0"/>
              </a:rPr>
              <a:t>Реактивная </a:t>
            </a:r>
            <a:r>
              <a:rPr lang="ru-RU" sz="2400" dirty="0">
                <a:latin typeface="Times New Roman" panose="02020603050405020304" pitchFamily="18" charset="0"/>
                <a:cs typeface="Times New Roman" panose="02020603050405020304" pitchFamily="18" charset="0"/>
              </a:rPr>
              <a:t>диагностика выполняется, когда в сети уже произошел сбой и надо быстро локализовать источник и выявить причину.</a:t>
            </a:r>
          </a:p>
        </p:txBody>
      </p:sp>
    </p:spTree>
    <p:extLst>
      <p:ext uri="{BB962C8B-B14F-4D97-AF65-F5344CB8AC3E}">
        <p14:creationId xmlns:p14="http://schemas.microsoft.com/office/powerpoint/2010/main" val="16591350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Если </a:t>
            </a:r>
            <a:r>
              <a:rPr lang="ru-RU" dirty="0" smtClean="0">
                <a:latin typeface="Times New Roman" panose="02020603050405020304" pitchFamily="18" charset="0"/>
                <a:cs typeface="Times New Roman" panose="02020603050405020304" pitchFamily="18" charset="0"/>
              </a:rPr>
              <a:t>необходимо проверить </a:t>
            </a:r>
            <a:r>
              <a:rPr lang="ru-RU" dirty="0">
                <a:latin typeface="Times New Roman" panose="02020603050405020304" pitchFamily="18" charset="0"/>
                <a:cs typeface="Times New Roman" panose="02020603050405020304" pitchFamily="18" charset="0"/>
              </a:rPr>
              <a:t>соответствие качества кабельной системы требованиям стандартов, определить максимальную пропускную способность </a:t>
            </a:r>
            <a:r>
              <a:rPr lang="ru-RU" dirty="0" smtClean="0">
                <a:latin typeface="Times New Roman" panose="02020603050405020304" pitchFamily="18" charset="0"/>
                <a:cs typeface="Times New Roman" panose="02020603050405020304" pitchFamily="18" charset="0"/>
              </a:rPr>
              <a:t>сети </a:t>
            </a:r>
            <a:r>
              <a:rPr lang="ru-RU" dirty="0">
                <a:latin typeface="Times New Roman" panose="02020603050405020304" pitchFamily="18" charset="0"/>
                <a:cs typeface="Times New Roman" panose="02020603050405020304" pitchFamily="18" charset="0"/>
              </a:rPr>
              <a:t>или оценить время реакции прикладного ПО при изменении параметров настройки коммутатора или ОС, то такие измерения </a:t>
            </a:r>
            <a:r>
              <a:rPr lang="ru-RU" b="1" dirty="0">
                <a:latin typeface="Times New Roman" panose="02020603050405020304" pitchFamily="18" charset="0"/>
                <a:cs typeface="Times New Roman" panose="02020603050405020304" pitchFamily="18" charset="0"/>
              </a:rPr>
              <a:t>можно сделать только при отсутствии в сети работающих пользователей</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b="1" dirty="0" smtClean="0">
                <a:latin typeface="Times New Roman" panose="02020603050405020304" pitchFamily="18" charset="0"/>
                <a:cs typeface="Times New Roman" panose="02020603050405020304" pitchFamily="18" charset="0"/>
              </a:rPr>
              <a:t>Тестирование </a:t>
            </a:r>
            <a:r>
              <a:rPr lang="ru-RU" b="1" dirty="0">
                <a:latin typeface="Times New Roman" panose="02020603050405020304" pitchFamily="18" charset="0"/>
                <a:cs typeface="Times New Roman" panose="02020603050405020304" pitchFamily="18" charset="0"/>
              </a:rPr>
              <a:t>сети </a:t>
            </a:r>
            <a:r>
              <a:rPr lang="ru-RU" dirty="0">
                <a:latin typeface="Times New Roman" panose="02020603050405020304" pitchFamily="18" charset="0"/>
                <a:cs typeface="Times New Roman" panose="02020603050405020304" pitchFamily="18" charset="0"/>
              </a:rPr>
              <a:t>— это процесс активного воздействия на сеть с целью проверки ее работоспособности и определения потенциальных возможностей по передаче сетевого трафика.</a:t>
            </a:r>
          </a:p>
        </p:txBody>
      </p:sp>
      <p:sp>
        <p:nvSpPr>
          <p:cNvPr id="4" name="Заголовок 1"/>
          <p:cNvSpPr>
            <a:spLocks noGrp="1"/>
          </p:cNvSpPr>
          <p:nvPr>
            <p:ph type="title"/>
          </p:nvPr>
        </p:nvSpPr>
        <p:spPr/>
        <p:txBody>
          <a:bodyPr/>
          <a:lstStyle/>
          <a:p>
            <a:pPr algn="ctr"/>
            <a:r>
              <a:rPr lang="ru-RU" sz="4400" b="1" dirty="0"/>
              <a:t>Оборудование для проверки работоспособности сети</a:t>
            </a:r>
          </a:p>
        </p:txBody>
      </p:sp>
    </p:spTree>
    <p:extLst>
      <p:ext uri="{BB962C8B-B14F-4D97-AF65-F5344CB8AC3E}">
        <p14:creationId xmlns:p14="http://schemas.microsoft.com/office/powerpoint/2010/main" val="39696339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7620000" cy="1143000"/>
          </a:xfrm>
        </p:spPr>
        <p:txBody>
          <a:bodyPr/>
          <a:lstStyle/>
          <a:p>
            <a:pPr algn="ctr"/>
            <a:r>
              <a:rPr lang="ru-RU" b="1" dirty="0" smtClean="0"/>
              <a:t>Тестирование сети</a:t>
            </a:r>
            <a:endParaRPr lang="ru-RU" b="1" dirty="0"/>
          </a:p>
        </p:txBody>
      </p:sp>
      <p:sp>
        <p:nvSpPr>
          <p:cNvPr id="3" name="Объект 2"/>
          <p:cNvSpPr>
            <a:spLocks noGrp="1"/>
          </p:cNvSpPr>
          <p:nvPr>
            <p:ph idx="1"/>
          </p:nvPr>
        </p:nvSpPr>
        <p:spPr>
          <a:xfrm>
            <a:off x="457200" y="1268760"/>
            <a:ext cx="7620000" cy="5400600"/>
          </a:xfrm>
        </p:spPr>
        <p:txBody>
          <a:bodyPr>
            <a:normAutofit/>
          </a:bodyPr>
          <a:lstStyle/>
          <a:p>
            <a:pPr marL="114300" indent="0">
              <a:buNone/>
            </a:pPr>
            <a:r>
              <a:rPr lang="ru-RU" dirty="0">
                <a:latin typeface="Times New Roman" panose="02020603050405020304" pitchFamily="18" charset="0"/>
                <a:cs typeface="Times New Roman" panose="02020603050405020304" pitchFamily="18" charset="0"/>
              </a:rPr>
              <a:t>Тестирование можно условно разделить на несколько видов в зависимости от цели, ради которой оно проводится. </a:t>
            </a:r>
            <a:endParaRPr lang="ru-RU"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ru-RU" dirty="0" smtClean="0">
                <a:latin typeface="Times New Roman" panose="02020603050405020304" pitchFamily="18" charset="0"/>
                <a:cs typeface="Times New Roman" panose="02020603050405020304" pitchFamily="18" charset="0"/>
              </a:rPr>
              <a:t>Это </a:t>
            </a:r>
            <a:r>
              <a:rPr lang="ru-RU" dirty="0">
                <a:latin typeface="Times New Roman" panose="02020603050405020304" pitchFamily="18" charset="0"/>
                <a:cs typeface="Times New Roman" panose="02020603050405020304" pitchFamily="18" charset="0"/>
              </a:rPr>
              <a:t>тестирование кабельной системы сети на соответствие стандартам TIA/EIA TSB-67; </a:t>
            </a:r>
            <a:endParaRPr lang="ru-RU"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ru-RU" dirty="0" smtClean="0">
                <a:latin typeface="Times New Roman" panose="02020603050405020304" pitchFamily="18" charset="0"/>
                <a:cs typeface="Times New Roman" panose="02020603050405020304" pitchFamily="18" charset="0"/>
              </a:rPr>
              <a:t>стрессовое </a:t>
            </a:r>
            <a:r>
              <a:rPr lang="ru-RU" dirty="0">
                <a:latin typeface="Times New Roman" panose="02020603050405020304" pitchFamily="18" charset="0"/>
                <a:cs typeface="Times New Roman" panose="02020603050405020304" pitchFamily="18" charset="0"/>
              </a:rPr>
              <a:t>тестирование конкретных сетевых устройств с целью проверки устойчивости их работы при различных уровнях нагрузок и различных типах сетевого трафика; </a:t>
            </a:r>
            <a:endParaRPr lang="ru-RU"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ru-RU" dirty="0" smtClean="0">
                <a:latin typeface="Times New Roman" panose="02020603050405020304" pitchFamily="18" charset="0"/>
                <a:cs typeface="Times New Roman" panose="02020603050405020304" pitchFamily="18" charset="0"/>
              </a:rPr>
              <a:t>тестирование </a:t>
            </a:r>
            <a:r>
              <a:rPr lang="ru-RU" dirty="0">
                <a:latin typeface="Times New Roman" panose="02020603050405020304" pitchFamily="18" charset="0"/>
                <a:cs typeface="Times New Roman" panose="02020603050405020304" pitchFamily="18" charset="0"/>
              </a:rPr>
              <a:t>ПО, в частности для определения его требований к пропускной способности сетевых ресурсов (к характеристикам канала связи, сервера и т. п.); </a:t>
            </a:r>
            <a:endParaRPr lang="ru-RU"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ru-RU" dirty="0" smtClean="0">
                <a:latin typeface="Times New Roman" panose="02020603050405020304" pitchFamily="18" charset="0"/>
                <a:cs typeface="Times New Roman" panose="02020603050405020304" pitchFamily="18" charset="0"/>
              </a:rPr>
              <a:t>стрессовое </a:t>
            </a:r>
            <a:r>
              <a:rPr lang="ru-RU" dirty="0">
                <a:latin typeface="Times New Roman" panose="02020603050405020304" pitchFamily="18" charset="0"/>
                <a:cs typeface="Times New Roman" panose="02020603050405020304" pitchFamily="18" charset="0"/>
              </a:rPr>
              <a:t>тестирование сети (конкретных сетевых конфигураций) с целью выявления "скрытых дефектов" в оборудовании и "узких мест" в архитектуре сети, а также с целью определения пороговых значений трафика, допустимых в данной сети.</a:t>
            </a:r>
          </a:p>
        </p:txBody>
      </p:sp>
    </p:spTree>
    <p:extLst>
      <p:ext uri="{BB962C8B-B14F-4D97-AF65-F5344CB8AC3E}">
        <p14:creationId xmlns:p14="http://schemas.microsoft.com/office/powerpoint/2010/main" val="24543697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Тестирование ППО</a:t>
            </a:r>
            <a:endParaRPr lang="ru-RU" b="1" dirty="0"/>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Тестирование прикладного ПО с целью определения требований к пропускной способности сетевых ресурсов проводят (во всяком случае должны проводить) компании-разработчики ПО. </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Такое </a:t>
            </a:r>
            <a:r>
              <a:rPr lang="ru-RU" dirty="0">
                <a:latin typeface="Times New Roman" panose="02020603050405020304" pitchFamily="18" charset="0"/>
                <a:cs typeface="Times New Roman" panose="02020603050405020304" pitchFamily="18" charset="0"/>
              </a:rPr>
              <a:t>тестирование осуществляется в рамках комплексной проверки ПО перед выпуском его на рынок и называется тестированием на соответствие качеству (</a:t>
            </a:r>
            <a:r>
              <a:rPr lang="ru-RU" dirty="0" err="1">
                <a:latin typeface="Times New Roman" panose="02020603050405020304" pitchFamily="18" charset="0"/>
                <a:cs typeface="Times New Roman" panose="02020603050405020304" pitchFamily="18" charset="0"/>
              </a:rPr>
              <a:t>Quality</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Assurance</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Test</a:t>
            </a:r>
            <a:r>
              <a:rPr lang="ru-RU" dirty="0">
                <a:latin typeface="Times New Roman" panose="02020603050405020304" pitchFamily="18" charset="0"/>
                <a:cs typeface="Times New Roman" panose="02020603050405020304" pitchFamily="18" charset="0"/>
              </a:rPr>
              <a:t>, QAT).</a:t>
            </a:r>
          </a:p>
        </p:txBody>
      </p:sp>
    </p:spTree>
    <p:extLst>
      <p:ext uri="{BB962C8B-B14F-4D97-AF65-F5344CB8AC3E}">
        <p14:creationId xmlns:p14="http://schemas.microsoft.com/office/powerpoint/2010/main" val="421596351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0736" y="44624"/>
            <a:ext cx="8352928" cy="1143000"/>
          </a:xfrm>
        </p:spPr>
        <p:txBody>
          <a:bodyPr/>
          <a:lstStyle/>
          <a:p>
            <a:pPr algn="ctr"/>
            <a:r>
              <a:rPr lang="ru-RU" b="1" dirty="0" smtClean="0"/>
              <a:t>Стрессовое тестирование сети</a:t>
            </a:r>
            <a:endParaRPr lang="ru-RU" b="1" dirty="0"/>
          </a:p>
        </p:txBody>
      </p:sp>
      <p:sp>
        <p:nvSpPr>
          <p:cNvPr id="3" name="Объект 2"/>
          <p:cNvSpPr>
            <a:spLocks noGrp="1"/>
          </p:cNvSpPr>
          <p:nvPr>
            <p:ph idx="1"/>
          </p:nvPr>
        </p:nvSpPr>
        <p:spPr/>
        <p:txBody>
          <a:bodyPr>
            <a:noAutofit/>
          </a:bodyPr>
          <a:lstStyle/>
          <a:p>
            <a:pPr marL="114300" indent="0" fontAlgn="base">
              <a:buNone/>
            </a:pPr>
            <a:r>
              <a:rPr lang="ru-RU" sz="2400" dirty="0">
                <a:latin typeface="Times New Roman" panose="02020603050405020304" pitchFamily="18" charset="0"/>
                <a:cs typeface="Times New Roman" panose="02020603050405020304" pitchFamily="18" charset="0"/>
              </a:rPr>
              <a:t>Основное отличие стрессового тестирования сети от тестирования устройств (в лабораторных условиях) заключается в том, что его задача состоит в проверке работоспособности уже купленных вами устройств в конкретных условиях эксплуатации (для конкретной кабельной системы, уровня шума, качества питающего напряжения, используемого оборудования и ПО и т. п.).</a:t>
            </a:r>
          </a:p>
          <a:p>
            <a:pPr marL="114300" indent="0" fontAlgn="base">
              <a:buNone/>
            </a:pPr>
            <a:endParaRPr lang="ru-RU" sz="2400" dirty="0" smtClean="0">
              <a:latin typeface="Times New Roman" panose="02020603050405020304" pitchFamily="18" charset="0"/>
              <a:cs typeface="Times New Roman" panose="02020603050405020304" pitchFamily="18" charset="0"/>
            </a:endParaRPr>
          </a:p>
          <a:p>
            <a:pPr marL="114300" indent="0" fontAlgn="base">
              <a:buNone/>
            </a:pPr>
            <a:r>
              <a:rPr lang="ru-RU" sz="2400" dirty="0" smtClean="0">
                <a:latin typeface="Times New Roman" panose="02020603050405020304" pitchFamily="18" charset="0"/>
                <a:cs typeface="Times New Roman" panose="02020603050405020304" pitchFamily="18" charset="0"/>
              </a:rPr>
              <a:t>Как </a:t>
            </a:r>
            <a:r>
              <a:rPr lang="ru-RU" sz="2400" dirty="0">
                <a:latin typeface="Times New Roman" panose="02020603050405020304" pitchFamily="18" charset="0"/>
                <a:cs typeface="Times New Roman" panose="02020603050405020304" pitchFamily="18" charset="0"/>
              </a:rPr>
              <a:t>и тестирование кабельной системы, стрессовое тестирование сети должно быть обязательной процедурой перед вводом сети в промышленную эксплуатацию. В настоящее время это делается крайне редко</a:t>
            </a:r>
            <a:r>
              <a:rPr lang="ru-RU" sz="2400" dirty="0" smtClean="0">
                <a:latin typeface="Times New Roman" panose="02020603050405020304" pitchFamily="18" charset="0"/>
                <a:cs typeface="Times New Roman" panose="02020603050405020304" pitchFamily="18" charset="0"/>
              </a:rPr>
              <a:t>.</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20263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600200"/>
            <a:ext cx="7620000" cy="5069160"/>
          </a:xfrm>
        </p:spPr>
        <p:txBody>
          <a:bodyPr>
            <a:normAutofit lnSpcReduction="10000"/>
          </a:bodyPr>
          <a:lstStyle/>
          <a:p>
            <a:pPr marL="114300" indent="0" fontAlgn="base">
              <a:buNone/>
            </a:pPr>
            <a:r>
              <a:rPr lang="ru-RU" b="1" dirty="0">
                <a:latin typeface="Times New Roman" panose="02020603050405020304" pitchFamily="18" charset="0"/>
                <a:cs typeface="Times New Roman" panose="02020603050405020304" pitchFamily="18" charset="0"/>
              </a:rPr>
              <a:t>Цель</a:t>
            </a:r>
            <a:r>
              <a:rPr lang="ru-RU" dirty="0">
                <a:latin typeface="Times New Roman" panose="02020603050405020304" pitchFamily="18" charset="0"/>
                <a:cs typeface="Times New Roman" panose="02020603050405020304" pitchFamily="18" charset="0"/>
              </a:rPr>
              <a:t> стрессового тестирования сети состоит, во-первых, в выявлении дефектов оборудования и архитектуры сети и, во-вторых, в определении границ применимости существующей архитектуры сети</a:t>
            </a:r>
            <a:r>
              <a:rPr lang="ru-RU" dirty="0" smtClean="0">
                <a:latin typeface="Times New Roman" panose="02020603050405020304" pitchFamily="18" charset="0"/>
                <a:cs typeface="Times New Roman" panose="02020603050405020304" pitchFamily="18" charset="0"/>
              </a:rPr>
              <a:t>.</a:t>
            </a:r>
          </a:p>
          <a:p>
            <a:pPr marL="114300" indent="0" fontAlgn="base">
              <a:buNone/>
            </a:pPr>
            <a:endParaRPr lang="ru-RU" dirty="0">
              <a:latin typeface="Times New Roman" panose="02020603050405020304" pitchFamily="18" charset="0"/>
              <a:cs typeface="Times New Roman" panose="02020603050405020304" pitchFamily="18" charset="0"/>
            </a:endParaRPr>
          </a:p>
          <a:p>
            <a:pPr marL="114300" indent="0" fontAlgn="base">
              <a:buNone/>
            </a:pPr>
            <a:r>
              <a:rPr lang="ru-RU" b="1" i="1" dirty="0">
                <a:latin typeface="Times New Roman" panose="02020603050405020304" pitchFamily="18" charset="0"/>
                <a:cs typeface="Times New Roman" panose="02020603050405020304" pitchFamily="18" charset="0"/>
              </a:rPr>
              <a:t>Замечание №1.</a:t>
            </a:r>
            <a:r>
              <a:rPr lang="ru-RU" dirty="0">
                <a:latin typeface="Times New Roman" panose="02020603050405020304" pitchFamily="18" charset="0"/>
                <a:cs typeface="Times New Roman" panose="02020603050405020304" pitchFamily="18" charset="0"/>
              </a:rPr>
              <a:t> Стрессовое тестирование сети всегда должно предшествовать постановке сети на обслуживание. Результаты стрессового тестирования сети являются ориентиром при проведении упреждающей диагностики</a:t>
            </a:r>
            <a:r>
              <a:rPr lang="ru-RU" dirty="0" smtClean="0">
                <a:latin typeface="Times New Roman" panose="02020603050405020304" pitchFamily="18" charset="0"/>
                <a:cs typeface="Times New Roman" panose="02020603050405020304" pitchFamily="18" charset="0"/>
              </a:rPr>
              <a:t>.</a:t>
            </a:r>
          </a:p>
          <a:p>
            <a:pPr marL="114300" indent="0" fontAlgn="base">
              <a:buNone/>
            </a:pPr>
            <a:r>
              <a:rPr lang="ru-RU" b="1" i="1" dirty="0">
                <a:latin typeface="Times New Roman" panose="02020603050405020304" pitchFamily="18" charset="0"/>
                <a:cs typeface="Times New Roman" panose="02020603050405020304" pitchFamily="18" charset="0"/>
              </a:rPr>
              <a:t>Замечание №2.</a:t>
            </a:r>
            <a:r>
              <a:rPr lang="ru-RU" dirty="0">
                <a:latin typeface="Times New Roman" panose="02020603050405020304" pitchFamily="18" charset="0"/>
                <a:cs typeface="Times New Roman" panose="02020603050405020304" pitchFamily="18" charset="0"/>
              </a:rPr>
              <a:t> Основными инструментами для стрессового тестирования сети являются генераторы трафика, анализаторы сетевых протоколов и стрессовые тесты.</a:t>
            </a:r>
          </a:p>
          <a:p>
            <a:pPr marL="114300" indent="0" fontAlgn="base">
              <a:buNone/>
            </a:pPr>
            <a:endParaRPr lang="ru-RU" dirty="0" smtClean="0">
              <a:latin typeface="Times New Roman" panose="02020603050405020304" pitchFamily="18" charset="0"/>
              <a:cs typeface="Times New Roman" panose="02020603050405020304" pitchFamily="18" charset="0"/>
            </a:endParaRPr>
          </a:p>
          <a:p>
            <a:pPr marL="114300" indent="0" fontAlgn="base">
              <a:buNone/>
            </a:pPr>
            <a:r>
              <a:rPr lang="ru-RU" dirty="0" smtClean="0">
                <a:latin typeface="Times New Roman" panose="02020603050405020304" pitchFamily="18" charset="0"/>
                <a:cs typeface="Times New Roman" panose="02020603050405020304" pitchFamily="18" charset="0"/>
              </a:rPr>
              <a:t>Генераторы </a:t>
            </a:r>
            <a:r>
              <a:rPr lang="ru-RU" dirty="0">
                <a:latin typeface="Times New Roman" panose="02020603050405020304" pitchFamily="18" charset="0"/>
                <a:cs typeface="Times New Roman" panose="02020603050405020304" pitchFamily="18" charset="0"/>
              </a:rPr>
              <a:t>трафика могут быть </a:t>
            </a:r>
            <a:r>
              <a:rPr lang="ru-RU" dirty="0" smtClean="0">
                <a:latin typeface="Times New Roman" panose="02020603050405020304" pitchFamily="18" charset="0"/>
                <a:cs typeface="Times New Roman" panose="02020603050405020304" pitchFamily="18" charset="0"/>
              </a:rPr>
              <a:t>программными </a:t>
            </a:r>
            <a:r>
              <a:rPr lang="ru-RU" dirty="0">
                <a:latin typeface="Times New Roman" panose="02020603050405020304" pitchFamily="18" charset="0"/>
                <a:cs typeface="Times New Roman" panose="02020603050405020304" pitchFamily="18" charset="0"/>
              </a:rPr>
              <a:t>или программно-аппаратными. </a:t>
            </a:r>
          </a:p>
          <a:p>
            <a:pPr marL="114300" indent="0" fontAlgn="base">
              <a:buNone/>
            </a:pP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p:txBody>
          <a:bodyPr/>
          <a:lstStyle/>
          <a:p>
            <a:pPr algn="ctr"/>
            <a:r>
              <a:rPr lang="ru-RU" b="1" dirty="0" smtClean="0"/>
              <a:t>Стрессовое тестирование сети</a:t>
            </a:r>
            <a:endParaRPr lang="ru-RU" b="1" dirty="0"/>
          </a:p>
        </p:txBody>
      </p:sp>
    </p:spTree>
    <p:extLst>
      <p:ext uri="{BB962C8B-B14F-4D97-AF65-F5344CB8AC3E}">
        <p14:creationId xmlns:p14="http://schemas.microsoft.com/office/powerpoint/2010/main" val="20812585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114300" indent="0" fontAlgn="base">
              <a:buNone/>
            </a:pPr>
            <a:r>
              <a:rPr lang="ru-RU" dirty="0">
                <a:latin typeface="Times New Roman" panose="02020603050405020304" pitchFamily="18" charset="0"/>
                <a:cs typeface="Times New Roman" panose="02020603050405020304" pitchFamily="18" charset="0"/>
              </a:rPr>
              <a:t>Стрессовые тесты — это специальное программное обеспечение для эмуляции работы в сети различных приложений. Стрессовыми такие тесты называются потому, что при их работе в сети создается высокая нагрузка. Иногда они называются инструментарием для тестирования клиент-серверных приложений.</a:t>
            </a:r>
          </a:p>
          <a:p>
            <a:pPr marL="114300" indent="0" fontAlgn="base">
              <a:buNone/>
            </a:pPr>
            <a:endParaRPr lang="ru-RU" dirty="0" smtClean="0">
              <a:latin typeface="Times New Roman" panose="02020603050405020304" pitchFamily="18" charset="0"/>
              <a:cs typeface="Times New Roman" panose="02020603050405020304" pitchFamily="18" charset="0"/>
            </a:endParaRPr>
          </a:p>
          <a:p>
            <a:pPr marL="114300" indent="0" fontAlgn="base">
              <a:buNone/>
            </a:pPr>
            <a:r>
              <a:rPr lang="ru-RU" dirty="0" smtClean="0">
                <a:latin typeface="Times New Roman" panose="02020603050405020304" pitchFamily="18" charset="0"/>
                <a:cs typeface="Times New Roman" panose="02020603050405020304" pitchFamily="18" charset="0"/>
              </a:rPr>
              <a:t>Примерами </a:t>
            </a:r>
            <a:r>
              <a:rPr lang="ru-RU" dirty="0">
                <a:latin typeface="Times New Roman" panose="02020603050405020304" pitchFamily="18" charset="0"/>
                <a:cs typeface="Times New Roman" panose="02020603050405020304" pitchFamily="18" charset="0"/>
              </a:rPr>
              <a:t>стрессовых тестов для эмуляции работы с файлами в сети являются MS-</a:t>
            </a:r>
            <a:r>
              <a:rPr lang="ru-RU" dirty="0" err="1">
                <a:latin typeface="Times New Roman" panose="02020603050405020304" pitchFamily="18" charset="0"/>
                <a:cs typeface="Times New Roman" panose="02020603050405020304" pitchFamily="18" charset="0"/>
              </a:rPr>
              <a:t>Test</a:t>
            </a:r>
            <a:r>
              <a:rPr lang="ru-RU" dirty="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от компании </a:t>
            </a:r>
            <a:r>
              <a:rPr lang="ru-RU" dirty="0" err="1">
                <a:latin typeface="Times New Roman" panose="02020603050405020304" pitchFamily="18" charset="0"/>
                <a:cs typeface="Times New Roman" panose="02020603050405020304" pitchFamily="18" charset="0"/>
              </a:rPr>
              <a:t>Microsoft</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NetBench</a:t>
            </a:r>
            <a:r>
              <a:rPr lang="ru-RU" dirty="0">
                <a:latin typeface="Times New Roman" panose="02020603050405020304" pitchFamily="18" charset="0"/>
                <a:cs typeface="Times New Roman" panose="02020603050405020304" pitchFamily="18" charset="0"/>
              </a:rPr>
              <a:t> и </a:t>
            </a:r>
            <a:r>
              <a:rPr lang="ru-RU" dirty="0" err="1">
                <a:latin typeface="Times New Roman" panose="02020603050405020304" pitchFamily="18" charset="0"/>
                <a:cs typeface="Times New Roman" panose="02020603050405020304" pitchFamily="18" charset="0"/>
              </a:rPr>
              <a:t>ServerBench</a:t>
            </a:r>
            <a:r>
              <a:rPr lang="ru-RU" dirty="0">
                <a:latin typeface="Times New Roman" panose="02020603050405020304" pitchFamily="18" charset="0"/>
                <a:cs typeface="Times New Roman" panose="02020603050405020304" pitchFamily="18" charset="0"/>
              </a:rPr>
              <a:t> компании </a:t>
            </a:r>
            <a:r>
              <a:rPr lang="ru-RU" dirty="0" err="1" smtClean="0">
                <a:latin typeface="Times New Roman" panose="02020603050405020304" pitchFamily="18" charset="0"/>
                <a:cs typeface="Times New Roman" panose="02020603050405020304" pitchFamily="18" charset="0"/>
              </a:rPr>
              <a:t>Ziff-Davis</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p:txBody>
          <a:bodyPr/>
          <a:lstStyle/>
          <a:p>
            <a:pPr algn="ctr"/>
            <a:r>
              <a:rPr lang="ru-RU" b="1" dirty="0" smtClean="0"/>
              <a:t>Стрессовое тестирование сети</a:t>
            </a:r>
            <a:endParaRPr lang="ru-RU" b="1" dirty="0"/>
          </a:p>
        </p:txBody>
      </p:sp>
    </p:spTree>
    <p:extLst>
      <p:ext uri="{BB962C8B-B14F-4D97-AF65-F5344CB8AC3E}">
        <p14:creationId xmlns:p14="http://schemas.microsoft.com/office/powerpoint/2010/main" val="33085521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Диагностика сети</a:t>
            </a:r>
            <a:endParaRPr lang="ru-RU" b="1" dirty="0"/>
          </a:p>
        </p:txBody>
      </p:sp>
      <p:sp>
        <p:nvSpPr>
          <p:cNvPr id="3" name="Объект 2"/>
          <p:cNvSpPr>
            <a:spLocks noGrp="1"/>
          </p:cNvSpPr>
          <p:nvPr>
            <p:ph idx="1"/>
          </p:nvPr>
        </p:nvSpPr>
        <p:spPr>
          <a:xfrm>
            <a:off x="457200" y="1340768"/>
            <a:ext cx="7620000" cy="5400600"/>
          </a:xfrm>
        </p:spPr>
        <p:txBody>
          <a:bodyPr>
            <a:normAutofit lnSpcReduction="10000"/>
          </a:bodyPr>
          <a:lstStyle/>
          <a:p>
            <a:pPr marL="114300" indent="0">
              <a:buNone/>
            </a:pPr>
            <a:r>
              <a:rPr lang="ru-RU" dirty="0">
                <a:latin typeface="Times New Roman" panose="02020603050405020304" pitchFamily="18" charset="0"/>
                <a:cs typeface="Times New Roman" panose="02020603050405020304" pitchFamily="18" charset="0"/>
              </a:rPr>
              <a:t>Все многообразие средств, предназначенных для диагностики сетей, можно условно разделить на две категории в зависимости от принципа их работы: </a:t>
            </a:r>
            <a:r>
              <a:rPr lang="ru-RU" b="1" dirty="0" smtClean="0">
                <a:latin typeface="Times New Roman" panose="02020603050405020304" pitchFamily="18" charset="0"/>
                <a:cs typeface="Times New Roman" panose="02020603050405020304" pitchFamily="18" charset="0"/>
              </a:rPr>
              <a:t>средства мониторинга и управления работой сети</a:t>
            </a:r>
            <a:r>
              <a:rPr lang="ru-RU" dirty="0" smtClean="0">
                <a:latin typeface="Times New Roman" panose="02020603050405020304" pitchFamily="18" charset="0"/>
                <a:cs typeface="Times New Roman" panose="02020603050405020304" pitchFamily="18" charset="0"/>
              </a:rPr>
              <a:t> (средства мониторинга) </a:t>
            </a:r>
            <a:r>
              <a:rPr lang="ru-RU" dirty="0">
                <a:latin typeface="Times New Roman" panose="02020603050405020304" pitchFamily="18" charset="0"/>
                <a:cs typeface="Times New Roman" panose="02020603050405020304" pitchFamily="18" charset="0"/>
              </a:rPr>
              <a:t>и </a:t>
            </a:r>
            <a:r>
              <a:rPr lang="ru-RU" b="1" dirty="0">
                <a:latin typeface="Times New Roman" panose="02020603050405020304" pitchFamily="18" charset="0"/>
                <a:cs typeface="Times New Roman" panose="02020603050405020304" pitchFamily="18" charset="0"/>
              </a:rPr>
              <a:t>анализаторы </a:t>
            </a:r>
            <a:r>
              <a:rPr lang="ru-RU" b="1" dirty="0" smtClean="0">
                <a:latin typeface="Times New Roman" panose="02020603050405020304" pitchFamily="18" charset="0"/>
                <a:cs typeface="Times New Roman" panose="02020603050405020304" pitchFamily="18" charset="0"/>
              </a:rPr>
              <a:t>сетевых </a:t>
            </a:r>
            <a:r>
              <a:rPr lang="ru-RU" b="1" dirty="0">
                <a:latin typeface="Times New Roman" panose="02020603050405020304" pitchFamily="18" charset="0"/>
                <a:cs typeface="Times New Roman" panose="02020603050405020304" pitchFamily="18" charset="0"/>
              </a:rPr>
              <a:t>протоколов </a:t>
            </a:r>
            <a:r>
              <a:rPr lang="ru-RU" dirty="0" smtClean="0">
                <a:latin typeface="Times New Roman" panose="02020603050405020304" pitchFamily="18" charset="0"/>
                <a:cs typeface="Times New Roman" panose="02020603050405020304" pitchFamily="18" charset="0"/>
              </a:rPr>
              <a:t>(анализаторы протоколов).</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Принцип работы средств мониторинга основан на взаимодействии консоли оператора с так называемыми агентами, которые, собственно, и занимаются мониторингом и управлением работой устройств сети.</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Агенты могут быть встроены в оборудование или загружены программным образом. </a:t>
            </a:r>
            <a:r>
              <a:rPr lang="ru-RU" dirty="0" smtClean="0">
                <a:latin typeface="Times New Roman" panose="02020603050405020304" pitchFamily="18" charset="0"/>
                <a:cs typeface="Times New Roman" panose="02020603050405020304" pitchFamily="18" charset="0"/>
              </a:rPr>
              <a:t>Наиболее </a:t>
            </a:r>
            <a:r>
              <a:rPr lang="ru-RU" dirty="0">
                <a:latin typeface="Times New Roman" panose="02020603050405020304" pitchFamily="18" charset="0"/>
                <a:cs typeface="Times New Roman" panose="02020603050405020304" pitchFamily="18" charset="0"/>
              </a:rPr>
              <a:t>распространенным протоколом общения консоли оператора и агентов является SNMP, такие агенты часто называют </a:t>
            </a:r>
            <a:r>
              <a:rPr lang="ru-RU" b="1" dirty="0">
                <a:latin typeface="Times New Roman" panose="02020603050405020304" pitchFamily="18" charset="0"/>
                <a:cs typeface="Times New Roman" panose="02020603050405020304" pitchFamily="18" charset="0"/>
              </a:rPr>
              <a:t>SNMP-агентами</a:t>
            </a:r>
            <a:r>
              <a:rPr lang="ru-RU" dirty="0" smtClean="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7508506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SNMP-агенты</a:t>
            </a:r>
          </a:p>
        </p:txBody>
      </p:sp>
      <p:sp>
        <p:nvSpPr>
          <p:cNvPr id="3" name="Объект 2"/>
          <p:cNvSpPr>
            <a:spLocks noGrp="1"/>
          </p:cNvSpPr>
          <p:nvPr>
            <p:ph idx="1"/>
          </p:nvPr>
        </p:nvSpPr>
        <p:spPr>
          <a:xfrm>
            <a:off x="457200" y="1417638"/>
            <a:ext cx="7620000" cy="4983162"/>
          </a:xfrm>
        </p:spPr>
        <p:txBody>
          <a:bodyPr>
            <a:noAutofit/>
          </a:bodyPr>
          <a:lstStyle/>
          <a:p>
            <a:pPr marL="114300" indent="0">
              <a:buNone/>
            </a:pPr>
            <a:r>
              <a:rPr lang="ru-RU" sz="2400" dirty="0" smtClean="0">
                <a:latin typeface="Times New Roman" panose="02020603050405020304" pitchFamily="18" charset="0"/>
                <a:cs typeface="Times New Roman" panose="02020603050405020304" pitchFamily="18" charset="0"/>
              </a:rPr>
              <a:t>SNMP-агенты </a:t>
            </a:r>
            <a:r>
              <a:rPr lang="ru-RU" sz="2400" dirty="0">
                <a:latin typeface="Times New Roman" panose="02020603050405020304" pitchFamily="18" charset="0"/>
                <a:cs typeface="Times New Roman" panose="02020603050405020304" pitchFamily="18" charset="0"/>
              </a:rPr>
              <a:t>могут выполнять самые различные функции в зависимости от типа баз управляющей информации (</a:t>
            </a:r>
            <a:r>
              <a:rPr lang="ru-RU" sz="2400" dirty="0" err="1">
                <a:latin typeface="Times New Roman" panose="02020603050405020304" pitchFamily="18" charset="0"/>
                <a:cs typeface="Times New Roman" panose="02020603050405020304" pitchFamily="18" charset="0"/>
              </a:rPr>
              <a:t>Managеment</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Information</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Base</a:t>
            </a:r>
            <a:r>
              <a:rPr lang="ru-RU" sz="2400" dirty="0">
                <a:latin typeface="Times New Roman" panose="02020603050405020304" pitchFamily="18" charset="0"/>
                <a:cs typeface="Times New Roman" panose="02020603050405020304" pitchFamily="18" charset="0"/>
              </a:rPr>
              <a:t>, MIB), которые они поддерживают. </a:t>
            </a:r>
            <a:endParaRPr lang="ru-RU" sz="2400" dirty="0" smtClean="0">
              <a:latin typeface="Times New Roman" panose="02020603050405020304" pitchFamily="18" charset="0"/>
              <a:cs typeface="Times New Roman" panose="02020603050405020304" pitchFamily="18" charset="0"/>
            </a:endParaRPr>
          </a:p>
          <a:p>
            <a:pPr marL="114300" indent="0">
              <a:buNone/>
            </a:pPr>
            <a:endParaRPr lang="ru-RU" sz="2400" dirty="0">
              <a:latin typeface="Times New Roman" panose="02020603050405020304" pitchFamily="18" charset="0"/>
              <a:cs typeface="Times New Roman" panose="02020603050405020304" pitchFamily="18" charset="0"/>
            </a:endParaRPr>
          </a:p>
          <a:p>
            <a:pPr marL="114300" indent="0">
              <a:buNone/>
            </a:pPr>
            <a:r>
              <a:rPr lang="ru-RU" sz="2400" dirty="0" smtClean="0">
                <a:latin typeface="Times New Roman" panose="02020603050405020304" pitchFamily="18" charset="0"/>
                <a:cs typeface="Times New Roman" panose="02020603050405020304" pitchFamily="18" charset="0"/>
              </a:rPr>
              <a:t>Эти </a:t>
            </a:r>
            <a:r>
              <a:rPr lang="ru-RU" sz="2400" dirty="0">
                <a:latin typeface="Times New Roman" panose="02020603050405020304" pitchFamily="18" charset="0"/>
                <a:cs typeface="Times New Roman" panose="02020603050405020304" pitchFamily="18" charset="0"/>
              </a:rPr>
              <a:t>функции </a:t>
            </a:r>
            <a:r>
              <a:rPr lang="ru-RU" sz="2400" dirty="0" smtClean="0">
                <a:latin typeface="Times New Roman" panose="02020603050405020304" pitchFamily="18" charset="0"/>
                <a:cs typeface="Times New Roman" panose="02020603050405020304" pitchFamily="18" charset="0"/>
              </a:rPr>
              <a:t>включают </a:t>
            </a:r>
            <a:r>
              <a:rPr lang="ru-RU" sz="2400" dirty="0">
                <a:latin typeface="Times New Roman" panose="02020603050405020304" pitchFamily="18" charset="0"/>
                <a:cs typeface="Times New Roman" panose="02020603050405020304" pitchFamily="18" charset="0"/>
              </a:rPr>
              <a:t>в себя управление конфигурацией устройства, в которое агенты встроены (</a:t>
            </a:r>
            <a:r>
              <a:rPr lang="ru-RU" sz="2400" dirty="0" err="1">
                <a:latin typeface="Times New Roman" panose="02020603050405020304" pitchFamily="18" charset="0"/>
                <a:cs typeface="Times New Roman" panose="02020603050405020304" pitchFamily="18" charset="0"/>
              </a:rPr>
              <a:t>configuration</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management</a:t>
            </a:r>
            <a:r>
              <a:rPr lang="ru-RU" sz="2400" dirty="0">
                <a:latin typeface="Times New Roman" panose="02020603050405020304" pitchFamily="18" charset="0"/>
                <a:cs typeface="Times New Roman" panose="02020603050405020304" pitchFamily="18" charset="0"/>
              </a:rPr>
              <a:t>), управление контролем доступа к информации (</a:t>
            </a:r>
            <a:r>
              <a:rPr lang="ru-RU" sz="2400" dirty="0" err="1">
                <a:latin typeface="Times New Roman" panose="02020603050405020304" pitchFamily="18" charset="0"/>
                <a:cs typeface="Times New Roman" panose="02020603050405020304" pitchFamily="18" charset="0"/>
              </a:rPr>
              <a:t>security</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managеment</a:t>
            </a:r>
            <a:r>
              <a:rPr lang="ru-RU" sz="2400" dirty="0">
                <a:latin typeface="Times New Roman" panose="02020603050405020304" pitchFamily="18" charset="0"/>
                <a:cs typeface="Times New Roman" panose="02020603050405020304" pitchFamily="18" charset="0"/>
              </a:rPr>
              <a:t>), анализ производительности устройства (</a:t>
            </a:r>
            <a:r>
              <a:rPr lang="ru-RU" sz="2400" dirty="0" err="1">
                <a:latin typeface="Times New Roman" panose="02020603050405020304" pitchFamily="18" charset="0"/>
                <a:cs typeface="Times New Roman" panose="02020603050405020304" pitchFamily="18" charset="0"/>
              </a:rPr>
              <a:t>perfomance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managеment</a:t>
            </a:r>
            <a:r>
              <a:rPr lang="ru-RU" sz="2400" dirty="0">
                <a:latin typeface="Times New Roman" panose="02020603050405020304" pitchFamily="18" charset="0"/>
                <a:cs typeface="Times New Roman" panose="02020603050405020304" pitchFamily="18" charset="0"/>
              </a:rPr>
              <a:t>), измерение числа ошибок при передаче данных (</a:t>
            </a:r>
            <a:r>
              <a:rPr lang="ru-RU" sz="2400" dirty="0" err="1">
                <a:latin typeface="Times New Roman" panose="02020603050405020304" pitchFamily="18" charset="0"/>
                <a:cs typeface="Times New Roman" panose="02020603050405020304" pitchFamily="18" charset="0"/>
              </a:rPr>
              <a:t>fault</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management</a:t>
            </a:r>
            <a:r>
              <a:rPr lang="ru-RU" sz="2400" dirty="0">
                <a:latin typeface="Times New Roman" panose="02020603050405020304" pitchFamily="18" charset="0"/>
                <a:cs typeface="Times New Roman" panose="02020603050405020304" pitchFamily="18" charset="0"/>
              </a:rPr>
              <a:t>) и другие.</a:t>
            </a:r>
          </a:p>
        </p:txBody>
      </p:sp>
    </p:spTree>
    <p:extLst>
      <p:ext uri="{BB962C8B-B14F-4D97-AF65-F5344CB8AC3E}">
        <p14:creationId xmlns:p14="http://schemas.microsoft.com/office/powerpoint/2010/main" val="106809199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0"/>
            <a:ext cx="7620000" cy="1143000"/>
          </a:xfrm>
        </p:spPr>
        <p:txBody>
          <a:bodyPr/>
          <a:lstStyle/>
          <a:p>
            <a:pPr algn="ctr"/>
            <a:r>
              <a:rPr lang="ru-RU" b="1" dirty="0"/>
              <a:t>Реактивная </a:t>
            </a:r>
            <a:r>
              <a:rPr lang="ru-RU" b="1" dirty="0" smtClean="0"/>
              <a:t>диагностика</a:t>
            </a:r>
            <a:endParaRPr lang="ru-RU" dirty="0"/>
          </a:p>
        </p:txBody>
      </p:sp>
      <p:sp>
        <p:nvSpPr>
          <p:cNvPr id="3" name="Объект 2"/>
          <p:cNvSpPr>
            <a:spLocks noGrp="1"/>
          </p:cNvSpPr>
          <p:nvPr>
            <p:ph idx="1"/>
          </p:nvPr>
        </p:nvSpPr>
        <p:spPr>
          <a:xfrm>
            <a:off x="457200" y="1268760"/>
            <a:ext cx="7620000" cy="5132040"/>
          </a:xfrm>
        </p:spPr>
        <p:txBody>
          <a:bodyPr>
            <a:normAutofit lnSpcReduction="10000"/>
          </a:bodyPr>
          <a:lstStyle/>
          <a:p>
            <a:pPr marL="114300" indent="0" fontAlgn="base">
              <a:buNone/>
            </a:pPr>
            <a:r>
              <a:rPr lang="ru-RU" dirty="0">
                <a:latin typeface="Times New Roman" panose="02020603050405020304" pitchFamily="18" charset="0"/>
                <a:cs typeface="Times New Roman" panose="02020603050405020304" pitchFamily="18" charset="0"/>
              </a:rPr>
              <a:t>При реактивной диагностике сети с помощью средств мониторинга измерительным прибором является SNMP-агент самого диагностируемого устройства. </a:t>
            </a:r>
            <a:r>
              <a:rPr lang="ru-RU" dirty="0" smtClean="0">
                <a:latin typeface="Times New Roman" panose="02020603050405020304" pitchFamily="18" charset="0"/>
                <a:cs typeface="Times New Roman" panose="02020603050405020304" pitchFamily="18" charset="0"/>
              </a:rPr>
              <a:t>При </a:t>
            </a:r>
            <a:r>
              <a:rPr lang="ru-RU" dirty="0">
                <a:latin typeface="Times New Roman" panose="02020603050405020304" pitchFamily="18" charset="0"/>
                <a:cs typeface="Times New Roman" panose="02020603050405020304" pitchFamily="18" charset="0"/>
              </a:rPr>
              <a:t>появлении сбоев показания SNMP-агента нельзя считать достоверными. Это </a:t>
            </a:r>
            <a:r>
              <a:rPr lang="ru-RU" dirty="0" smtClean="0">
                <a:latin typeface="Times New Roman" panose="02020603050405020304" pitchFamily="18" charset="0"/>
                <a:cs typeface="Times New Roman" panose="02020603050405020304" pitchFamily="18" charset="0"/>
              </a:rPr>
              <a:t>актуально</a:t>
            </a:r>
            <a:r>
              <a:rPr lang="ru-RU" dirty="0">
                <a:latin typeface="Times New Roman" panose="02020603050405020304" pitchFamily="18" charset="0"/>
                <a:cs typeface="Times New Roman" panose="02020603050405020304" pitchFamily="18" charset="0"/>
              </a:rPr>
              <a:t>, когда сбои происходят в самом устройстве с установленным SNMP-агентом. В таких случаях наблюдатель должен быть "независим" от диагностируемого устройства.</a:t>
            </a:r>
          </a:p>
          <a:p>
            <a:pPr marL="114300" indent="0" fontAlgn="base">
              <a:buNone/>
            </a:pPr>
            <a:endParaRPr lang="ru-RU" dirty="0" smtClean="0">
              <a:latin typeface="Times New Roman" panose="02020603050405020304" pitchFamily="18" charset="0"/>
              <a:cs typeface="Times New Roman" panose="02020603050405020304" pitchFamily="18" charset="0"/>
            </a:endParaRPr>
          </a:p>
          <a:p>
            <a:pPr marL="114300" indent="0" fontAlgn="base">
              <a:buNone/>
            </a:pPr>
            <a:r>
              <a:rPr lang="ru-RU" dirty="0" smtClean="0">
                <a:latin typeface="Times New Roman" panose="02020603050405020304" pitchFamily="18" charset="0"/>
                <a:cs typeface="Times New Roman" panose="02020603050405020304" pitchFamily="18" charset="0"/>
              </a:rPr>
              <a:t>SNMP-агент </a:t>
            </a:r>
            <a:r>
              <a:rPr lang="ru-RU" dirty="0">
                <a:latin typeface="Times New Roman" panose="02020603050405020304" pitchFamily="18" charset="0"/>
                <a:cs typeface="Times New Roman" panose="02020603050405020304" pitchFamily="18" charset="0"/>
              </a:rPr>
              <a:t>устройства наблюдает за коллизионным доменом сети всегда только из одной точки и, что особенно важно для реактивной диагностики, не имеет возможности производить генерацию тестового трафика. В результате если не все оборудование имеет встроенные агенты, то часть ошибок канального уровня в домене сети может не фиксироваться.</a:t>
            </a:r>
          </a:p>
          <a:p>
            <a:pPr marL="11430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149733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61879" y="-99392"/>
            <a:ext cx="7620000" cy="1143000"/>
          </a:xfrm>
        </p:spPr>
        <p:txBody>
          <a:bodyPr/>
          <a:lstStyle/>
          <a:p>
            <a:pPr algn="ctr"/>
            <a:r>
              <a:rPr lang="ru-RU" b="1" dirty="0"/>
              <a:t>Анализаторы протоколов</a:t>
            </a:r>
          </a:p>
        </p:txBody>
      </p:sp>
      <p:sp>
        <p:nvSpPr>
          <p:cNvPr id="3" name="Объект 2"/>
          <p:cNvSpPr>
            <a:spLocks noGrp="1"/>
          </p:cNvSpPr>
          <p:nvPr>
            <p:ph idx="1"/>
          </p:nvPr>
        </p:nvSpPr>
        <p:spPr>
          <a:xfrm>
            <a:off x="457200" y="1043608"/>
            <a:ext cx="7620000" cy="5357192"/>
          </a:xfrm>
        </p:spPr>
        <p:txBody>
          <a:bodyPr/>
          <a:lstStyle/>
          <a:p>
            <a:pPr marL="114300" indent="0">
              <a:buNone/>
            </a:pPr>
            <a:r>
              <a:rPr lang="ru-RU" dirty="0">
                <a:latin typeface="Times New Roman" panose="02020603050405020304" pitchFamily="18" charset="0"/>
                <a:cs typeface="Times New Roman" panose="02020603050405020304" pitchFamily="18" charset="0"/>
              </a:rPr>
              <a:t>Принцип работы анализатора протоколов отличается от принципа работы средства мониторинга сети. Анализатор сетевых протоколов исследует весь проходящий мимо него сетевой трафик. </a:t>
            </a:r>
            <a:r>
              <a:rPr lang="ru-RU" dirty="0" smtClean="0">
                <a:latin typeface="Times New Roman" panose="02020603050405020304" pitchFamily="18" charset="0"/>
                <a:cs typeface="Times New Roman" panose="02020603050405020304" pitchFamily="18" charset="0"/>
              </a:rPr>
              <a:t>Подключая </a:t>
            </a:r>
            <a:r>
              <a:rPr lang="ru-RU" dirty="0">
                <a:latin typeface="Times New Roman" panose="02020603050405020304" pitchFamily="18" charset="0"/>
                <a:cs typeface="Times New Roman" panose="02020603050405020304" pitchFamily="18" charset="0"/>
              </a:rPr>
              <a:t>анализатор к любой точке коллизионного домена сети, вы будете видеть весь трафик в этом домене</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Анализаторы протоколов предоставляют возможность собирать данные о работе протоколов всех уровней сети и, в большинстве случаев, способны производить генерацию тестового трафика в сеть. Имея большой буфер для сбора пакетов, анализаторы протоколов позволяют быстро локализовать причину сбоя в </a:t>
            </a:r>
            <a:r>
              <a:rPr lang="ru-RU" dirty="0" smtClean="0">
                <a:latin typeface="Times New Roman" panose="02020603050405020304" pitchFamily="18" charset="0"/>
                <a:cs typeface="Times New Roman" panose="02020603050405020304" pitchFamily="18" charset="0"/>
              </a:rPr>
              <a:t>сети.</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231225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268760"/>
            <a:ext cx="7620000" cy="5132040"/>
          </a:xfrm>
        </p:spPr>
        <p:txBody>
          <a:bodyPr/>
          <a:lstStyle/>
          <a:p>
            <a:pPr marL="114300" indent="0">
              <a:buNone/>
            </a:pPr>
            <a:r>
              <a:rPr lang="ru-RU" dirty="0">
                <a:latin typeface="Times New Roman" panose="02020603050405020304" pitchFamily="18" charset="0"/>
                <a:cs typeface="Times New Roman" panose="02020603050405020304" pitchFamily="18" charset="0"/>
              </a:rPr>
              <a:t>Анализаторы протоколов можно разделить на две категории: программные и аппаратные (или программно-аппаратные). Программный анализатор — это программа, которая устанавливается на компьютер с обычной сетевой платой. Анализатор протоколов переводит сетевую плату компьютера в режим приема всех пакетов (</a:t>
            </a:r>
            <a:r>
              <a:rPr lang="ru-RU" dirty="0" err="1">
                <a:latin typeface="Times New Roman" panose="02020603050405020304" pitchFamily="18" charset="0"/>
                <a:cs typeface="Times New Roman" panose="02020603050405020304" pitchFamily="18" charset="0"/>
              </a:rPr>
              <a:t>promiscous</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mode</a:t>
            </a:r>
            <a:r>
              <a:rPr lang="ru-RU" dirty="0" smtClean="0">
                <a:latin typeface="Times New Roman" panose="02020603050405020304" pitchFamily="18" charset="0"/>
                <a:cs typeface="Times New Roman" panose="02020603050405020304" pitchFamily="18" charset="0"/>
              </a:rPr>
              <a:t>).</a:t>
            </a:r>
          </a:p>
          <a:p>
            <a:pPr marL="114300" indent="0">
              <a:buNone/>
            </a:pPr>
            <a:r>
              <a:rPr lang="ru-RU" dirty="0">
                <a:latin typeface="Times New Roman" panose="02020603050405020304" pitchFamily="18" charset="0"/>
                <a:cs typeface="Times New Roman" panose="02020603050405020304" pitchFamily="18" charset="0"/>
              </a:rPr>
              <a:t>При проведении диагностики сети с помощью программного анализатора протоколов особое значение имеют типы сетевой платы и драйвера, на которых программному анализатору протоколов приходится работать. Типы сетевой карты и типы драйвера определяют возможность программного анализатора протоколов фиксировать ошибки в сети на канальном уровне.</a:t>
            </a:r>
          </a:p>
        </p:txBody>
      </p:sp>
      <p:sp>
        <p:nvSpPr>
          <p:cNvPr id="4" name="Заголовок 1"/>
          <p:cNvSpPr>
            <a:spLocks noGrp="1"/>
          </p:cNvSpPr>
          <p:nvPr>
            <p:ph type="title"/>
          </p:nvPr>
        </p:nvSpPr>
        <p:spPr>
          <a:xfrm>
            <a:off x="486314" y="8099"/>
            <a:ext cx="7620000" cy="1143000"/>
          </a:xfrm>
        </p:spPr>
        <p:txBody>
          <a:bodyPr/>
          <a:lstStyle/>
          <a:p>
            <a:pPr algn="ctr"/>
            <a:r>
              <a:rPr lang="ru-RU" b="1" dirty="0"/>
              <a:t>Анализаторы протоколов</a:t>
            </a:r>
          </a:p>
        </p:txBody>
      </p:sp>
    </p:spTree>
    <p:extLst>
      <p:ext uri="{BB962C8B-B14F-4D97-AF65-F5344CB8AC3E}">
        <p14:creationId xmlns:p14="http://schemas.microsoft.com/office/powerpoint/2010/main" val="47285447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lnSpcReduction="10000"/>
          </a:bodyPr>
          <a:lstStyle/>
          <a:p>
            <a:pPr marL="114300" indent="0">
              <a:buNone/>
            </a:pPr>
            <a:r>
              <a:rPr lang="ru-RU" dirty="0">
                <a:latin typeface="Times New Roman" panose="02020603050405020304" pitchFamily="18" charset="0"/>
                <a:cs typeface="Times New Roman" panose="02020603050405020304" pitchFamily="18" charset="0"/>
              </a:rPr>
              <a:t>Аппаратные анализаторы протоколов имеют возможность очень точно выявлять все дефекты канального уровня. Кроме этого, многие аппаратные анализаторы производят экспертный анализ трафика "на лету", т. е. в момент сбора пакетов. При использовании программного анализатора протоколов пакеты необходимо сначала собрать, и только потом полученную информацию можно анализировать с помощью специальной программы</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 Если задача состоит только в диагностике локальной сети, то предпочтение следует отдать программному анализатору протоколов. Если </a:t>
            </a:r>
            <a:r>
              <a:rPr lang="ru-RU" dirty="0" smtClean="0">
                <a:latin typeface="Times New Roman" panose="02020603050405020304" pitchFamily="18" charset="0"/>
                <a:cs typeface="Times New Roman" panose="02020603050405020304" pitchFamily="18" charset="0"/>
              </a:rPr>
              <a:t>планируется </a:t>
            </a:r>
            <a:r>
              <a:rPr lang="ru-RU" dirty="0">
                <a:latin typeface="Times New Roman" panose="02020603050405020304" pitchFamily="18" charset="0"/>
                <a:cs typeface="Times New Roman" panose="02020603050405020304" pitchFamily="18" charset="0"/>
              </a:rPr>
              <a:t>проводить диагностику как локальных, так и телекоммуникационных сетей (ATM, SDH, </a:t>
            </a:r>
            <a:r>
              <a:rPr lang="ru-RU" dirty="0" err="1">
                <a:latin typeface="Times New Roman" panose="02020603050405020304" pitchFamily="18" charset="0"/>
                <a:cs typeface="Times New Roman" panose="02020603050405020304" pitchFamily="18" charset="0"/>
              </a:rPr>
              <a:t>frame</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relay</a:t>
            </a:r>
            <a:r>
              <a:rPr lang="ru-RU" dirty="0">
                <a:latin typeface="Times New Roman" panose="02020603050405020304" pitchFamily="18" charset="0"/>
                <a:cs typeface="Times New Roman" panose="02020603050405020304" pitchFamily="18" charset="0"/>
              </a:rPr>
              <a:t> и т. п.), то лучше выбрать аппаратный анализатор протоколов.</a:t>
            </a:r>
          </a:p>
        </p:txBody>
      </p:sp>
      <p:sp>
        <p:nvSpPr>
          <p:cNvPr id="4" name="Заголовок 1"/>
          <p:cNvSpPr>
            <a:spLocks noGrp="1"/>
          </p:cNvSpPr>
          <p:nvPr>
            <p:ph type="title"/>
          </p:nvPr>
        </p:nvSpPr>
        <p:spPr/>
        <p:txBody>
          <a:bodyPr/>
          <a:lstStyle/>
          <a:p>
            <a:pPr algn="ctr"/>
            <a:r>
              <a:rPr lang="ru-RU" b="1" dirty="0"/>
              <a:t>Анализаторы протоколов</a:t>
            </a:r>
          </a:p>
        </p:txBody>
      </p:sp>
    </p:spTree>
    <p:extLst>
      <p:ext uri="{BB962C8B-B14F-4D97-AF65-F5344CB8AC3E}">
        <p14:creationId xmlns:p14="http://schemas.microsoft.com/office/powerpoint/2010/main" val="111773924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Анализаторы протоколов могут быть локальными, т. е. предназначенными для диагностики только одного домена сети, или распределенными. Последние позволяют одновременно проводить анализ большого числа (как минимум двух) доменов сети</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Распределенный анализатор протоколов представляет собой центральный анализатор и набор удаленных агентов, каждый из которых взаимодействует с центральным анализатором по специальному протоколу. В отличие от SNMP-агента, агенты распределенного анализатора являются полноценными анализаторами протоколов.</a:t>
            </a:r>
          </a:p>
        </p:txBody>
      </p:sp>
      <p:sp>
        <p:nvSpPr>
          <p:cNvPr id="4" name="Заголовок 1"/>
          <p:cNvSpPr>
            <a:spLocks noGrp="1"/>
          </p:cNvSpPr>
          <p:nvPr>
            <p:ph type="title"/>
          </p:nvPr>
        </p:nvSpPr>
        <p:spPr/>
        <p:txBody>
          <a:bodyPr/>
          <a:lstStyle/>
          <a:p>
            <a:pPr algn="ctr"/>
            <a:r>
              <a:rPr lang="ru-RU" b="1" dirty="0"/>
              <a:t>Анализаторы протоколов</a:t>
            </a:r>
          </a:p>
        </p:txBody>
      </p:sp>
    </p:spTree>
    <p:extLst>
      <p:ext uri="{BB962C8B-B14F-4D97-AF65-F5344CB8AC3E}">
        <p14:creationId xmlns:p14="http://schemas.microsoft.com/office/powerpoint/2010/main" val="126031088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564904"/>
            <a:ext cx="7620000" cy="1143000"/>
          </a:xfrm>
        </p:spPr>
        <p:txBody>
          <a:bodyPr/>
          <a:lstStyle/>
          <a:p>
            <a:r>
              <a:rPr lang="ru-RU" b="1" dirty="0"/>
              <a:t>Передача данных по сети</a:t>
            </a:r>
            <a:endParaRPr lang="ru-RU" dirty="0"/>
          </a:p>
        </p:txBody>
      </p:sp>
      <p:sp>
        <p:nvSpPr>
          <p:cNvPr id="3" name="Объект 2"/>
          <p:cNvSpPr>
            <a:spLocks noGrp="1"/>
          </p:cNvSpPr>
          <p:nvPr>
            <p:ph idx="1"/>
          </p:nvPr>
        </p:nvSpPr>
        <p:spPr>
          <a:xfrm>
            <a:off x="457200" y="3707904"/>
            <a:ext cx="7620000" cy="432048"/>
          </a:xfrm>
        </p:spPr>
        <p:txBody>
          <a:bodyPr/>
          <a:lstStyle/>
          <a:p>
            <a:pPr marL="114300" indent="0">
              <a:buNone/>
            </a:pPr>
            <a:r>
              <a:rPr lang="ru-RU" b="1" dirty="0">
                <a:latin typeface="Times New Roman" panose="02020603050405020304" pitchFamily="18" charset="0"/>
                <a:cs typeface="Times New Roman" panose="02020603050405020304" pitchFamily="18" charset="0"/>
              </a:rPr>
              <a:t>Принципы пакетной передачи.  Коммутация пакетов</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96220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Принципы пакетной </a:t>
            </a:r>
            <a:r>
              <a:rPr lang="ru-RU" b="1" dirty="0" smtClean="0"/>
              <a:t>передачи</a:t>
            </a:r>
            <a:endParaRPr lang="ru-RU" dirty="0"/>
          </a:p>
        </p:txBody>
      </p:sp>
      <p:sp>
        <p:nvSpPr>
          <p:cNvPr id="3" name="Объект 2"/>
          <p:cNvSpPr>
            <a:spLocks noGrp="1"/>
          </p:cNvSpPr>
          <p:nvPr>
            <p:ph idx="1"/>
          </p:nvPr>
        </p:nvSpPr>
        <p:spPr>
          <a:xfrm>
            <a:off x="107504" y="1600200"/>
            <a:ext cx="8280920" cy="4800600"/>
          </a:xfrm>
        </p:spPr>
        <p:txBody>
          <a:bodyPr/>
          <a:lstStyle/>
          <a:p>
            <a:pPr marL="114300" indent="0">
              <a:buNone/>
            </a:pPr>
            <a:r>
              <a:rPr lang="ru-RU" dirty="0">
                <a:latin typeface="Times New Roman" panose="02020603050405020304" pitchFamily="18" charset="0"/>
                <a:cs typeface="Times New Roman" panose="02020603050405020304" pitchFamily="18" charset="0"/>
              </a:rPr>
              <a:t>Для взаимодействия между устройствами в сети используется универсальный приём разделения основной задачи на более простые – модули. Для каждого модуля определены функции и способ взаимодействия между собой.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В </a:t>
            </a:r>
            <a:r>
              <a:rPr lang="ru-RU" dirty="0">
                <a:latin typeface="Times New Roman" panose="02020603050405020304" pitchFamily="18" charset="0"/>
                <a:cs typeface="Times New Roman" panose="02020603050405020304" pitchFamily="18" charset="0"/>
              </a:rPr>
              <a:t>результате получается многоуровневый способ решения задачи. Всё множество модулей образует уровни, которые представляются иерархической структурой.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Количество </a:t>
            </a:r>
            <a:r>
              <a:rPr lang="ru-RU" dirty="0">
                <a:latin typeface="Times New Roman" panose="02020603050405020304" pitchFamily="18" charset="0"/>
                <a:cs typeface="Times New Roman" panose="02020603050405020304" pitchFamily="18" charset="0"/>
              </a:rPr>
              <a:t>уровней, их названия, содержание и назначение могут отличаться в различных сетях, но для всех сетей каждый уровень должен предоставлять определённый сервис для более высокого верхнего уровня, скрывая реализацию своей задачи.</a:t>
            </a:r>
          </a:p>
        </p:txBody>
      </p:sp>
    </p:spTree>
    <p:extLst>
      <p:ext uri="{BB962C8B-B14F-4D97-AF65-F5344CB8AC3E}">
        <p14:creationId xmlns:p14="http://schemas.microsoft.com/office/powerpoint/2010/main" val="3758816045"/>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Объект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9712" y="1916832"/>
            <a:ext cx="4824536" cy="3143020"/>
          </a:xfrm>
        </p:spPr>
      </p:pic>
      <p:sp>
        <p:nvSpPr>
          <p:cNvPr id="4" name="Заголовок 1"/>
          <p:cNvSpPr>
            <a:spLocks noGrp="1"/>
          </p:cNvSpPr>
          <p:nvPr>
            <p:ph type="title"/>
          </p:nvPr>
        </p:nvSpPr>
        <p:spPr/>
        <p:txBody>
          <a:bodyPr/>
          <a:lstStyle/>
          <a:p>
            <a:pPr algn="ctr"/>
            <a:r>
              <a:rPr lang="ru-RU" b="1" dirty="0"/>
              <a:t>Принципы пакетной </a:t>
            </a:r>
            <a:r>
              <a:rPr lang="ru-RU" b="1" dirty="0" smtClean="0"/>
              <a:t>передачи</a:t>
            </a:r>
            <a:endParaRPr lang="ru-RU" dirty="0"/>
          </a:p>
        </p:txBody>
      </p:sp>
    </p:spTree>
    <p:extLst>
      <p:ext uri="{BB962C8B-B14F-4D97-AF65-F5344CB8AC3E}">
        <p14:creationId xmlns:p14="http://schemas.microsoft.com/office/powerpoint/2010/main" val="232262465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274638"/>
            <a:ext cx="8208912" cy="1143000"/>
          </a:xfrm>
        </p:spPr>
        <p:txBody>
          <a:bodyPr/>
          <a:lstStyle/>
          <a:p>
            <a:pPr algn="ctr"/>
            <a:r>
              <a:rPr lang="ru-RU" b="1" dirty="0" smtClean="0"/>
              <a:t>Модель передачи данных </a:t>
            </a:r>
            <a:r>
              <a:rPr lang="en-US" b="1" dirty="0" smtClean="0"/>
              <a:t>OSI</a:t>
            </a:r>
            <a:endParaRPr lang="ru-RU" dirty="0"/>
          </a:p>
        </p:txBody>
      </p:sp>
      <p:sp>
        <p:nvSpPr>
          <p:cNvPr id="3" name="Объект 2"/>
          <p:cNvSpPr>
            <a:spLocks noGrp="1"/>
          </p:cNvSpPr>
          <p:nvPr>
            <p:ph idx="1"/>
          </p:nvPr>
        </p:nvSpPr>
        <p:spPr/>
        <p:txBody>
          <a:bodyPr>
            <a:normAutofit/>
          </a:bodyPr>
          <a:lstStyle/>
          <a:p>
            <a:pPr marL="114300" indent="0">
              <a:buNone/>
            </a:pPr>
            <a:r>
              <a:rPr lang="ru-RU" sz="2400" dirty="0">
                <a:latin typeface="Times New Roman" panose="02020603050405020304" pitchFamily="18" charset="0"/>
                <a:cs typeface="Times New Roman" panose="02020603050405020304" pitchFamily="18" charset="0"/>
              </a:rPr>
              <a:t>В 80-е годы ряд международных организаций по стандартизации разработали модель передачи данных, в которой все процессы разбиты на взаимоподчинённые уровни – модель взаимодействия открытых систем (OSI – </a:t>
            </a:r>
            <a:r>
              <a:rPr lang="ru-RU" sz="2400" dirty="0" err="1">
                <a:latin typeface="Times New Roman" panose="02020603050405020304" pitchFamily="18" charset="0"/>
                <a:cs typeface="Times New Roman" panose="02020603050405020304" pitchFamily="18" charset="0"/>
              </a:rPr>
              <a:t>Open</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System</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Interconnection</a:t>
            </a:r>
            <a:r>
              <a:rPr lang="ru-RU" sz="2400" dirty="0">
                <a:latin typeface="Times New Roman" panose="02020603050405020304" pitchFamily="18" charset="0"/>
                <a:cs typeface="Times New Roman" panose="02020603050405020304" pitchFamily="18" charset="0"/>
              </a:rPr>
              <a:t>). В ней обмен информацией можно представить в виде стека. Стек модели OSI представляет собой спецификации протоколов, т.е. формальных описаний аппаратных и программных компонентов, способов их функционирования и взаимодействия, условий эксплуатации, ограничений и особых характеристик.</a:t>
            </a:r>
          </a:p>
        </p:txBody>
      </p:sp>
    </p:spTree>
    <p:extLst>
      <p:ext uri="{BB962C8B-B14F-4D97-AF65-F5344CB8AC3E}">
        <p14:creationId xmlns:p14="http://schemas.microsoft.com/office/powerpoint/2010/main" val="335777793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Уровни модели </a:t>
            </a:r>
            <a:r>
              <a:rPr lang="en-US" b="1" dirty="0" smtClean="0"/>
              <a:t>OSI</a:t>
            </a:r>
            <a:endParaRPr lang="ru-RU" dirty="0"/>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Сетевой, канальный и физические уровни тесно связаны с технической реализацией сетевого подключения, и их протоколы называются </a:t>
            </a:r>
            <a:r>
              <a:rPr lang="ru-RU" dirty="0" err="1">
                <a:latin typeface="Times New Roman" panose="02020603050405020304" pitchFamily="18" charset="0"/>
                <a:cs typeface="Times New Roman" panose="02020603050405020304" pitchFamily="18" charset="0"/>
              </a:rPr>
              <a:t>сетезависимыми</a:t>
            </a:r>
            <a:r>
              <a:rPr lang="ru-RU" dirty="0">
                <a:latin typeface="Times New Roman" panose="02020603050405020304" pitchFamily="18" charset="0"/>
                <a:cs typeface="Times New Roman" panose="02020603050405020304" pitchFamily="18" charset="0"/>
              </a:rPr>
              <a:t>. Транспортный уровень – сквозной, промежуточный, скрывает детали функционирования нижних уровней от верхних и наоборот. Такой подход даёт возможность разрабатывать приложения, не зависящие от технической транспортировки сообщения по сети.</a:t>
            </a:r>
          </a:p>
          <a:p>
            <a:pPr marL="114300" indent="0">
              <a:buNone/>
            </a:pPr>
            <a:endParaRPr lang="en-US"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Оставшиеся </a:t>
            </a:r>
            <a:r>
              <a:rPr lang="ru-RU" dirty="0">
                <a:latin typeface="Times New Roman" panose="02020603050405020304" pitchFamily="18" charset="0"/>
                <a:cs typeface="Times New Roman" panose="02020603050405020304" pitchFamily="18" charset="0"/>
              </a:rPr>
              <a:t>уровни ориентированы на приложения, и их протоколы называются </a:t>
            </a:r>
            <a:r>
              <a:rPr lang="ru-RU" dirty="0" err="1">
                <a:latin typeface="Times New Roman" panose="02020603050405020304" pitchFamily="18" charset="0"/>
                <a:cs typeface="Times New Roman" panose="02020603050405020304" pitchFamily="18" charset="0"/>
              </a:rPr>
              <a:t>сетенезависимыми</a:t>
            </a:r>
            <a:r>
              <a:rPr lang="ru-RU" dirty="0">
                <a:latin typeface="Times New Roman" panose="02020603050405020304" pitchFamily="18" charset="0"/>
                <a:cs typeface="Times New Roman" panose="02020603050405020304" pitchFamily="18" charset="0"/>
              </a:rPr>
              <a:t>, и они не меняются, если будет изменён тип подключения к сети.</a:t>
            </a:r>
          </a:p>
          <a:p>
            <a:pPr marL="11430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08373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0"/>
            <a:ext cx="7620000" cy="1143000"/>
          </a:xfrm>
        </p:spPr>
        <p:txBody>
          <a:bodyPr/>
          <a:lstStyle/>
          <a:p>
            <a:pPr algn="ctr"/>
            <a:r>
              <a:rPr lang="ru-RU" b="1" dirty="0"/>
              <a:t>Уровни модели </a:t>
            </a:r>
            <a:r>
              <a:rPr lang="en-US" b="1" dirty="0"/>
              <a:t>OSI</a:t>
            </a:r>
            <a:endParaRPr lang="ru-RU" dirty="0"/>
          </a:p>
        </p:txBody>
      </p:sp>
      <p:pic>
        <p:nvPicPr>
          <p:cNvPr id="4" name="Объект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081300" y="980728"/>
            <a:ext cx="4536504" cy="5628416"/>
          </a:xfrm>
        </p:spPr>
      </p:pic>
    </p:spTree>
    <p:extLst>
      <p:ext uri="{BB962C8B-B14F-4D97-AF65-F5344CB8AC3E}">
        <p14:creationId xmlns:p14="http://schemas.microsoft.com/office/powerpoint/2010/main" val="1126713755"/>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smtClean="0"/>
              <a:t>Передача сообщения</a:t>
            </a:r>
            <a:endParaRPr lang="ru-RU" b="1" dirty="0"/>
          </a:p>
        </p:txBody>
      </p:sp>
      <p:sp>
        <p:nvSpPr>
          <p:cNvPr id="3" name="Объект 2"/>
          <p:cNvSpPr>
            <a:spLocks noGrp="1"/>
          </p:cNvSpPr>
          <p:nvPr>
            <p:ph idx="1"/>
          </p:nvPr>
        </p:nvSpPr>
        <p:spPr>
          <a:xfrm>
            <a:off x="457200" y="1600200"/>
            <a:ext cx="7620000" cy="4925144"/>
          </a:xfrm>
        </p:spPr>
        <p:txBody>
          <a:bodyPr/>
          <a:lstStyle/>
          <a:p>
            <a:pPr marL="114300" indent="0">
              <a:buNone/>
            </a:pPr>
            <a:r>
              <a:rPr lang="ru-RU" dirty="0">
                <a:latin typeface="Times New Roman" panose="02020603050405020304" pitchFamily="18" charset="0"/>
                <a:cs typeface="Times New Roman" panose="02020603050405020304" pitchFamily="18" charset="0"/>
              </a:rPr>
              <a:t>Сообщение поступает на седьмой пункт. </a:t>
            </a:r>
            <a:r>
              <a:rPr lang="ru-RU" dirty="0" smtClean="0">
                <a:latin typeface="Times New Roman" panose="02020603050405020304" pitchFamily="18" charset="0"/>
                <a:cs typeface="Times New Roman" panose="02020603050405020304" pitchFamily="18" charset="0"/>
              </a:rPr>
              <a:t>На </a:t>
            </a:r>
            <a:r>
              <a:rPr lang="ru-RU" dirty="0">
                <a:latin typeface="Times New Roman" panose="02020603050405020304" pitchFamily="18" charset="0"/>
                <a:cs typeface="Times New Roman" panose="02020603050405020304" pitchFamily="18" charset="0"/>
              </a:rPr>
              <a:t>основании протокола конкретный уровень выполняет соответствующие действия над сообщением. К сообщению добавляется собственная служебная информация данного уровня и производится передача на соседний уровень и т.д. </a:t>
            </a:r>
            <a:endParaRPr lang="en-US" dirty="0" smtClean="0">
              <a:latin typeface="Times New Roman" panose="02020603050405020304" pitchFamily="18" charset="0"/>
              <a:cs typeface="Times New Roman" panose="02020603050405020304" pitchFamily="18" charset="0"/>
            </a:endParaRPr>
          </a:p>
          <a:p>
            <a:pPr marL="114300" indent="0">
              <a:buNone/>
            </a:pPr>
            <a:endParaRPr lang="en-US" dirty="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Таким </a:t>
            </a:r>
            <a:r>
              <a:rPr lang="ru-RU" dirty="0">
                <a:latin typeface="Times New Roman" panose="02020603050405020304" pitchFamily="18" charset="0"/>
                <a:cs typeface="Times New Roman" panose="02020603050405020304" pitchFamily="18" charset="0"/>
              </a:rPr>
              <a:t>образом происходит передача сообщения до первого физического уровня. При этом сообщение кроме полезной информации увеличивается на служебную информацию каждого уровня. </a:t>
            </a:r>
            <a:endParaRPr lang="en-US"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Физическая </a:t>
            </a:r>
            <a:r>
              <a:rPr lang="ru-RU" dirty="0">
                <a:latin typeface="Times New Roman" panose="02020603050405020304" pitchFamily="18" charset="0"/>
                <a:cs typeface="Times New Roman" panose="02020603050405020304" pitchFamily="18" charset="0"/>
              </a:rPr>
              <a:t>передача сформированного сообщения передаётся по сети. После этого сообщение передвигается от уровня к уровню вверх, теряя служебную информацию.</a:t>
            </a:r>
          </a:p>
        </p:txBody>
      </p:sp>
    </p:spTree>
    <p:extLst>
      <p:ext uri="{BB962C8B-B14F-4D97-AF65-F5344CB8AC3E}">
        <p14:creationId xmlns:p14="http://schemas.microsoft.com/office/powerpoint/2010/main" val="286706579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1. Физический уровень</a:t>
            </a:r>
          </a:p>
        </p:txBody>
      </p:sp>
      <p:sp>
        <p:nvSpPr>
          <p:cNvPr id="3" name="Объект 2"/>
          <p:cNvSpPr>
            <a:spLocks noGrp="1"/>
          </p:cNvSpPr>
          <p:nvPr>
            <p:ph idx="1"/>
          </p:nvPr>
        </p:nvSpPr>
        <p:spPr>
          <a:xfrm>
            <a:off x="457200" y="1417638"/>
            <a:ext cx="7620000" cy="4983162"/>
          </a:xfrm>
        </p:spPr>
        <p:txBody>
          <a:bodyPr/>
          <a:lstStyle/>
          <a:p>
            <a:pPr marL="114300" indent="0">
              <a:buNone/>
            </a:pPr>
            <a:r>
              <a:rPr lang="ru-RU" dirty="0">
                <a:latin typeface="Times New Roman" panose="02020603050405020304" pitchFamily="18" charset="0"/>
                <a:cs typeface="Times New Roman" panose="02020603050405020304" pitchFamily="18" charset="0"/>
              </a:rPr>
              <a:t>Данный уровень выполняет передачу битов по физическим каналам связи (кабель, оптоволокно). Здесь определяются характеристики физической среды передачи данных (пропускная способность, помехозащищённость). Кроме того, здесь проводится стандартизация разъёмов и назначение контактов.</a:t>
            </a:r>
          </a:p>
          <a:p>
            <a:pPr marL="114300" indent="0">
              <a:buNone/>
            </a:pPr>
            <a:endParaRPr lang="en-US"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Функции </a:t>
            </a:r>
            <a:r>
              <a:rPr lang="ru-RU" dirty="0">
                <a:latin typeface="Times New Roman" panose="02020603050405020304" pitchFamily="18" charset="0"/>
                <a:cs typeface="Times New Roman" panose="02020603050405020304" pitchFamily="18" charset="0"/>
              </a:rPr>
              <a:t>физического уровня реализуются во всех устройствах, подключаемых к сети. Со стороны персонального компьютера функции физического уровня выполняются сетевыми адаптерами или коммуникативными портами</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6478416"/>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2. Канальный уровень</a:t>
            </a:r>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Уровень обеспечивает корректность передачи каждого файла, помещая специальную последовательность бит в начало и конец каждого кадра, а также вычисляют конкретную сумму для каждого кадра. Когда кадр доходит до сети, канальный уровень получателя также вычисляет контрольную суммы кадра и сравнивает её с исходной из полученного кадра. Если они совпадают, то кадр считается правильным и принимается, если не совпадает, то канальный уровень выполняет повторную передачу кадров или формирует сообщение об ошибке.</a:t>
            </a:r>
          </a:p>
        </p:txBody>
      </p:sp>
    </p:spTree>
    <p:extLst>
      <p:ext uri="{BB962C8B-B14F-4D97-AF65-F5344CB8AC3E}">
        <p14:creationId xmlns:p14="http://schemas.microsoft.com/office/powerpoint/2010/main" val="643512031"/>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3. Сетевой уровень</a:t>
            </a:r>
          </a:p>
        </p:txBody>
      </p:sp>
      <p:sp>
        <p:nvSpPr>
          <p:cNvPr id="3" name="Объект 2"/>
          <p:cNvSpPr>
            <a:spLocks noGrp="1"/>
          </p:cNvSpPr>
          <p:nvPr>
            <p:ph idx="1"/>
          </p:nvPr>
        </p:nvSpPr>
        <p:spPr>
          <a:xfrm>
            <a:off x="457200" y="1417638"/>
            <a:ext cx="7620000" cy="4983162"/>
          </a:xfrm>
        </p:spPr>
        <p:txBody>
          <a:bodyPr/>
          <a:lstStyle/>
          <a:p>
            <a:pPr marL="114300" indent="0">
              <a:buNone/>
            </a:pPr>
            <a:r>
              <a:rPr lang="ru-RU" dirty="0">
                <a:latin typeface="Times New Roman" panose="02020603050405020304" pitchFamily="18" charset="0"/>
                <a:cs typeface="Times New Roman" panose="02020603050405020304" pitchFamily="18" charset="0"/>
              </a:rPr>
              <a:t>Устанавливает связь в вычислительных сетях между двумя абонентами. Основная его задача — маршрутизация данных. Сетевой уровень контролирует одновременное присутствие нескольких пакетов при передаче, чтобы избежать «пробок». К этому уровню относятся протоколы, которые отвечают за отправку и получение данных, где определяется отправитель и получатель и необходимая информация для доставки пакета по сети.</a:t>
            </a:r>
          </a:p>
        </p:txBody>
      </p:sp>
    </p:spTree>
    <p:extLst>
      <p:ext uri="{BB962C8B-B14F-4D97-AF65-F5344CB8AC3E}">
        <p14:creationId xmlns:p14="http://schemas.microsoft.com/office/powerpoint/2010/main" val="425516440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609"/>
            <a:ext cx="7620000" cy="1143000"/>
          </a:xfrm>
        </p:spPr>
        <p:txBody>
          <a:bodyPr/>
          <a:lstStyle/>
          <a:p>
            <a:pPr algn="ctr"/>
            <a:r>
              <a:rPr lang="ru-RU" b="1" dirty="0" smtClean="0"/>
              <a:t>Модель </a:t>
            </a:r>
            <a:r>
              <a:rPr lang="en-US" b="1" dirty="0" smtClean="0"/>
              <a:t>TCP/IP</a:t>
            </a:r>
            <a:endParaRPr lang="ru-RU" dirty="0"/>
          </a:p>
        </p:txBody>
      </p:sp>
      <p:sp>
        <p:nvSpPr>
          <p:cNvPr id="3" name="Объект 2"/>
          <p:cNvSpPr>
            <a:spLocks noGrp="1"/>
          </p:cNvSpPr>
          <p:nvPr>
            <p:ph idx="1"/>
          </p:nvPr>
        </p:nvSpPr>
        <p:spPr>
          <a:xfrm>
            <a:off x="457200" y="1142391"/>
            <a:ext cx="7620000" cy="5258409"/>
          </a:xfrm>
        </p:spPr>
        <p:txBody>
          <a:bodyPr/>
          <a:lstStyle/>
          <a:p>
            <a:pPr marL="114300" indent="0">
              <a:buNone/>
            </a:pPr>
            <a:r>
              <a:rPr lang="ru-RU" dirty="0">
                <a:latin typeface="Times New Roman" panose="02020603050405020304" pitchFamily="18" charset="0"/>
                <a:cs typeface="Times New Roman" panose="02020603050405020304" pitchFamily="18" charset="0"/>
              </a:rPr>
              <a:t>Модель TCP/IP – самая популярная. Главная её возможность – объединение различных сетей. Это модель сети с коммутацией пакетов, в основе </a:t>
            </a:r>
            <a:r>
              <a:rPr lang="ru-RU" dirty="0" smtClean="0">
                <a:latin typeface="Times New Roman" panose="02020603050405020304" pitchFamily="18" charset="0"/>
                <a:cs typeface="Times New Roman" panose="02020603050405020304" pitchFamily="18" charset="0"/>
              </a:rPr>
              <a:t>которой </a:t>
            </a:r>
            <a:r>
              <a:rPr lang="ru-RU" dirty="0">
                <a:latin typeface="Times New Roman" panose="02020603050405020304" pitchFamily="18" charset="0"/>
                <a:cs typeface="Times New Roman" panose="02020603050405020304" pitchFamily="18" charset="0"/>
              </a:rPr>
              <a:t>лежит не имеющий соединений межсетевой уровень</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p:txBody>
      </p:sp>
      <p:pic>
        <p:nvPicPr>
          <p:cNvPr id="4" name="Рисунок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0399" y="2708920"/>
            <a:ext cx="7706801" cy="3839111"/>
          </a:xfrm>
          <a:prstGeom prst="rect">
            <a:avLst/>
          </a:prstGeom>
        </p:spPr>
      </p:pic>
    </p:spTree>
    <p:extLst>
      <p:ext uri="{BB962C8B-B14F-4D97-AF65-F5344CB8AC3E}">
        <p14:creationId xmlns:p14="http://schemas.microsoft.com/office/powerpoint/2010/main" val="16695952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99392"/>
            <a:ext cx="7620000" cy="1143000"/>
          </a:xfrm>
        </p:spPr>
        <p:txBody>
          <a:bodyPr/>
          <a:lstStyle/>
          <a:p>
            <a:pPr algn="ctr"/>
            <a:r>
              <a:rPr lang="ru-RU" b="1" dirty="0"/>
              <a:t>Уровни модели </a:t>
            </a:r>
            <a:r>
              <a:rPr lang="en-US" b="1" dirty="0"/>
              <a:t>TCP/IP</a:t>
            </a:r>
            <a:endParaRPr lang="ru-RU" b="1" dirty="0"/>
          </a:p>
        </p:txBody>
      </p:sp>
      <p:sp>
        <p:nvSpPr>
          <p:cNvPr id="3" name="Объект 2"/>
          <p:cNvSpPr>
            <a:spLocks noGrp="1"/>
          </p:cNvSpPr>
          <p:nvPr>
            <p:ph idx="1"/>
          </p:nvPr>
        </p:nvSpPr>
        <p:spPr>
          <a:xfrm>
            <a:off x="457200" y="1196752"/>
            <a:ext cx="7620000" cy="5204048"/>
          </a:xfrm>
        </p:spPr>
        <p:txBody>
          <a:bodyPr/>
          <a:lstStyle/>
          <a:p>
            <a:pPr marL="571500" indent="-457200">
              <a:buFont typeface="+mj-lt"/>
              <a:buAutoNum type="arabicParenR"/>
            </a:pPr>
            <a:r>
              <a:rPr lang="ru-RU" b="1" dirty="0" smtClean="0">
                <a:latin typeface="Times New Roman" panose="02020603050405020304" pitchFamily="18" charset="0"/>
                <a:cs typeface="Times New Roman" panose="02020603050405020304" pitchFamily="18" charset="0"/>
              </a:rPr>
              <a:t>Уровень </a:t>
            </a:r>
            <a:r>
              <a:rPr lang="ru-RU" b="1" dirty="0">
                <a:latin typeface="Times New Roman" panose="02020603050405020304" pitchFamily="18" charset="0"/>
                <a:cs typeface="Times New Roman" panose="02020603050405020304" pitchFamily="18" charset="0"/>
              </a:rPr>
              <a:t>приложений</a:t>
            </a:r>
            <a:r>
              <a:rPr lang="ru-RU"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q"/>
            </a:pPr>
            <a:r>
              <a:rPr lang="ru-RU" dirty="0" smtClean="0">
                <a:latin typeface="Times New Roman" panose="02020603050405020304" pitchFamily="18" charset="0"/>
                <a:cs typeface="Times New Roman" panose="02020603050405020304" pitchFamily="18" charset="0"/>
              </a:rPr>
              <a:t>протокол </a:t>
            </a:r>
            <a:r>
              <a:rPr lang="ru-RU" dirty="0">
                <a:latin typeface="Times New Roman" panose="02020603050405020304" pitchFamily="18" charset="0"/>
                <a:cs typeface="Times New Roman" panose="02020603050405020304" pitchFamily="18" charset="0"/>
              </a:rPr>
              <a:t>виртуального терминала, который позволяет регистрироваться на удалённом сервере и работать с ним;</a:t>
            </a:r>
          </a:p>
          <a:p>
            <a:pPr lvl="1">
              <a:buFont typeface="Wingdings" panose="05000000000000000000" pitchFamily="2" charset="2"/>
              <a:buChar char="q"/>
            </a:pPr>
            <a:r>
              <a:rPr lang="ru-RU" dirty="0" smtClean="0">
                <a:latin typeface="Times New Roman" panose="02020603050405020304" pitchFamily="18" charset="0"/>
                <a:cs typeface="Times New Roman" panose="02020603050405020304" pitchFamily="18" charset="0"/>
              </a:rPr>
              <a:t>протокол </a:t>
            </a:r>
            <a:r>
              <a:rPr lang="ru-RU" dirty="0">
                <a:latin typeface="Times New Roman" panose="02020603050405020304" pitchFamily="18" charset="0"/>
                <a:cs typeface="Times New Roman" panose="02020603050405020304" pitchFamily="18" charset="0"/>
              </a:rPr>
              <a:t>переноса файлов;</a:t>
            </a:r>
          </a:p>
          <a:p>
            <a:pPr lvl="1">
              <a:buFont typeface="Wingdings" panose="05000000000000000000" pitchFamily="2" charset="2"/>
              <a:buChar char="q"/>
            </a:pPr>
            <a:r>
              <a:rPr lang="ru-RU" dirty="0" smtClean="0">
                <a:latin typeface="Times New Roman" panose="02020603050405020304" pitchFamily="18" charset="0"/>
                <a:cs typeface="Times New Roman" panose="02020603050405020304" pitchFamily="18" charset="0"/>
              </a:rPr>
              <a:t>протокол </a:t>
            </a:r>
            <a:r>
              <a:rPr lang="ru-RU" dirty="0">
                <a:latin typeface="Times New Roman" panose="02020603050405020304" pitchFamily="18" charset="0"/>
                <a:cs typeface="Times New Roman" panose="02020603050405020304" pitchFamily="18" charset="0"/>
              </a:rPr>
              <a:t>электронной почты;</a:t>
            </a:r>
          </a:p>
          <a:p>
            <a:pPr lvl="1">
              <a:buFont typeface="Wingdings" panose="05000000000000000000" pitchFamily="2" charset="2"/>
              <a:buChar char="q"/>
            </a:pPr>
            <a:r>
              <a:rPr lang="ru-RU" dirty="0" smtClean="0">
                <a:latin typeface="Times New Roman" panose="02020603050405020304" pitchFamily="18" charset="0"/>
                <a:cs typeface="Times New Roman" panose="02020603050405020304" pitchFamily="18" charset="0"/>
              </a:rPr>
              <a:t>протокол </a:t>
            </a:r>
            <a:r>
              <a:rPr lang="ru-RU" dirty="0">
                <a:latin typeface="Times New Roman" panose="02020603050405020304" pitchFamily="18" charset="0"/>
                <a:cs typeface="Times New Roman" panose="02020603050405020304" pitchFamily="18" charset="0"/>
              </a:rPr>
              <a:t>службы имён-доменов;</a:t>
            </a:r>
          </a:p>
          <a:p>
            <a:pPr lvl="1">
              <a:buFont typeface="Wingdings" panose="05000000000000000000" pitchFamily="2" charset="2"/>
              <a:buChar char="q"/>
            </a:pPr>
            <a:r>
              <a:rPr lang="ru-RU" dirty="0" smtClean="0">
                <a:latin typeface="Times New Roman" panose="02020603050405020304" pitchFamily="18" charset="0"/>
                <a:cs typeface="Times New Roman" panose="02020603050405020304" pitchFamily="18" charset="0"/>
              </a:rPr>
              <a:t>протокол </a:t>
            </a:r>
            <a:r>
              <a:rPr lang="ru-RU" dirty="0">
                <a:latin typeface="Times New Roman" panose="02020603050405020304" pitchFamily="18" charset="0"/>
                <a:cs typeface="Times New Roman" panose="02020603050405020304" pitchFamily="18" charset="0"/>
              </a:rPr>
              <a:t>передачи новостей</a:t>
            </a:r>
            <a:r>
              <a:rPr lang="ru-RU" dirty="0" smtClean="0">
                <a:latin typeface="Times New Roman" panose="02020603050405020304" pitchFamily="18" charset="0"/>
                <a:cs typeface="Times New Roman" panose="02020603050405020304" pitchFamily="18" charset="0"/>
              </a:rPr>
              <a:t>;</a:t>
            </a:r>
          </a:p>
          <a:p>
            <a:pPr marL="571500" indent="-457200">
              <a:buFont typeface="+mj-lt"/>
              <a:buAutoNum type="arabicParenR"/>
            </a:pPr>
            <a:r>
              <a:rPr lang="ru-RU" b="1" dirty="0">
                <a:latin typeface="Times New Roman" panose="02020603050405020304" pitchFamily="18" charset="0"/>
                <a:cs typeface="Times New Roman" panose="02020603050405020304" pitchFamily="18" charset="0"/>
              </a:rPr>
              <a:t>Транспортный уровень </a:t>
            </a:r>
            <a:r>
              <a:rPr lang="ru-RU" dirty="0">
                <a:latin typeface="Times New Roman" panose="02020603050405020304" pitchFamily="18" charset="0"/>
                <a:cs typeface="Times New Roman" panose="02020603050405020304" pitchFamily="18" charset="0"/>
              </a:rPr>
              <a:t>– создан для поддержки связи между приёмными и передающими хостами. Выполняет подобные функции транспортного протокола в модели OSI. </a:t>
            </a:r>
            <a:endParaRPr lang="ru-RU" dirty="0" smtClean="0">
              <a:latin typeface="Times New Roman" panose="02020603050405020304" pitchFamily="18" charset="0"/>
              <a:cs typeface="Times New Roman" panose="02020603050405020304" pitchFamily="18" charset="0"/>
            </a:endParaRPr>
          </a:p>
          <a:p>
            <a:pPr marL="114300" indent="0">
              <a:buNone/>
            </a:pPr>
            <a:r>
              <a:rPr lang="ru-RU" i="1" dirty="0" smtClean="0">
                <a:latin typeface="Times New Roman" panose="02020603050405020304" pitchFamily="18" charset="0"/>
                <a:cs typeface="Times New Roman" panose="02020603050405020304" pitchFamily="18" charset="0"/>
              </a:rPr>
              <a:t>На </a:t>
            </a:r>
            <a:r>
              <a:rPr lang="ru-RU" i="1" dirty="0">
                <a:latin typeface="Times New Roman" panose="02020603050405020304" pitchFamily="18" charset="0"/>
                <a:cs typeface="Times New Roman" panose="02020603050405020304" pitchFamily="18" charset="0"/>
              </a:rPr>
              <a:t>нём реализуются два сквозных протокола TCP и UDP</a:t>
            </a:r>
            <a:r>
              <a:rPr lang="ru-RU" i="1" dirty="0" smtClean="0">
                <a:latin typeface="Times New Roman" panose="02020603050405020304" pitchFamily="18" charset="0"/>
                <a:cs typeface="Times New Roman" panose="02020603050405020304" pitchFamily="18" charset="0"/>
              </a:rPr>
              <a:t>;</a:t>
            </a:r>
            <a:endParaRPr lang="ru-RU"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895106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571500" indent="-457200">
              <a:buFont typeface="+mj-lt"/>
              <a:buAutoNum type="arabicParenR" startAt="3"/>
            </a:pPr>
            <a:r>
              <a:rPr lang="ru-RU" b="1" dirty="0">
                <a:latin typeface="Times New Roman" panose="02020603050405020304" pitchFamily="18" charset="0"/>
                <a:cs typeface="Times New Roman" panose="02020603050405020304" pitchFamily="18" charset="0"/>
              </a:rPr>
              <a:t>Межсетевой (сетевой) уровень </a:t>
            </a:r>
            <a:r>
              <a:rPr lang="ru-RU" dirty="0">
                <a:latin typeface="Times New Roman" panose="02020603050405020304" pitchFamily="18" charset="0"/>
                <a:cs typeface="Times New Roman" panose="02020603050405020304" pitchFamily="18" charset="0"/>
              </a:rPr>
              <a:t>– обеспечивает возможность каждого хоста посылать пакеты сообщений независимо друг от друга для перемещения их адресатов. Они могут прибывать не в том порядке, в котором передавались</a:t>
            </a:r>
            <a:r>
              <a:rPr lang="ru-RU" dirty="0" smtClean="0">
                <a:latin typeface="Times New Roman" panose="02020603050405020304" pitchFamily="18" charset="0"/>
                <a:cs typeface="Times New Roman" panose="02020603050405020304" pitchFamily="18" charset="0"/>
              </a:rPr>
              <a:t>.</a:t>
            </a:r>
          </a:p>
          <a:p>
            <a:pPr marL="571500" indent="-457200">
              <a:buFont typeface="+mj-lt"/>
              <a:buAutoNum type="arabicParenR" startAt="3"/>
            </a:pPr>
            <a:r>
              <a:rPr lang="ru-RU" b="1" dirty="0">
                <a:latin typeface="Times New Roman" panose="02020603050405020304" pitchFamily="18" charset="0"/>
                <a:cs typeface="Times New Roman" panose="02020603050405020304" pitchFamily="18" charset="0"/>
              </a:rPr>
              <a:t>Канальный уровень (хост-сетевой) </a:t>
            </a:r>
            <a:r>
              <a:rPr lang="ru-RU" dirty="0">
                <a:latin typeface="Times New Roman" panose="02020603050405020304" pitchFamily="18" charset="0"/>
                <a:cs typeface="Times New Roman" panose="02020603050405020304" pitchFamily="18" charset="0"/>
              </a:rPr>
              <a:t>– реализует протоколы, которые обеспечивают соединение машины сети и позволяет посылать IP пакеты. Протоколы этого уровня точно не определены, не стандартизированы и меняются от сети к сети.</a:t>
            </a:r>
          </a:p>
        </p:txBody>
      </p:sp>
      <p:sp>
        <p:nvSpPr>
          <p:cNvPr id="4" name="Заголовок 1"/>
          <p:cNvSpPr>
            <a:spLocks noGrp="1"/>
          </p:cNvSpPr>
          <p:nvPr>
            <p:ph type="title"/>
          </p:nvPr>
        </p:nvSpPr>
        <p:spPr>
          <a:xfrm>
            <a:off x="457200" y="8099"/>
            <a:ext cx="7620000" cy="1143000"/>
          </a:xfrm>
        </p:spPr>
        <p:txBody>
          <a:bodyPr/>
          <a:lstStyle/>
          <a:p>
            <a:pPr algn="ctr"/>
            <a:r>
              <a:rPr lang="ru-RU" b="1" dirty="0"/>
              <a:t>Уровни модели </a:t>
            </a:r>
            <a:r>
              <a:rPr lang="en-US" b="1" dirty="0"/>
              <a:t>TCP/IP</a:t>
            </a:r>
            <a:endParaRPr lang="ru-RU" b="1" dirty="0"/>
          </a:p>
        </p:txBody>
      </p:sp>
    </p:spTree>
    <p:extLst>
      <p:ext uri="{BB962C8B-B14F-4D97-AF65-F5344CB8AC3E}">
        <p14:creationId xmlns:p14="http://schemas.microsoft.com/office/powerpoint/2010/main" val="20482859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t>Коммутация пакетов</a:t>
            </a:r>
          </a:p>
        </p:txBody>
      </p:sp>
      <p:sp>
        <p:nvSpPr>
          <p:cNvPr id="3" name="Объект 2"/>
          <p:cNvSpPr>
            <a:spLocks noGrp="1"/>
          </p:cNvSpPr>
          <p:nvPr>
            <p:ph idx="1"/>
          </p:nvPr>
        </p:nvSpPr>
        <p:spPr/>
        <p:txBody>
          <a:bodyPr/>
          <a:lstStyle/>
          <a:p>
            <a:pPr marL="114300" indent="0">
              <a:buNone/>
            </a:pPr>
            <a:r>
              <a:rPr lang="ru-RU" b="1" i="1" dirty="0">
                <a:latin typeface="Times New Roman" panose="02020603050405020304" pitchFamily="18" charset="0"/>
                <a:cs typeface="Times New Roman" panose="02020603050405020304" pitchFamily="18" charset="0"/>
              </a:rPr>
              <a:t>К</a:t>
            </a:r>
            <a:r>
              <a:rPr lang="ru-RU" b="1" i="1" dirty="0" smtClean="0">
                <a:latin typeface="Times New Roman" panose="02020603050405020304" pitchFamily="18" charset="0"/>
                <a:cs typeface="Times New Roman" panose="02020603050405020304" pitchFamily="18" charset="0"/>
              </a:rPr>
              <a:t>оммутация</a:t>
            </a:r>
            <a:r>
              <a:rPr lang="ru-RU" dirty="0">
                <a:latin typeface="Times New Roman" panose="02020603050405020304" pitchFamily="18" charset="0"/>
                <a:cs typeface="Times New Roman" panose="02020603050405020304" pitchFamily="18" charset="0"/>
              </a:rPr>
              <a:t> </a:t>
            </a:r>
            <a:r>
              <a:rPr lang="ru-RU" dirty="0" smtClean="0">
                <a:latin typeface="Times New Roman" panose="02020603050405020304" pitchFamily="18" charset="0"/>
                <a:cs typeface="Times New Roman" panose="02020603050405020304" pitchFamily="18" charset="0"/>
              </a:rPr>
              <a:t>- совокупность </a:t>
            </a:r>
            <a:r>
              <a:rPr lang="ru-RU" dirty="0">
                <a:latin typeface="Times New Roman" panose="02020603050405020304" pitchFamily="18" charset="0"/>
                <a:cs typeface="Times New Roman" panose="02020603050405020304" pitchFamily="18" charset="0"/>
              </a:rPr>
              <a:t>операций, обеспечивающих в узлах коммутации передачу информации между входными и выходными устройствами в соответствии с указанным адресом</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При </a:t>
            </a:r>
            <a:r>
              <a:rPr lang="ru-RU" b="1" i="1" dirty="0">
                <a:latin typeface="Times New Roman" panose="02020603050405020304" pitchFamily="18" charset="0"/>
                <a:cs typeface="Times New Roman" panose="02020603050405020304" pitchFamily="18" charset="0"/>
              </a:rPr>
              <a:t>коммутации пакетов</a:t>
            </a:r>
            <a:r>
              <a:rPr lang="ru-RU" dirty="0">
                <a:latin typeface="Times New Roman" panose="02020603050405020304" pitchFamily="18" charset="0"/>
                <a:cs typeface="Times New Roman" panose="02020603050405020304" pitchFamily="18" charset="0"/>
              </a:rPr>
              <a:t> (КП) передаваемое сообщение разбивается на меньшие части, называемые пакетами, каждый из которых имеет установленную максимальную длину. Пакеты снабжаются служебной информацией, необходимой для доставки пакета, и передаются по сети</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824087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417638"/>
            <a:ext cx="8003232" cy="5395738"/>
          </a:xfrm>
        </p:spPr>
        <p:txBody>
          <a:bodyPr>
            <a:normAutofit fontScale="92500"/>
          </a:bodyPr>
          <a:lstStyle/>
          <a:p>
            <a:pPr marL="114300" indent="0">
              <a:buNone/>
            </a:pPr>
            <a:r>
              <a:rPr lang="ru-RU" b="1" dirty="0">
                <a:latin typeface="Times New Roman" panose="02020603050405020304" pitchFamily="18" charset="0"/>
                <a:cs typeface="Times New Roman" panose="02020603050405020304" pitchFamily="18" charset="0"/>
              </a:rPr>
              <a:t>Каждый</a:t>
            </a:r>
            <a:r>
              <a:rPr lang="ru-RU" dirty="0">
                <a:latin typeface="Times New Roman" panose="02020603050405020304" pitchFamily="18" charset="0"/>
                <a:cs typeface="Times New Roman" panose="02020603050405020304" pitchFamily="18" charset="0"/>
              </a:rPr>
              <a:t> пакет снабжается следующей служебной информацией (заголовком</a:t>
            </a:r>
            <a:r>
              <a:rPr lang="ru-RU"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q"/>
            </a:pPr>
            <a:r>
              <a:rPr lang="ru-RU" dirty="0" smtClean="0">
                <a:latin typeface="Times New Roman" panose="02020603050405020304" pitchFamily="18" charset="0"/>
                <a:cs typeface="Times New Roman" panose="02020603050405020304" pitchFamily="18" charset="0"/>
              </a:rPr>
              <a:t>коды </a:t>
            </a:r>
            <a:r>
              <a:rPr lang="ru-RU" dirty="0">
                <a:latin typeface="Times New Roman" panose="02020603050405020304" pitchFamily="18" charset="0"/>
                <a:cs typeface="Times New Roman" panose="02020603050405020304" pitchFamily="18" charset="0"/>
              </a:rPr>
              <a:t>начала и окончания пакета,</a:t>
            </a:r>
          </a:p>
          <a:p>
            <a:pPr>
              <a:buFont typeface="Wingdings" panose="05000000000000000000" pitchFamily="2" charset="2"/>
              <a:buChar char="q"/>
            </a:pPr>
            <a:r>
              <a:rPr lang="ru-RU" dirty="0">
                <a:latin typeface="Times New Roman" panose="02020603050405020304" pitchFamily="18" charset="0"/>
                <a:cs typeface="Times New Roman" panose="02020603050405020304" pitchFamily="18" charset="0"/>
              </a:rPr>
              <a:t>адреса отправителя и получателя,</a:t>
            </a:r>
          </a:p>
          <a:p>
            <a:pPr>
              <a:buFont typeface="Wingdings" panose="05000000000000000000" pitchFamily="2" charset="2"/>
              <a:buChar char="q"/>
            </a:pPr>
            <a:r>
              <a:rPr lang="ru-RU" dirty="0">
                <a:latin typeface="Times New Roman" panose="02020603050405020304" pitchFamily="18" charset="0"/>
                <a:cs typeface="Times New Roman" panose="02020603050405020304" pitchFamily="18" charset="0"/>
              </a:rPr>
              <a:t>номер пакета в сообщении,</a:t>
            </a:r>
          </a:p>
          <a:p>
            <a:pPr>
              <a:buFont typeface="Wingdings" panose="05000000000000000000" pitchFamily="2" charset="2"/>
              <a:buChar char="q"/>
            </a:pPr>
            <a:r>
              <a:rPr lang="ru-RU" dirty="0">
                <a:latin typeface="Times New Roman" panose="02020603050405020304" pitchFamily="18" charset="0"/>
                <a:cs typeface="Times New Roman" panose="02020603050405020304" pitchFamily="18" charset="0"/>
              </a:rPr>
              <a:t>информация для контроля достоверности передаваемых данных в промежуточных узлах связи и в пункте назначения.</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Множество пакетов одного и того же сообщения может передаваться одновременно. Приемник в соответствии с заголовками пакетов выполняет сборку пакетов в исходное сообщение и отправляет его получателю. Благодаря возможности не накапливать сообщения целиком, в узлах коммутации не требуется внешних запоминающих устройств, следовательно, можно вполне ограничиться оперативной памятью, а в случае ее переполнения использовать различные механизмы задержки передаваемых пакетов в местах их генерации</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p:txBody>
          <a:bodyPr/>
          <a:lstStyle/>
          <a:p>
            <a:pPr algn="ctr"/>
            <a:r>
              <a:rPr lang="ru-RU" b="1" dirty="0"/>
              <a:t>Коммутация пакетов</a:t>
            </a:r>
          </a:p>
        </p:txBody>
      </p:sp>
    </p:spTree>
    <p:extLst>
      <p:ext uri="{BB962C8B-B14F-4D97-AF65-F5344CB8AC3E}">
        <p14:creationId xmlns:p14="http://schemas.microsoft.com/office/powerpoint/2010/main" val="122140482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4617" y="0"/>
            <a:ext cx="7620000" cy="1143000"/>
          </a:xfrm>
        </p:spPr>
        <p:txBody>
          <a:bodyPr/>
          <a:lstStyle/>
          <a:p>
            <a:pPr algn="ctr"/>
            <a:r>
              <a:rPr lang="ru-RU" sz="4400" b="1" dirty="0"/>
              <a:t>Процесс передачи данных в сети с коммутацией </a:t>
            </a:r>
            <a:r>
              <a:rPr lang="ru-RU" sz="4400" b="1" dirty="0" smtClean="0"/>
              <a:t>пакетов</a:t>
            </a:r>
            <a:endParaRPr lang="ru-RU" sz="4400" dirty="0"/>
          </a:p>
        </p:txBody>
      </p:sp>
      <p:sp>
        <p:nvSpPr>
          <p:cNvPr id="3" name="Объект 2"/>
          <p:cNvSpPr>
            <a:spLocks noGrp="1"/>
          </p:cNvSpPr>
          <p:nvPr>
            <p:ph idx="1"/>
          </p:nvPr>
        </p:nvSpPr>
        <p:spPr>
          <a:xfrm>
            <a:off x="179512" y="1268760"/>
            <a:ext cx="8208912" cy="5472608"/>
          </a:xfrm>
        </p:spPr>
        <p:txBody>
          <a:bodyPr>
            <a:normAutofit lnSpcReduction="10000"/>
          </a:bodyPr>
          <a:lstStyle/>
          <a:p>
            <a:pPr marL="114300" indent="0">
              <a:buNone/>
            </a:pPr>
            <a:r>
              <a:rPr lang="ru-RU" dirty="0">
                <a:latin typeface="Times New Roman" panose="02020603050405020304" pitchFamily="18" charset="0"/>
                <a:cs typeface="Times New Roman" panose="02020603050405020304" pitchFamily="18" charset="0"/>
              </a:rPr>
              <a:t>Процесс передачи данных в сети с КП можно представить в виде следующей последовательности операций:</a:t>
            </a:r>
          </a:p>
          <a:p>
            <a:pPr marL="571500" indent="-457200">
              <a:buFont typeface="+mj-lt"/>
              <a:buAutoNum type="arabicPeriod"/>
            </a:pPr>
            <a:r>
              <a:rPr lang="ru-RU" dirty="0">
                <a:latin typeface="Times New Roman" panose="02020603050405020304" pitchFamily="18" charset="0"/>
                <a:cs typeface="Times New Roman" panose="02020603050405020304" pitchFamily="18" charset="0"/>
              </a:rPr>
              <a:t>вводимое в сеть сообщение разбивается на части - пакеты, содержащие адрес конечного пункта </a:t>
            </a:r>
            <a:r>
              <a:rPr lang="ru-RU" dirty="0" smtClean="0">
                <a:latin typeface="Times New Roman" panose="02020603050405020304" pitchFamily="18" charset="0"/>
                <a:cs typeface="Times New Roman" panose="02020603050405020304" pitchFamily="18" charset="0"/>
              </a:rPr>
              <a:t>получателя;</a:t>
            </a:r>
          </a:p>
          <a:p>
            <a:pPr marL="571500" indent="-457200">
              <a:buFont typeface="+mj-lt"/>
              <a:buAutoNum type="arabicPeriod"/>
            </a:pPr>
            <a:r>
              <a:rPr lang="ru-RU" dirty="0" smtClean="0">
                <a:latin typeface="Times New Roman" panose="02020603050405020304" pitchFamily="18" charset="0"/>
                <a:cs typeface="Times New Roman" panose="02020603050405020304" pitchFamily="18" charset="0"/>
              </a:rPr>
              <a:t>в </a:t>
            </a:r>
            <a:r>
              <a:rPr lang="ru-RU" dirty="0">
                <a:latin typeface="Times New Roman" panose="02020603050405020304" pitchFamily="18" charset="0"/>
                <a:cs typeface="Times New Roman" panose="02020603050405020304" pitchFamily="18" charset="0"/>
              </a:rPr>
              <a:t>узле КП пакет запоминается в оперативной памяти (ОЗУ) и по адресу определяется канал, по которому он должен быть </a:t>
            </a:r>
            <a:r>
              <a:rPr lang="ru-RU" dirty="0" smtClean="0">
                <a:latin typeface="Times New Roman" panose="02020603050405020304" pitchFamily="18" charset="0"/>
                <a:cs typeface="Times New Roman" panose="02020603050405020304" pitchFamily="18" charset="0"/>
              </a:rPr>
              <a:t>передан;</a:t>
            </a:r>
          </a:p>
          <a:p>
            <a:pPr marL="571500" indent="-457200">
              <a:buFont typeface="+mj-lt"/>
              <a:buAutoNum type="arabicPeriod"/>
            </a:pPr>
            <a:r>
              <a:rPr lang="ru-RU" dirty="0" smtClean="0">
                <a:latin typeface="Times New Roman" panose="02020603050405020304" pitchFamily="18" charset="0"/>
                <a:cs typeface="Times New Roman" panose="02020603050405020304" pitchFamily="18" charset="0"/>
              </a:rPr>
              <a:t>если </a:t>
            </a:r>
            <a:r>
              <a:rPr lang="ru-RU" dirty="0">
                <a:latin typeface="Times New Roman" panose="02020603050405020304" pitchFamily="18" charset="0"/>
                <a:cs typeface="Times New Roman" panose="02020603050405020304" pitchFamily="18" charset="0"/>
              </a:rPr>
              <a:t>этот канал связи с соседним узлом свободен, то пакет немедленно передается на соседний узел КП, в котором повторяется та же операция</a:t>
            </a:r>
            <a:r>
              <a:rPr lang="ru-RU"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ru-RU" dirty="0" smtClean="0">
                <a:latin typeface="Times New Roman" panose="02020603050405020304" pitchFamily="18" charset="0"/>
                <a:cs typeface="Times New Roman" panose="02020603050405020304" pitchFamily="18" charset="0"/>
              </a:rPr>
              <a:t>если </a:t>
            </a:r>
            <a:r>
              <a:rPr lang="ru-RU" dirty="0">
                <a:latin typeface="Times New Roman" panose="02020603050405020304" pitchFamily="18" charset="0"/>
                <a:cs typeface="Times New Roman" panose="02020603050405020304" pitchFamily="18" charset="0"/>
              </a:rPr>
              <a:t>канал связи с соседним узлом занят, то пакет может какое-то время храниться в ОЗУ до освобождения канала</a:t>
            </a:r>
            <a:r>
              <a:rPr lang="ru-RU"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r>
              <a:rPr lang="ru-RU" dirty="0" smtClean="0">
                <a:latin typeface="Times New Roman" panose="02020603050405020304" pitchFamily="18" charset="0"/>
                <a:cs typeface="Times New Roman" panose="02020603050405020304" pitchFamily="18" charset="0"/>
              </a:rPr>
              <a:t>сохраняемые </a:t>
            </a:r>
            <a:r>
              <a:rPr lang="ru-RU" dirty="0">
                <a:latin typeface="Times New Roman" panose="02020603050405020304" pitchFamily="18" charset="0"/>
                <a:cs typeface="Times New Roman" panose="02020603050405020304" pitchFamily="18" charset="0"/>
              </a:rPr>
              <a:t>пакеты помещаются в очередь по направлению передачи, причем длина очереди не превышает 3-4 пакета; </a:t>
            </a:r>
            <a:endParaRPr lang="ru-RU" dirty="0" smtClean="0">
              <a:latin typeface="Times New Roman" panose="02020603050405020304" pitchFamily="18" charset="0"/>
              <a:cs typeface="Times New Roman" panose="02020603050405020304" pitchFamily="18" charset="0"/>
            </a:endParaRPr>
          </a:p>
          <a:p>
            <a:pPr marL="571500" indent="-457200">
              <a:buFont typeface="+mj-lt"/>
              <a:buAutoNum type="arabicPeriod"/>
            </a:pPr>
            <a:r>
              <a:rPr lang="ru-RU" dirty="0">
                <a:latin typeface="Times New Roman" panose="02020603050405020304" pitchFamily="18" charset="0"/>
                <a:cs typeface="Times New Roman" panose="02020603050405020304" pitchFamily="18" charset="0"/>
              </a:rPr>
              <a:t>е</a:t>
            </a:r>
            <a:r>
              <a:rPr lang="ru-RU" dirty="0" smtClean="0">
                <a:latin typeface="Times New Roman" panose="02020603050405020304" pitchFamily="18" charset="0"/>
                <a:cs typeface="Times New Roman" panose="02020603050405020304" pitchFamily="18" charset="0"/>
              </a:rPr>
              <a:t>сли </a:t>
            </a:r>
            <a:r>
              <a:rPr lang="ru-RU" dirty="0">
                <a:latin typeface="Times New Roman" panose="02020603050405020304" pitchFamily="18" charset="0"/>
                <a:cs typeface="Times New Roman" panose="02020603050405020304" pitchFamily="18" charset="0"/>
              </a:rPr>
              <a:t>длина очереди превышает допустимую, пакеты стираются из ОЗУ и их передача должна быть повторена.</a:t>
            </a:r>
          </a:p>
          <a:p>
            <a:pPr marL="11430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6927153"/>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512" y="0"/>
            <a:ext cx="8352928" cy="1143000"/>
          </a:xfrm>
        </p:spPr>
        <p:txBody>
          <a:bodyPr/>
          <a:lstStyle/>
          <a:p>
            <a:pPr algn="ctr"/>
            <a:r>
              <a:rPr lang="ru-RU" sz="4000" b="1" dirty="0"/>
              <a:t>Методы пакетной </a:t>
            </a:r>
            <a:r>
              <a:rPr lang="ru-RU" sz="4000" b="1" dirty="0" smtClean="0"/>
              <a:t>коммутации: </a:t>
            </a:r>
            <a:r>
              <a:rPr lang="ru-RU" sz="4000" b="1" u="sng" dirty="0" err="1" smtClean="0"/>
              <a:t>Дейтаграммный</a:t>
            </a:r>
            <a:r>
              <a:rPr lang="ru-RU" sz="4000" b="1" u="sng" dirty="0" smtClean="0"/>
              <a:t> метод</a:t>
            </a:r>
            <a:endParaRPr lang="ru-RU" sz="4000" u="sng" dirty="0"/>
          </a:p>
        </p:txBody>
      </p:sp>
      <p:sp>
        <p:nvSpPr>
          <p:cNvPr id="3" name="Объект 2"/>
          <p:cNvSpPr>
            <a:spLocks noGrp="1"/>
          </p:cNvSpPr>
          <p:nvPr>
            <p:ph idx="1"/>
          </p:nvPr>
        </p:nvSpPr>
        <p:spPr>
          <a:xfrm>
            <a:off x="107504" y="1340768"/>
            <a:ext cx="8208912" cy="5517232"/>
          </a:xfrm>
        </p:spPr>
        <p:txBody>
          <a:bodyPr>
            <a:normAutofit fontScale="77500" lnSpcReduction="20000"/>
          </a:bodyPr>
          <a:lstStyle/>
          <a:p>
            <a:pPr marL="114300" indent="0">
              <a:buNone/>
            </a:pPr>
            <a:r>
              <a:rPr lang="ru-RU" dirty="0">
                <a:latin typeface="Times New Roman" panose="02020603050405020304" pitchFamily="18" charset="0"/>
                <a:cs typeface="Times New Roman" panose="02020603050405020304" pitchFamily="18" charset="0"/>
              </a:rPr>
              <a:t>Этот метод эффективен для передачи коротких сообщений. Он не требует громоздкой процедуры установления соединения между абонентами.</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Термин </a:t>
            </a:r>
            <a:r>
              <a:rPr lang="ru-RU" dirty="0">
                <a:latin typeface="Times New Roman" panose="02020603050405020304" pitchFamily="18" charset="0"/>
                <a:cs typeface="Times New Roman" panose="02020603050405020304" pitchFamily="18" charset="0"/>
              </a:rPr>
              <a:t>"дейтаграмма" (</a:t>
            </a:r>
            <a:r>
              <a:rPr lang="ru-RU" dirty="0" err="1">
                <a:latin typeface="Times New Roman" panose="02020603050405020304" pitchFamily="18" charset="0"/>
                <a:cs typeface="Times New Roman" panose="02020603050405020304" pitchFamily="18" charset="0"/>
              </a:rPr>
              <a:t>датаграмма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datagram</a:t>
            </a:r>
            <a:r>
              <a:rPr lang="ru-RU" dirty="0">
                <a:latin typeface="Times New Roman" panose="02020603050405020304" pitchFamily="18" charset="0"/>
                <a:cs typeface="Times New Roman" panose="02020603050405020304" pitchFamily="18" charset="0"/>
              </a:rPr>
              <a:t>) применяют для обозначения самостоятельного пакета, движущегося по сети независимо от других пакетов. Пакеты доставляются получателю различными маршрутами. Эти маршруты определяются сложившейся динамической ситуаций на сети. Каждый пакет снабжается необходимым служебным маршрутным признаком, куда входит и адрес получателя.</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Пакеты </a:t>
            </a:r>
            <a:r>
              <a:rPr lang="ru-RU" dirty="0">
                <a:latin typeface="Times New Roman" panose="02020603050405020304" pitchFamily="18" charset="0"/>
                <a:cs typeface="Times New Roman" panose="02020603050405020304" pitchFamily="18" charset="0"/>
              </a:rPr>
              <a:t>поступают на прием не в той последовательности, в которой они были переданы, поэтому приходится выполнять функции, связанные со сборкой пакетов. Получив дейтаграмму, узел коммутации направляет ее в сторону смежного узла, максимально приближенного к адресату. Когда смежный узел подтверждает получение пакета, узел коммутации стирает его в своей памяти. Если подтверждение не получено, узел коммутации отправляет пакет в другой смежный узел, и так до тех пор, пока пакет не будет отправлен.</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Все </a:t>
            </a:r>
            <a:r>
              <a:rPr lang="ru-RU" dirty="0">
                <a:latin typeface="Times New Roman" panose="02020603050405020304" pitchFamily="18" charset="0"/>
                <a:cs typeface="Times New Roman" panose="02020603050405020304" pitchFamily="18" charset="0"/>
              </a:rPr>
              <a:t>узлы, окружающие данный узел коммутации, ранжируются по степени близости к адресату, и каждому присваивается 1, 2 и т.д. ранг. Пакет сначала посылается в узел первого ранга, при неудаче - в узел второго ранга и т.д. Эта процедура называется </a:t>
            </a:r>
            <a:r>
              <a:rPr lang="ru-RU" b="1" dirty="0">
                <a:latin typeface="Times New Roman" panose="02020603050405020304" pitchFamily="18" charset="0"/>
                <a:cs typeface="Times New Roman" panose="02020603050405020304" pitchFamily="18" charset="0"/>
              </a:rPr>
              <a:t>алгоритмом маршрутизации</a:t>
            </a:r>
            <a:r>
              <a:rPr lang="ru-RU" dirty="0">
                <a:latin typeface="Times New Roman" panose="02020603050405020304" pitchFamily="18" charset="0"/>
                <a:cs typeface="Times New Roman" panose="02020603050405020304" pitchFamily="18" charset="0"/>
              </a:rPr>
              <a:t>. Существуют алгоритмы, когда узел передачи выбирается случайно, и тогда каждая дейтаграмма будет идти по случайной траектории</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248636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5496" y="274638"/>
            <a:ext cx="8496944" cy="1143000"/>
          </a:xfrm>
        </p:spPr>
        <p:txBody>
          <a:bodyPr/>
          <a:lstStyle/>
          <a:p>
            <a:pPr algn="ctr"/>
            <a:r>
              <a:rPr lang="ru-RU" sz="4400" b="1" dirty="0"/>
              <a:t>Методы пакетной коммутации: </a:t>
            </a:r>
            <a:r>
              <a:rPr lang="ru-RU" sz="4400" b="1" u="sng" dirty="0" smtClean="0"/>
              <a:t>Виртуальный метод</a:t>
            </a:r>
            <a:endParaRPr lang="ru-RU" sz="4400" u="sng" dirty="0"/>
          </a:p>
        </p:txBody>
      </p:sp>
      <p:sp>
        <p:nvSpPr>
          <p:cNvPr id="3" name="Объект 2"/>
          <p:cNvSpPr>
            <a:spLocks noGrp="1"/>
          </p:cNvSpPr>
          <p:nvPr>
            <p:ph idx="1"/>
          </p:nvPr>
        </p:nvSpPr>
        <p:spPr>
          <a:xfrm>
            <a:off x="107504" y="1600200"/>
            <a:ext cx="8352928" cy="5257800"/>
          </a:xfrm>
        </p:spPr>
        <p:txBody>
          <a:bodyPr>
            <a:normAutofit/>
          </a:bodyPr>
          <a:lstStyle/>
          <a:p>
            <a:pPr marL="114300" indent="0">
              <a:buNone/>
            </a:pPr>
            <a:r>
              <a:rPr lang="ru-RU" dirty="0">
                <a:latin typeface="Times New Roman" panose="02020603050405020304" pitchFamily="18" charset="0"/>
                <a:cs typeface="Times New Roman" panose="02020603050405020304" pitchFamily="18" charset="0"/>
              </a:rPr>
              <a:t>Этот метод предполагает предварительное установление маршрута передачи всего сообщения от отправителя до получателя с помощью специального </a:t>
            </a:r>
            <a:r>
              <a:rPr lang="ru-RU" b="1" dirty="0">
                <a:latin typeface="Times New Roman" panose="02020603050405020304" pitchFamily="18" charset="0"/>
                <a:cs typeface="Times New Roman" panose="02020603050405020304" pitchFamily="18" charset="0"/>
              </a:rPr>
              <a:t>служебного пакета - запроса вызова</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Для этого пакета выбирается маршрут, который в случае согласия получателя этого пакета на соединение закрепляется для прохождения по нему всего трафика. Пакет запроса на соединение </a:t>
            </a:r>
            <a:r>
              <a:rPr lang="ru-RU" dirty="0" smtClean="0">
                <a:latin typeface="Times New Roman" panose="02020603050405020304" pitchFamily="18" charset="0"/>
                <a:cs typeface="Times New Roman" panose="02020603050405020304" pitchFamily="18" charset="0"/>
              </a:rPr>
              <a:t>прокладывает </a:t>
            </a:r>
            <a:r>
              <a:rPr lang="ru-RU" dirty="0">
                <a:latin typeface="Times New Roman" panose="02020603050405020304" pitchFamily="18" charset="0"/>
                <a:cs typeface="Times New Roman" panose="02020603050405020304" pitchFamily="18" charset="0"/>
              </a:rPr>
              <a:t>через сеть </a:t>
            </a:r>
            <a:r>
              <a:rPr lang="ru-RU" dirty="0" smtClean="0">
                <a:latin typeface="Times New Roman" panose="02020603050405020304" pitchFamily="18" charset="0"/>
                <a:cs typeface="Times New Roman" panose="02020603050405020304" pitchFamily="18" charset="0"/>
              </a:rPr>
              <a:t>путь, </a:t>
            </a:r>
            <a:r>
              <a:rPr lang="ru-RU" dirty="0">
                <a:latin typeface="Times New Roman" panose="02020603050405020304" pitchFamily="18" charset="0"/>
                <a:cs typeface="Times New Roman" panose="02020603050405020304" pitchFamily="18" charset="0"/>
              </a:rPr>
              <a:t>по которому пойдут все пакеты, относящиеся к этому вызову</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Метод называется виртуальным потому, что </a:t>
            </a:r>
            <a:r>
              <a:rPr lang="ru-RU" dirty="0" smtClean="0">
                <a:latin typeface="Times New Roman" panose="02020603050405020304" pitchFamily="18" charset="0"/>
                <a:cs typeface="Times New Roman" panose="02020603050405020304" pitchFamily="18" charset="0"/>
              </a:rPr>
              <a:t>не </a:t>
            </a:r>
            <a:r>
              <a:rPr lang="ru-RU" dirty="0">
                <a:latin typeface="Times New Roman" panose="02020603050405020304" pitchFamily="18" charset="0"/>
                <a:cs typeface="Times New Roman" panose="02020603050405020304" pitchFamily="18" charset="0"/>
              </a:rPr>
              <a:t>коммутируется реальный физический </a:t>
            </a:r>
            <a:r>
              <a:rPr lang="ru-RU" dirty="0" smtClean="0">
                <a:latin typeface="Times New Roman" panose="02020603050405020304" pitchFamily="18" charset="0"/>
                <a:cs typeface="Times New Roman" panose="02020603050405020304" pitchFamily="18" charset="0"/>
              </a:rPr>
              <a:t>тракт, </a:t>
            </a:r>
            <a:r>
              <a:rPr lang="ru-RU" dirty="0">
                <a:latin typeface="Times New Roman" panose="02020603050405020304" pitchFamily="18" charset="0"/>
                <a:cs typeface="Times New Roman" panose="02020603050405020304" pitchFamily="18" charset="0"/>
              </a:rPr>
              <a:t>а устанавливается логическая связка между отправителем и получателем, - т.е. коммутируется виртуальный (воображаемый) тракт</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017092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a:bodyPr>
          <a:lstStyle/>
          <a:p>
            <a:pPr marL="114300" indent="0">
              <a:buNone/>
            </a:pPr>
            <a:r>
              <a:rPr lang="ru-RU" dirty="0">
                <a:latin typeface="Times New Roman" panose="02020603050405020304" pitchFamily="18" charset="0"/>
                <a:cs typeface="Times New Roman" panose="02020603050405020304" pitchFamily="18" charset="0"/>
              </a:rPr>
              <a:t>В виртуальной сети абоненту-получателю направляется служебный пакет, прокладывающий виртуальное соединение</a:t>
            </a:r>
            <a:r>
              <a:rPr lang="ru-RU" dirty="0" smtClean="0">
                <a:latin typeface="Times New Roman" panose="02020603050405020304" pitchFamily="18" charset="0"/>
                <a:cs typeface="Times New Roman" panose="02020603050405020304" pitchFamily="18" charset="0"/>
              </a:rPr>
              <a:t>.</a:t>
            </a:r>
          </a:p>
          <a:p>
            <a:pPr marL="114300" indent="0">
              <a:buNone/>
            </a:pPr>
            <a:r>
              <a:rPr lang="ru-RU" dirty="0" smtClean="0">
                <a:latin typeface="Times New Roman" panose="02020603050405020304" pitchFamily="18" charset="0"/>
                <a:cs typeface="Times New Roman" panose="02020603050405020304" pitchFamily="18" charset="0"/>
              </a:rPr>
              <a:t>В </a:t>
            </a:r>
            <a:r>
              <a:rPr lang="ru-RU" dirty="0">
                <a:latin typeface="Times New Roman" panose="02020603050405020304" pitchFamily="18" charset="0"/>
                <a:cs typeface="Times New Roman" panose="02020603050405020304" pitchFamily="18" charset="0"/>
              </a:rPr>
              <a:t>каждом узле этот пакет оставляет распоряжение вида: пакеты </a:t>
            </a:r>
            <a:r>
              <a:rPr lang="ru-RU" i="1" dirty="0">
                <a:latin typeface="Times New Roman" panose="02020603050405020304" pitchFamily="18" charset="0"/>
                <a:cs typeface="Times New Roman" panose="02020603050405020304" pitchFamily="18" charset="0"/>
              </a:rPr>
              <a:t>k</a:t>
            </a:r>
            <a:r>
              <a:rPr lang="ru-RU"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го</a:t>
            </a:r>
            <a:r>
              <a:rPr lang="ru-RU" dirty="0">
                <a:latin typeface="Times New Roman" panose="02020603050405020304" pitchFamily="18" charset="0"/>
                <a:cs typeface="Times New Roman" panose="02020603050405020304" pitchFamily="18" charset="0"/>
              </a:rPr>
              <a:t> виртуального соединения, пришедшие из </a:t>
            </a:r>
            <a:r>
              <a:rPr lang="ru-RU" i="1" dirty="0">
                <a:latin typeface="Times New Roman" panose="02020603050405020304" pitchFamily="18" charset="0"/>
                <a:cs typeface="Times New Roman" panose="02020603050405020304" pitchFamily="18" charset="0"/>
              </a:rPr>
              <a:t>i</a:t>
            </a:r>
            <a:r>
              <a:rPr lang="ru-RU"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го</a:t>
            </a:r>
            <a:r>
              <a:rPr lang="ru-RU" dirty="0">
                <a:latin typeface="Times New Roman" panose="02020603050405020304" pitchFamily="18" charset="0"/>
                <a:cs typeface="Times New Roman" panose="02020603050405020304" pitchFamily="18" charset="0"/>
              </a:rPr>
              <a:t> канала, следует направлять в </a:t>
            </a:r>
            <a:r>
              <a:rPr lang="ru-RU" i="1" dirty="0">
                <a:latin typeface="Times New Roman" panose="02020603050405020304" pitchFamily="18" charset="0"/>
                <a:cs typeface="Times New Roman" panose="02020603050405020304" pitchFamily="18" charset="0"/>
              </a:rPr>
              <a:t>j</a:t>
            </a:r>
            <a:r>
              <a:rPr lang="ru-RU" dirty="0">
                <a:latin typeface="Times New Roman" panose="02020603050405020304" pitchFamily="18" charset="0"/>
                <a:cs typeface="Times New Roman" panose="02020603050405020304" pitchFamily="18" charset="0"/>
              </a:rPr>
              <a:t>-й канал. </a:t>
            </a:r>
            <a:endParaRPr lang="ru-RU" dirty="0" smtClean="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0" y="274638"/>
            <a:ext cx="8388424" cy="1143000"/>
          </a:xfrm>
        </p:spPr>
        <p:txBody>
          <a:bodyPr/>
          <a:lstStyle/>
          <a:p>
            <a:pPr algn="ctr"/>
            <a:r>
              <a:rPr lang="ru-RU" sz="4400" b="1" dirty="0"/>
              <a:t>Методы пакетной коммутации: </a:t>
            </a:r>
            <a:r>
              <a:rPr lang="ru-RU" sz="4400" b="1" u="sng" dirty="0" smtClean="0"/>
              <a:t>Виртуальный метод</a:t>
            </a:r>
            <a:endParaRPr lang="ru-RU" sz="4400" u="sng" dirty="0"/>
          </a:p>
        </p:txBody>
      </p:sp>
    </p:spTree>
    <p:extLst>
      <p:ext uri="{BB962C8B-B14F-4D97-AF65-F5344CB8AC3E}">
        <p14:creationId xmlns:p14="http://schemas.microsoft.com/office/powerpoint/2010/main" val="2744031775"/>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844824"/>
            <a:ext cx="7620000" cy="4555976"/>
          </a:xfrm>
        </p:spPr>
        <p:txBody>
          <a:bodyPr>
            <a:noAutofit/>
          </a:bodyPr>
          <a:lstStyle/>
          <a:p>
            <a:pPr marL="114300" indent="0">
              <a:buNone/>
            </a:pPr>
            <a:endParaRPr lang="ru-RU" sz="2400" dirty="0">
              <a:latin typeface="Times New Roman" panose="02020603050405020304" pitchFamily="18" charset="0"/>
              <a:cs typeface="Times New Roman" panose="02020603050405020304" pitchFamily="18" charset="0"/>
            </a:endParaRPr>
          </a:p>
          <a:p>
            <a:pPr marL="114300" indent="0">
              <a:buNone/>
            </a:pPr>
            <a:r>
              <a:rPr lang="ru-RU" sz="2400" dirty="0">
                <a:latin typeface="Times New Roman" panose="02020603050405020304" pitchFamily="18" charset="0"/>
                <a:cs typeface="Times New Roman" panose="02020603050405020304" pitchFamily="18" charset="0"/>
              </a:rPr>
              <a:t>Виртуальное соединение может существовать до тех пор, пока отправленный одним из абонентов специальный служебный пакет не сотрет инструкции в узлах.</a:t>
            </a:r>
          </a:p>
          <a:p>
            <a:pPr marL="114300" indent="0">
              <a:buNone/>
            </a:pPr>
            <a:r>
              <a:rPr lang="ru-RU" sz="2400" dirty="0">
                <a:latin typeface="Times New Roman" panose="02020603050405020304" pitchFamily="18" charset="0"/>
                <a:cs typeface="Times New Roman" panose="02020603050405020304" pitchFamily="18" charset="0"/>
              </a:rPr>
              <a:t>Режим виртуальных соединений эффективен при передаче больших массивов информации</a:t>
            </a:r>
            <a:r>
              <a:rPr lang="ru-RU" sz="2400" dirty="0" smtClean="0">
                <a:latin typeface="Times New Roman" panose="02020603050405020304" pitchFamily="18" charset="0"/>
                <a:cs typeface="Times New Roman" panose="02020603050405020304" pitchFamily="18" charset="0"/>
              </a:rPr>
              <a:t>.</a:t>
            </a:r>
            <a:endParaRPr lang="ru-RU" sz="2400"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0" y="274638"/>
            <a:ext cx="8316913" cy="1143000"/>
          </a:xfrm>
        </p:spPr>
        <p:txBody>
          <a:bodyPr/>
          <a:lstStyle/>
          <a:p>
            <a:pPr algn="ctr"/>
            <a:r>
              <a:rPr lang="ru-RU" sz="4400" b="1" dirty="0"/>
              <a:t>Методы пакетной коммутации: </a:t>
            </a:r>
            <a:r>
              <a:rPr lang="ru-RU" sz="4400" b="1" u="sng" dirty="0" smtClean="0"/>
              <a:t>Виртуальный метод</a:t>
            </a:r>
            <a:endParaRPr lang="ru-RU" sz="4400" u="sng" dirty="0"/>
          </a:p>
        </p:txBody>
      </p:sp>
    </p:spTree>
    <p:extLst>
      <p:ext uri="{BB962C8B-B14F-4D97-AF65-F5344CB8AC3E}">
        <p14:creationId xmlns:p14="http://schemas.microsoft.com/office/powerpoint/2010/main" val="317196465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585" y="116632"/>
            <a:ext cx="8460432" cy="1143000"/>
          </a:xfrm>
        </p:spPr>
        <p:txBody>
          <a:bodyPr/>
          <a:lstStyle/>
          <a:p>
            <a:pPr algn="ctr"/>
            <a:r>
              <a:rPr lang="ru-RU" sz="4400" b="1" dirty="0"/>
              <a:t>Методы пакетной коммутации: </a:t>
            </a:r>
            <a:r>
              <a:rPr lang="ru-RU" sz="4400" b="1" u="sng" dirty="0"/>
              <a:t>Виртуальный метод</a:t>
            </a:r>
            <a:endParaRPr lang="ru-RU" sz="4400" dirty="0"/>
          </a:p>
        </p:txBody>
      </p:sp>
      <p:sp>
        <p:nvSpPr>
          <p:cNvPr id="3" name="Объект 2"/>
          <p:cNvSpPr>
            <a:spLocks noGrp="1"/>
          </p:cNvSpPr>
          <p:nvPr>
            <p:ph idx="1"/>
          </p:nvPr>
        </p:nvSpPr>
        <p:spPr>
          <a:xfrm>
            <a:off x="107504" y="1556792"/>
            <a:ext cx="8208912" cy="5184576"/>
          </a:xfrm>
        </p:spPr>
        <p:txBody>
          <a:bodyPr>
            <a:normAutofit/>
          </a:bodyPr>
          <a:lstStyle/>
          <a:p>
            <a:pPr marL="114300" indent="0">
              <a:buNone/>
            </a:pPr>
            <a:r>
              <a:rPr lang="ru-RU" b="1" dirty="0">
                <a:latin typeface="Times New Roman" panose="02020603050405020304" pitchFamily="18" charset="0"/>
                <a:cs typeface="Times New Roman" panose="02020603050405020304" pitchFamily="18" charset="0"/>
              </a:rPr>
              <a:t>Преимущества</a:t>
            </a:r>
            <a:r>
              <a:rPr lang="ru-RU" dirty="0">
                <a:latin typeface="Times New Roman" panose="02020603050405020304" pitchFamily="18" charset="0"/>
                <a:cs typeface="Times New Roman" panose="02020603050405020304" pitchFamily="18" charset="0"/>
              </a:rPr>
              <a:t> режима виртуальных соединений перед </a:t>
            </a:r>
            <a:r>
              <a:rPr lang="ru-RU" dirty="0" err="1">
                <a:latin typeface="Times New Roman" panose="02020603050405020304" pitchFamily="18" charset="0"/>
                <a:cs typeface="Times New Roman" panose="02020603050405020304" pitchFamily="18" charset="0"/>
              </a:rPr>
              <a:t>дейтаграммным</a:t>
            </a:r>
            <a:r>
              <a:rPr lang="ru-RU" dirty="0">
                <a:latin typeface="Times New Roman" panose="02020603050405020304" pitchFamily="18" charset="0"/>
                <a:cs typeface="Times New Roman" panose="02020603050405020304" pitchFamily="18" charset="0"/>
              </a:rPr>
              <a:t> заключается в обеспечении упорядоченности пакетов, поступающих в адрес получателя, и сравнительной простоте управления потоком данных вдоль маршрута в целях ограничения нагрузки в сети, в возможности предварительного резервирования ресурсов памяти на узлах коммутации</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К </a:t>
            </a:r>
            <a:r>
              <a:rPr lang="ru-RU" b="1" dirty="0">
                <a:latin typeface="Times New Roman" panose="02020603050405020304" pitchFamily="18" charset="0"/>
                <a:cs typeface="Times New Roman" panose="02020603050405020304" pitchFamily="18" charset="0"/>
              </a:rPr>
              <a:t>недостаткам</a:t>
            </a:r>
            <a:r>
              <a:rPr lang="ru-RU" dirty="0">
                <a:latin typeface="Times New Roman" panose="02020603050405020304" pitchFamily="18" charset="0"/>
                <a:cs typeface="Times New Roman" panose="02020603050405020304" pitchFamily="18" charset="0"/>
              </a:rPr>
              <a:t> следует отнести отсутствие воздействия изменившейся ситуации в сети на маршрут, который не корректируется до конца связи. </a:t>
            </a:r>
            <a:endParaRPr lang="ru-RU" dirty="0" smtClean="0">
              <a:latin typeface="Times New Roman" panose="02020603050405020304" pitchFamily="18" charset="0"/>
              <a:cs typeface="Times New Roman" panose="02020603050405020304" pitchFamily="18" charset="0"/>
            </a:endParaRPr>
          </a:p>
          <a:p>
            <a:pPr marL="114300" indent="0" algn="r">
              <a:buNone/>
            </a:pPr>
            <a:r>
              <a:rPr lang="ru-RU" i="1" dirty="0" smtClean="0">
                <a:latin typeface="Times New Roman" panose="02020603050405020304" pitchFamily="18" charset="0"/>
                <a:cs typeface="Times New Roman" panose="02020603050405020304" pitchFamily="18" charset="0"/>
              </a:rPr>
              <a:t>Виртуальная сеть в значительно меньшей степени подвержена перегрузкам и зацикливанию пакетов, за что приходится платить худшим использованием каналов и большей чувствительностью к изменению топологии сети.</a:t>
            </a:r>
            <a:endParaRPr lang="ru-RU" i="1" dirty="0"/>
          </a:p>
        </p:txBody>
      </p:sp>
    </p:spTree>
    <p:extLst>
      <p:ext uri="{BB962C8B-B14F-4D97-AF65-F5344CB8AC3E}">
        <p14:creationId xmlns:p14="http://schemas.microsoft.com/office/powerpoint/2010/main" val="53005766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274638"/>
            <a:ext cx="8460432" cy="1143000"/>
          </a:xfrm>
        </p:spPr>
        <p:txBody>
          <a:bodyPr/>
          <a:lstStyle/>
          <a:p>
            <a:pPr algn="ctr"/>
            <a:r>
              <a:rPr lang="ru-RU" sz="4400" b="1" dirty="0">
                <a:latin typeface="Times New Roman" panose="02020603050405020304" pitchFamily="18" charset="0"/>
                <a:cs typeface="Times New Roman" panose="02020603050405020304" pitchFamily="18" charset="0"/>
              </a:rPr>
              <a:t>Модель OSI.  Модель IEEE </a:t>
            </a:r>
            <a:r>
              <a:rPr lang="ru-RU" sz="4400" b="1" dirty="0" err="1">
                <a:latin typeface="Times New Roman" panose="02020603050405020304" pitchFamily="18" charset="0"/>
                <a:cs typeface="Times New Roman" panose="02020603050405020304" pitchFamily="18" charset="0"/>
              </a:rPr>
              <a:t>Project</a:t>
            </a:r>
            <a:r>
              <a:rPr lang="ru-RU" sz="4400" b="1" dirty="0">
                <a:latin typeface="Times New Roman" panose="02020603050405020304" pitchFamily="18" charset="0"/>
                <a:cs typeface="Times New Roman" panose="02020603050405020304" pitchFamily="18" charset="0"/>
              </a:rPr>
              <a:t> 802</a:t>
            </a:r>
            <a:endParaRPr lang="ru-RU" sz="4400"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79512" y="1600200"/>
            <a:ext cx="7897688" cy="5141168"/>
          </a:xfrm>
        </p:spPr>
        <p:txBody>
          <a:bodyPr>
            <a:normAutofit lnSpcReduction="10000"/>
          </a:bodyPr>
          <a:lstStyle/>
          <a:p>
            <a:pPr marL="114300" indent="0">
              <a:buNone/>
            </a:pPr>
            <a:r>
              <a:rPr lang="ru-RU" b="1" dirty="0">
                <a:latin typeface="Times New Roman" panose="02020603050405020304" pitchFamily="18" charset="0"/>
                <a:cs typeface="Times New Roman" panose="02020603050405020304" pitchFamily="18" charset="0"/>
              </a:rPr>
              <a:t>Модель IEEE </a:t>
            </a:r>
            <a:r>
              <a:rPr lang="ru-RU" b="1" dirty="0" err="1">
                <a:latin typeface="Times New Roman" panose="02020603050405020304" pitchFamily="18" charset="0"/>
                <a:cs typeface="Times New Roman" panose="02020603050405020304" pitchFamily="18" charset="0"/>
              </a:rPr>
              <a:t>Project</a:t>
            </a:r>
            <a:r>
              <a:rPr lang="ru-RU" b="1" dirty="0">
                <a:latin typeface="Times New Roman" panose="02020603050405020304" pitchFamily="18" charset="0"/>
                <a:cs typeface="Times New Roman" panose="02020603050405020304" pitchFamily="18" charset="0"/>
              </a:rPr>
              <a:t> 802</a:t>
            </a:r>
          </a:p>
          <a:p>
            <a:pPr marL="114300" indent="0">
              <a:buNone/>
            </a:pPr>
            <a:r>
              <a:rPr lang="ru-RU" dirty="0">
                <a:latin typeface="Times New Roman" panose="02020603050405020304" pitchFamily="18" charset="0"/>
                <a:cs typeface="Times New Roman" panose="02020603050405020304" pitchFamily="18" charset="0"/>
              </a:rPr>
              <a:t>В конце 70-х годов, когда ЛВС стали восприниматься в качестве потенциального инструмента для ведения бизнеса, IEEE пришел к выводу: необходимо определить для них стандарты. В результате был выпущен </a:t>
            </a:r>
            <a:r>
              <a:rPr lang="ru-RU" dirty="0" err="1">
                <a:latin typeface="Times New Roman" panose="02020603050405020304" pitchFamily="18" charset="0"/>
                <a:cs typeface="Times New Roman" panose="02020603050405020304" pitchFamily="18" charset="0"/>
              </a:rPr>
              <a:t>Project</a:t>
            </a:r>
            <a:r>
              <a:rPr lang="ru-RU" dirty="0">
                <a:latin typeface="Times New Roman" panose="02020603050405020304" pitchFamily="18" charset="0"/>
                <a:cs typeface="Times New Roman" panose="02020603050405020304" pitchFamily="18" charset="0"/>
              </a:rPr>
              <a:t> 802, названный в соответствии с годом и месяцем своего издания (1980 год, февраль).</a:t>
            </a:r>
          </a:p>
          <a:p>
            <a:pPr marL="114300" indent="0">
              <a:buNone/>
            </a:pPr>
            <a:r>
              <a:rPr lang="ru-RU" dirty="0">
                <a:latin typeface="Times New Roman" panose="02020603050405020304" pitchFamily="18" charset="0"/>
                <a:cs typeface="Times New Roman" panose="02020603050405020304" pitchFamily="18" charset="0"/>
              </a:rPr>
              <a:t>Хотя публикация стандартов IEEE опередила публикацию стандартов ISO, оба проекта велись приблизительно в одно время и при полном обмене информацией, что и привело к рождению двух совместимых моделей.</a:t>
            </a:r>
          </a:p>
          <a:p>
            <a:pPr marL="114300" indent="0">
              <a:buNone/>
            </a:pPr>
            <a:r>
              <a:rPr lang="ru-RU" dirty="0" err="1">
                <a:latin typeface="Times New Roman" panose="02020603050405020304" pitchFamily="18" charset="0"/>
                <a:cs typeface="Times New Roman" panose="02020603050405020304" pitchFamily="18" charset="0"/>
              </a:rPr>
              <a:t>Project</a:t>
            </a:r>
            <a:r>
              <a:rPr lang="ru-RU" dirty="0">
                <a:latin typeface="Times New Roman" panose="02020603050405020304" pitchFamily="18" charset="0"/>
                <a:cs typeface="Times New Roman" panose="02020603050405020304" pitchFamily="18" charset="0"/>
              </a:rPr>
              <a:t> 802 установил стандарты для физических компонентов сети — интерфейсных плат и кабельной системы, — с которыми имеют дело Физический и Канальный уровни модели OSI</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788776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07504" y="1600200"/>
            <a:ext cx="8280920" cy="4800600"/>
          </a:xfrm>
        </p:spPr>
        <p:txBody>
          <a:bodyPr/>
          <a:lstStyle/>
          <a:p>
            <a:pPr marL="114300" indent="0">
              <a:buNone/>
            </a:pPr>
            <a:r>
              <a:rPr lang="ru-RU" dirty="0" smtClean="0">
                <a:latin typeface="Times New Roman" panose="02020603050405020304" pitchFamily="18" charset="0"/>
                <a:cs typeface="Times New Roman" panose="02020603050405020304" pitchFamily="18" charset="0"/>
              </a:rPr>
              <a:t>Стандарты</a:t>
            </a:r>
            <a:r>
              <a:rPr lang="ru-RU" dirty="0">
                <a:latin typeface="Times New Roman" panose="02020603050405020304" pitchFamily="18" charset="0"/>
                <a:cs typeface="Times New Roman" panose="02020603050405020304" pitchFamily="18" charset="0"/>
              </a:rPr>
              <a:t>, называемые 802-спецификациями, распространяются:</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на платы сетевых адаптеров;</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компоненты глобальных вычислительных сетей;</a:t>
            </a:r>
          </a:p>
          <a:p>
            <a:pPr>
              <a:buFont typeface="Wingdings" panose="05000000000000000000" pitchFamily="2" charset="2"/>
              <a:buChar char="ü"/>
            </a:pPr>
            <a:r>
              <a:rPr lang="ru-RU" dirty="0">
                <a:latin typeface="Times New Roman" panose="02020603050405020304" pitchFamily="18" charset="0"/>
                <a:cs typeface="Times New Roman" panose="02020603050405020304" pitchFamily="18" charset="0"/>
              </a:rPr>
              <a:t>компоненты сетей, при построении которых используют коаксиальный кабель и витую пару.</a:t>
            </a:r>
          </a:p>
          <a:p>
            <a:pPr marL="114300" indent="0">
              <a:buNone/>
            </a:pPr>
            <a:r>
              <a:rPr lang="ru-RU" dirty="0">
                <a:latin typeface="Times New Roman" panose="02020603050405020304" pitchFamily="18" charset="0"/>
                <a:cs typeface="Times New Roman" panose="02020603050405020304" pitchFamily="18" charset="0"/>
              </a:rPr>
              <a:t>802 - спецификации определяют способы, в соответствии с которыми платы сетевых адаптеров осуществляют доступ к физической среде и передают по ней данные. Сюда относятся соединение, поддержка и разъединение сетевых устройств</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p:txBody>
          <a:bodyPr/>
          <a:lstStyle/>
          <a:p>
            <a:pPr algn="ctr"/>
            <a:r>
              <a:rPr lang="ru-RU" sz="4400" b="1" dirty="0">
                <a:latin typeface="Times New Roman" panose="02020603050405020304" pitchFamily="18" charset="0"/>
                <a:cs typeface="Times New Roman" panose="02020603050405020304" pitchFamily="18" charset="0"/>
              </a:rPr>
              <a:t>Модель OSI.  Модель IEEE </a:t>
            </a:r>
            <a:r>
              <a:rPr lang="ru-RU" sz="4400" b="1" dirty="0" err="1">
                <a:latin typeface="Times New Roman" panose="02020603050405020304" pitchFamily="18" charset="0"/>
                <a:cs typeface="Times New Roman" panose="02020603050405020304" pitchFamily="18" charset="0"/>
              </a:rPr>
              <a:t>Project</a:t>
            </a:r>
            <a:r>
              <a:rPr lang="ru-RU" sz="4400" b="1" dirty="0">
                <a:latin typeface="Times New Roman" panose="02020603050405020304" pitchFamily="18" charset="0"/>
                <a:cs typeface="Times New Roman" panose="02020603050405020304" pitchFamily="18" charset="0"/>
              </a:rPr>
              <a:t> 802</a:t>
            </a:r>
            <a:endParaRPr lang="ru-RU"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406276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73968" y="-99392"/>
            <a:ext cx="7620000" cy="1143000"/>
          </a:xfrm>
        </p:spPr>
        <p:txBody>
          <a:bodyPr/>
          <a:lstStyle/>
          <a:p>
            <a:pPr algn="ctr"/>
            <a:r>
              <a:rPr lang="ru-RU" b="1" dirty="0">
                <a:latin typeface="Times New Roman" panose="02020603050405020304" pitchFamily="18" charset="0"/>
                <a:cs typeface="Times New Roman" panose="02020603050405020304" pitchFamily="18" charset="0"/>
              </a:rPr>
              <a:t>Категории</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7504" y="1268760"/>
            <a:ext cx="8352928" cy="5400600"/>
          </a:xfrm>
        </p:spPr>
        <p:txBody>
          <a:bodyPr>
            <a:normAutofit fontScale="85000" lnSpcReduction="20000"/>
          </a:bodyPr>
          <a:lstStyle/>
          <a:p>
            <a:pPr marL="114300" indent="0">
              <a:buNone/>
            </a:pPr>
            <a:r>
              <a:rPr lang="ru-RU" dirty="0" smtClean="0">
                <a:latin typeface="Times New Roman" panose="02020603050405020304" pitchFamily="18" charset="0"/>
                <a:cs typeface="Times New Roman" panose="02020603050405020304" pitchFamily="18" charset="0"/>
              </a:rPr>
              <a:t>Стандарты </a:t>
            </a:r>
            <a:r>
              <a:rPr lang="ru-RU" dirty="0">
                <a:latin typeface="Times New Roman" panose="02020603050405020304" pitchFamily="18" charset="0"/>
                <a:cs typeface="Times New Roman" panose="02020603050405020304" pitchFamily="18" charset="0"/>
              </a:rPr>
              <a:t>ЛВС, определенные </a:t>
            </a:r>
            <a:r>
              <a:rPr lang="ru-RU" dirty="0" err="1">
                <a:latin typeface="Times New Roman" panose="02020603050405020304" pitchFamily="18" charset="0"/>
                <a:cs typeface="Times New Roman" panose="02020603050405020304" pitchFamily="18" charset="0"/>
              </a:rPr>
              <a:t>Project</a:t>
            </a:r>
            <a:r>
              <a:rPr lang="ru-RU" dirty="0">
                <a:latin typeface="Times New Roman" panose="02020603050405020304" pitchFamily="18" charset="0"/>
                <a:cs typeface="Times New Roman" panose="02020603050405020304" pitchFamily="18" charset="0"/>
              </a:rPr>
              <a:t> 802, делятся на 12 категорий, каждая из которых имеет свой номер.</a:t>
            </a:r>
          </a:p>
          <a:p>
            <a:r>
              <a:rPr lang="ru-RU" dirty="0">
                <a:latin typeface="Times New Roman" panose="02020603050405020304" pitchFamily="18" charset="0"/>
                <a:cs typeface="Times New Roman" panose="02020603050405020304" pitchFamily="18" charset="0"/>
              </a:rPr>
              <a:t>802.1 — объединение сетей.</a:t>
            </a:r>
          </a:p>
          <a:p>
            <a:r>
              <a:rPr lang="ru-RU" dirty="0">
                <a:latin typeface="Times New Roman" panose="02020603050405020304" pitchFamily="18" charset="0"/>
                <a:cs typeface="Times New Roman" panose="02020603050405020304" pitchFamily="18" charset="0"/>
              </a:rPr>
              <a:t>802.2 — Управление логической связью.</a:t>
            </a:r>
          </a:p>
          <a:p>
            <a:r>
              <a:rPr lang="ru-RU" dirty="0">
                <a:latin typeface="Times New Roman" panose="02020603050405020304" pitchFamily="18" charset="0"/>
                <a:cs typeface="Times New Roman" panose="02020603050405020304" pitchFamily="18" charset="0"/>
              </a:rPr>
              <a:t>802.3 — ЛВС с множественным доступом, контролем несущей и обнаружением коллизий (Ethernet).</a:t>
            </a:r>
          </a:p>
          <a:p>
            <a:r>
              <a:rPr lang="ru-RU" dirty="0">
                <a:latin typeface="Times New Roman" panose="02020603050405020304" pitchFamily="18" charset="0"/>
                <a:cs typeface="Times New Roman" panose="02020603050405020304" pitchFamily="18" charset="0"/>
              </a:rPr>
              <a:t>802.4 — ЛВС топологии «шина» с передачей маркера.</a:t>
            </a:r>
          </a:p>
          <a:p>
            <a:r>
              <a:rPr lang="ru-RU" dirty="0">
                <a:latin typeface="Times New Roman" panose="02020603050405020304" pitchFamily="18" charset="0"/>
                <a:cs typeface="Times New Roman" panose="02020603050405020304" pitchFamily="18" charset="0"/>
              </a:rPr>
              <a:t>802.5 — ЛВС топологии «кольцо» с передачей маркера.</a:t>
            </a:r>
          </a:p>
          <a:p>
            <a:r>
              <a:rPr lang="ru-RU" dirty="0">
                <a:latin typeface="Times New Roman" panose="02020603050405020304" pitchFamily="18" charset="0"/>
                <a:cs typeface="Times New Roman" panose="02020603050405020304" pitchFamily="18" charset="0"/>
              </a:rPr>
              <a:t>802.6 — сеть масштаба города (</a:t>
            </a:r>
            <a:r>
              <a:rPr lang="ru-RU" dirty="0" err="1">
                <a:latin typeface="Times New Roman" panose="02020603050405020304" pitchFamily="18" charset="0"/>
                <a:cs typeface="Times New Roman" panose="02020603050405020304" pitchFamily="18" charset="0"/>
              </a:rPr>
              <a:t>Metropolitan</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Area</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Network</a:t>
            </a:r>
            <a:r>
              <a:rPr lang="ru-RU" dirty="0">
                <a:latin typeface="Times New Roman" panose="02020603050405020304" pitchFamily="18" charset="0"/>
                <a:cs typeface="Times New Roman" panose="02020603050405020304" pitchFamily="18" charset="0"/>
              </a:rPr>
              <a:t>, MAN).</a:t>
            </a:r>
          </a:p>
          <a:p>
            <a:r>
              <a:rPr lang="ru-RU" dirty="0">
                <a:latin typeface="Times New Roman" panose="02020603050405020304" pitchFamily="18" charset="0"/>
                <a:cs typeface="Times New Roman" panose="02020603050405020304" pitchFamily="18" charset="0"/>
              </a:rPr>
              <a:t>802.7 — Консультативный совет по широковещательной технологии (</a:t>
            </a:r>
            <a:r>
              <a:rPr lang="ru-RU" dirty="0" err="1">
                <a:latin typeface="Times New Roman" panose="02020603050405020304" pitchFamily="18" charset="0"/>
                <a:cs typeface="Times New Roman" panose="02020603050405020304" pitchFamily="18" charset="0"/>
              </a:rPr>
              <a:t>Broadcast</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Technical</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Advisory</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Group</a:t>
            </a:r>
            <a:r>
              <a:rPr lang="ru-RU" dirty="0">
                <a:latin typeface="Times New Roman" panose="02020603050405020304" pitchFamily="18" charset="0"/>
                <a:cs typeface="Times New Roman" panose="02020603050405020304" pitchFamily="18" charset="0"/>
              </a:rPr>
              <a:t>).</a:t>
            </a:r>
          </a:p>
          <a:p>
            <a:r>
              <a:rPr lang="ru-RU" dirty="0">
                <a:latin typeface="Times New Roman" panose="02020603050405020304" pitchFamily="18" charset="0"/>
                <a:cs typeface="Times New Roman" panose="02020603050405020304" pitchFamily="18" charset="0"/>
              </a:rPr>
              <a:t>802.8 -- Консультативный совет по оптоволоконной технологии (</a:t>
            </a:r>
            <a:r>
              <a:rPr lang="ru-RU" dirty="0" err="1">
                <a:latin typeface="Times New Roman" panose="02020603050405020304" pitchFamily="18" charset="0"/>
                <a:cs typeface="Times New Roman" panose="02020603050405020304" pitchFamily="18" charset="0"/>
              </a:rPr>
              <a:t>Fiber-Optic</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Technical</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Advisory</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Group</a:t>
            </a:r>
            <a:r>
              <a:rPr lang="ru-RU" dirty="0">
                <a:latin typeface="Times New Roman" panose="02020603050405020304" pitchFamily="18" charset="0"/>
                <a:cs typeface="Times New Roman" panose="02020603050405020304" pitchFamily="18" charset="0"/>
              </a:rPr>
              <a:t>).</a:t>
            </a:r>
          </a:p>
          <a:p>
            <a:r>
              <a:rPr lang="ru-RU" dirty="0">
                <a:latin typeface="Times New Roman" panose="02020603050405020304" pitchFamily="18" charset="0"/>
                <a:cs typeface="Times New Roman" panose="02020603050405020304" pitchFamily="18" charset="0"/>
              </a:rPr>
              <a:t>802.9 — Интегрированные сети с передачей речи и данных (</a:t>
            </a:r>
            <a:r>
              <a:rPr lang="ru-RU" dirty="0" err="1">
                <a:latin typeface="Times New Roman" panose="02020603050405020304" pitchFamily="18" charset="0"/>
                <a:cs typeface="Times New Roman" panose="02020603050405020304" pitchFamily="18" charset="0"/>
              </a:rPr>
              <a:t>Integrated</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Voice</a:t>
            </a:r>
            <a:r>
              <a:rPr lang="ru-RU"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Data</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Networks</a:t>
            </a:r>
            <a:r>
              <a:rPr lang="ru-RU" dirty="0">
                <a:latin typeface="Times New Roman" panose="02020603050405020304" pitchFamily="18" charset="0"/>
                <a:cs typeface="Times New Roman" panose="02020603050405020304" pitchFamily="18" charset="0"/>
              </a:rPr>
              <a:t>).</a:t>
            </a:r>
          </a:p>
          <a:p>
            <a:r>
              <a:rPr lang="ru-RU" dirty="0">
                <a:latin typeface="Times New Roman" panose="02020603050405020304" pitchFamily="18" charset="0"/>
                <a:cs typeface="Times New Roman" panose="02020603050405020304" pitchFamily="18" charset="0"/>
              </a:rPr>
              <a:t>802.10 — Безопасность сетей.</a:t>
            </a:r>
          </a:p>
          <a:p>
            <a:r>
              <a:rPr lang="ru-RU" dirty="0">
                <a:latin typeface="Times New Roman" panose="02020603050405020304" pitchFamily="18" charset="0"/>
                <a:cs typeface="Times New Roman" panose="02020603050405020304" pitchFamily="18" charset="0"/>
              </a:rPr>
              <a:t>802.11 — Беспроводная сеть.</a:t>
            </a:r>
          </a:p>
          <a:p>
            <a:r>
              <a:rPr lang="ru-RU" dirty="0">
                <a:latin typeface="Times New Roman" panose="02020603050405020304" pitchFamily="18" charset="0"/>
                <a:cs typeface="Times New Roman" panose="02020603050405020304" pitchFamily="18" charset="0"/>
              </a:rPr>
              <a:t>802.12 — ЛВС с доступом по приоритету запроса (</a:t>
            </a:r>
            <a:r>
              <a:rPr lang="ru-RU" dirty="0" err="1">
                <a:latin typeface="Times New Roman" panose="02020603050405020304" pitchFamily="18" charset="0"/>
                <a:cs typeface="Times New Roman" panose="02020603050405020304" pitchFamily="18" charset="0"/>
              </a:rPr>
              <a:t>Demand</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Priority</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Access</a:t>
            </a:r>
            <a:r>
              <a:rPr lang="ru-RU" dirty="0">
                <a:latin typeface="Times New Roman" panose="02020603050405020304" pitchFamily="18" charset="0"/>
                <a:cs typeface="Times New Roman" panose="02020603050405020304" pitchFamily="18" charset="0"/>
              </a:rPr>
              <a:t> LAN, </a:t>
            </a:r>
            <a:r>
              <a:rPr lang="ru-RU" dirty="0" err="1">
                <a:latin typeface="Times New Roman" panose="02020603050405020304" pitchFamily="18" charset="0"/>
                <a:cs typeface="Times New Roman" panose="02020603050405020304" pitchFamily="18" charset="0"/>
              </a:rPr>
              <a:t>lOObaseVG-AnyLan</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620241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Расширения модели </a:t>
            </a:r>
            <a:r>
              <a:rPr lang="en-US" b="1" dirty="0" smtClean="0">
                <a:latin typeface="Times New Roman" panose="02020603050405020304" pitchFamily="18" charset="0"/>
                <a:cs typeface="Times New Roman" panose="02020603050405020304" pitchFamily="18" charset="0"/>
              </a:rPr>
              <a:t>OSI</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7504" y="1196752"/>
            <a:ext cx="8352928" cy="5544616"/>
          </a:xfrm>
        </p:spPr>
        <p:txBody>
          <a:bodyPr>
            <a:normAutofit fontScale="85000" lnSpcReduction="20000"/>
          </a:bodyPr>
          <a:lstStyle/>
          <a:p>
            <a:pPr marL="114300" indent="0">
              <a:buNone/>
            </a:pPr>
            <a:r>
              <a:rPr lang="ru-RU" dirty="0">
                <a:latin typeface="Times New Roman" panose="02020603050405020304" pitchFamily="18" charset="0"/>
                <a:cs typeface="Times New Roman" panose="02020603050405020304" pitchFamily="18" charset="0"/>
              </a:rPr>
              <a:t>Два нижних уровня модели OSI, Физический и Канальный, устанавливают, каким образом несколько компьютеров могут одновременно использовать сеть, чтобы при этом не мешать друг другу.</a:t>
            </a:r>
          </a:p>
          <a:p>
            <a:pPr marL="114300" indent="0">
              <a:buNone/>
            </a:pPr>
            <a:r>
              <a:rPr lang="ru-RU" dirty="0">
                <a:latin typeface="Times New Roman" panose="02020603050405020304" pitchFamily="18" charset="0"/>
                <a:cs typeface="Times New Roman" panose="02020603050405020304" pitchFamily="18" charset="0"/>
              </a:rPr>
              <a:t>IEEE </a:t>
            </a:r>
            <a:r>
              <a:rPr lang="ru-RU" dirty="0" err="1">
                <a:latin typeface="Times New Roman" panose="02020603050405020304" pitchFamily="18" charset="0"/>
                <a:cs typeface="Times New Roman" panose="02020603050405020304" pitchFamily="18" charset="0"/>
              </a:rPr>
              <a:t>Project</a:t>
            </a:r>
            <a:r>
              <a:rPr lang="ru-RU" dirty="0">
                <a:latin typeface="Times New Roman" panose="02020603050405020304" pitchFamily="18" charset="0"/>
                <a:cs typeface="Times New Roman" panose="02020603050405020304" pitchFamily="18" charset="0"/>
              </a:rPr>
              <a:t> 802 относился именно к этим двум уровням и привел к созданию спецификаций, определивших доминирующие среды ЛВС.</a:t>
            </a:r>
          </a:p>
          <a:p>
            <a:pPr marL="114300" indent="0">
              <a:buNone/>
            </a:pPr>
            <a:r>
              <a:rPr lang="ru-RU" dirty="0">
                <a:latin typeface="Times New Roman" panose="02020603050405020304" pitchFamily="18" charset="0"/>
                <a:cs typeface="Times New Roman" panose="02020603050405020304" pitchFamily="18" charset="0"/>
              </a:rPr>
              <a:t>IEEE, подробно описывая Канальный уровень, разделил его на два подуровня:</a:t>
            </a:r>
          </a:p>
          <a:p>
            <a:pPr>
              <a:buFont typeface="Wingdings" panose="05000000000000000000" pitchFamily="2" charset="2"/>
              <a:buChar char="ü"/>
            </a:pPr>
            <a:r>
              <a:rPr lang="ru-RU" sz="2400" dirty="0">
                <a:latin typeface="Times New Roman" panose="02020603050405020304" pitchFamily="18" charset="0"/>
                <a:cs typeface="Times New Roman" panose="02020603050405020304" pitchFamily="18" charset="0"/>
              </a:rPr>
              <a:t>Управление логической связью (</a:t>
            </a:r>
            <a:r>
              <a:rPr lang="ru-RU" sz="2400" dirty="0" err="1">
                <a:latin typeface="Times New Roman" panose="02020603050405020304" pitchFamily="18" charset="0"/>
                <a:cs typeface="Times New Roman" panose="02020603050405020304" pitchFamily="18" charset="0"/>
              </a:rPr>
              <a:t>Logical</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Link</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Control</a:t>
            </a:r>
            <a:r>
              <a:rPr lang="ru-RU" sz="2400" dirty="0">
                <a:latin typeface="Times New Roman" panose="02020603050405020304" pitchFamily="18" charset="0"/>
                <a:cs typeface="Times New Roman" panose="02020603050405020304" pitchFamily="18" charset="0"/>
              </a:rPr>
              <a:t>, LLC) — контроль ошибок и управление потоком данных;</a:t>
            </a:r>
          </a:p>
          <a:p>
            <a:pPr>
              <a:buFont typeface="Wingdings" panose="05000000000000000000" pitchFamily="2" charset="2"/>
              <a:buChar char="ü"/>
            </a:pPr>
            <a:r>
              <a:rPr lang="ru-RU" sz="2400" dirty="0">
                <a:latin typeface="Times New Roman" panose="02020603050405020304" pitchFamily="18" charset="0"/>
                <a:cs typeface="Times New Roman" panose="02020603050405020304" pitchFamily="18" charset="0"/>
              </a:rPr>
              <a:t>Управление доступом к среде (</a:t>
            </a:r>
            <a:r>
              <a:rPr lang="ru-RU" sz="2400" dirty="0" err="1">
                <a:latin typeface="Times New Roman" panose="02020603050405020304" pitchFamily="18" charset="0"/>
                <a:cs typeface="Times New Roman" panose="02020603050405020304" pitchFamily="18" charset="0"/>
              </a:rPr>
              <a:t>Media</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Access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Control</a:t>
            </a:r>
            <a:r>
              <a:rPr lang="ru-RU" sz="2400" dirty="0">
                <a:latin typeface="Times New Roman" panose="02020603050405020304" pitchFamily="18" charset="0"/>
                <a:cs typeface="Times New Roman" panose="02020603050405020304" pitchFamily="18" charset="0"/>
              </a:rPr>
              <a:t>, MAC).</a:t>
            </a:r>
          </a:p>
          <a:p>
            <a:pPr>
              <a:buFont typeface="Wingdings" panose="05000000000000000000" pitchFamily="2" charset="2"/>
              <a:buChar char="ü"/>
            </a:pPr>
            <a:r>
              <a:rPr lang="ru-RU" sz="2400" dirty="0">
                <a:latin typeface="Times New Roman" panose="02020603050405020304" pitchFamily="18" charset="0"/>
                <a:cs typeface="Times New Roman" panose="02020603050405020304" pitchFamily="18" charset="0"/>
              </a:rPr>
              <a:t>Прикладной уровень</a:t>
            </a:r>
          </a:p>
          <a:p>
            <a:pPr>
              <a:buFont typeface="Wingdings" panose="05000000000000000000" pitchFamily="2" charset="2"/>
              <a:buChar char="ü"/>
            </a:pPr>
            <a:r>
              <a:rPr lang="ru-RU" sz="2400" dirty="0">
                <a:latin typeface="Times New Roman" panose="02020603050405020304" pitchFamily="18" charset="0"/>
                <a:cs typeface="Times New Roman" panose="02020603050405020304" pitchFamily="18" charset="0"/>
              </a:rPr>
              <a:t>Представительский уровень</a:t>
            </a:r>
          </a:p>
          <a:p>
            <a:pPr>
              <a:buFont typeface="Wingdings" panose="05000000000000000000" pitchFamily="2" charset="2"/>
              <a:buChar char="ü"/>
            </a:pPr>
            <a:r>
              <a:rPr lang="ru-RU" sz="2400" dirty="0">
                <a:latin typeface="Times New Roman" panose="02020603050405020304" pitchFamily="18" charset="0"/>
                <a:cs typeface="Times New Roman" panose="02020603050405020304" pitchFamily="18" charset="0"/>
              </a:rPr>
              <a:t>Сеансовый уровень</a:t>
            </a:r>
          </a:p>
          <a:p>
            <a:pPr>
              <a:buFont typeface="Wingdings" panose="05000000000000000000" pitchFamily="2" charset="2"/>
              <a:buChar char="ü"/>
            </a:pPr>
            <a:r>
              <a:rPr lang="ru-RU" sz="2400" dirty="0">
                <a:latin typeface="Times New Roman" panose="02020603050405020304" pitchFamily="18" charset="0"/>
                <a:cs typeface="Times New Roman" panose="02020603050405020304" pitchFamily="18" charset="0"/>
              </a:rPr>
              <a:t>Транспортный уровень</a:t>
            </a:r>
          </a:p>
          <a:p>
            <a:pPr>
              <a:buFont typeface="Wingdings" panose="05000000000000000000" pitchFamily="2" charset="2"/>
              <a:buChar char="ü"/>
            </a:pPr>
            <a:r>
              <a:rPr lang="ru-RU" sz="2400" dirty="0">
                <a:latin typeface="Times New Roman" panose="02020603050405020304" pitchFamily="18" charset="0"/>
                <a:cs typeface="Times New Roman" panose="02020603050405020304" pitchFamily="18" charset="0"/>
              </a:rPr>
              <a:t>Сетевой уровень</a:t>
            </a:r>
          </a:p>
          <a:p>
            <a:pPr>
              <a:buFont typeface="Wingdings" panose="05000000000000000000" pitchFamily="2" charset="2"/>
              <a:buChar char="ü"/>
            </a:pPr>
            <a:r>
              <a:rPr lang="ru-RU" sz="2400" dirty="0">
                <a:latin typeface="Times New Roman" panose="02020603050405020304" pitchFamily="18" charset="0"/>
                <a:cs typeface="Times New Roman" panose="02020603050405020304" pitchFamily="18" charset="0"/>
              </a:rPr>
              <a:t>Канальный уровень</a:t>
            </a:r>
          </a:p>
          <a:p>
            <a:pPr lvl="1">
              <a:buFont typeface="Wingdings" panose="05000000000000000000" pitchFamily="2" charset="2"/>
              <a:buChar char="q"/>
            </a:pPr>
            <a:r>
              <a:rPr lang="ru-RU" dirty="0">
                <a:latin typeface="Times New Roman" panose="02020603050405020304" pitchFamily="18" charset="0"/>
                <a:cs typeface="Times New Roman" panose="02020603050405020304" pitchFamily="18" charset="0"/>
              </a:rPr>
              <a:t>Управление логической связью (LLC)</a:t>
            </a:r>
          </a:p>
          <a:p>
            <a:pPr lvl="1">
              <a:buFont typeface="Wingdings" panose="05000000000000000000" pitchFamily="2" charset="2"/>
              <a:buChar char="q"/>
            </a:pPr>
            <a:r>
              <a:rPr lang="ru-RU" dirty="0">
                <a:latin typeface="Times New Roman" panose="02020603050405020304" pitchFamily="18" charset="0"/>
                <a:cs typeface="Times New Roman" panose="02020603050405020304" pitchFamily="18" charset="0"/>
              </a:rPr>
              <a:t>Управление доступом к среде (MAC)</a:t>
            </a:r>
          </a:p>
          <a:p>
            <a:pPr>
              <a:buFont typeface="Wingdings" panose="05000000000000000000" pitchFamily="2" charset="2"/>
              <a:buChar char="ü"/>
            </a:pPr>
            <a:r>
              <a:rPr lang="ru-RU" sz="2400" dirty="0">
                <a:latin typeface="Times New Roman" panose="02020603050405020304" pitchFamily="18" charset="0"/>
                <a:cs typeface="Times New Roman" panose="02020603050405020304" pitchFamily="18" charset="0"/>
              </a:rPr>
              <a:t>Физический уровень</a:t>
            </a:r>
          </a:p>
          <a:p>
            <a:pPr marL="11430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5782461"/>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4340" y="14463"/>
            <a:ext cx="8185720" cy="1143000"/>
          </a:xfrm>
        </p:spPr>
        <p:txBody>
          <a:bodyPr/>
          <a:lstStyle/>
          <a:p>
            <a:pPr algn="ctr"/>
            <a:r>
              <a:rPr lang="ru-RU" b="1" dirty="0">
                <a:latin typeface="Times New Roman" panose="02020603050405020304" pitchFamily="18" charset="0"/>
                <a:cs typeface="Times New Roman" panose="02020603050405020304" pitchFamily="18" charset="0"/>
              </a:rPr>
              <a:t>Протоколы и стеки протоколов</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251520" y="1157463"/>
            <a:ext cx="7920880" cy="5439889"/>
          </a:xfrm>
        </p:spPr>
        <p:txBody>
          <a:bodyPr>
            <a:normAutofit/>
          </a:bodyPr>
          <a:lstStyle/>
          <a:p>
            <a:pPr marL="114300" indent="0">
              <a:buNone/>
            </a:pPr>
            <a:r>
              <a:rPr lang="ru-RU" sz="2800" dirty="0">
                <a:latin typeface="Times New Roman" panose="02020603050405020304" pitchFamily="18" charset="0"/>
                <a:cs typeface="Times New Roman" panose="02020603050405020304" pitchFamily="18" charset="0"/>
              </a:rPr>
              <a:t>Согласованный набор протоколов разных уровней, достаточный для организации межсетевого взаимодействия, </a:t>
            </a:r>
            <a:r>
              <a:rPr lang="ru-RU" sz="2800" b="1" i="1" dirty="0">
                <a:latin typeface="Times New Roman" panose="02020603050405020304" pitchFamily="18" charset="0"/>
                <a:cs typeface="Times New Roman" panose="02020603050405020304" pitchFamily="18" charset="0"/>
              </a:rPr>
              <a:t>называется стеком протоколов</a:t>
            </a:r>
            <a:r>
              <a:rPr lang="ru-RU" sz="2800" dirty="0">
                <a:latin typeface="Times New Roman" panose="02020603050405020304" pitchFamily="18" charset="0"/>
                <a:cs typeface="Times New Roman" panose="02020603050405020304" pitchFamily="18" charset="0"/>
              </a:rPr>
              <a:t>. </a:t>
            </a:r>
            <a:endParaRPr lang="ru-RU" sz="2800" dirty="0" smtClean="0">
              <a:latin typeface="Times New Roman" panose="02020603050405020304" pitchFamily="18" charset="0"/>
              <a:cs typeface="Times New Roman" panose="02020603050405020304" pitchFamily="18" charset="0"/>
            </a:endParaRPr>
          </a:p>
          <a:p>
            <a:pPr marL="114300" indent="0">
              <a:buNone/>
            </a:pPr>
            <a:r>
              <a:rPr lang="ru-RU" sz="2800" dirty="0" smtClean="0">
                <a:latin typeface="Times New Roman" panose="02020603050405020304" pitchFamily="18" charset="0"/>
                <a:cs typeface="Times New Roman" panose="02020603050405020304" pitchFamily="18" charset="0"/>
              </a:rPr>
              <a:t>Для </a:t>
            </a:r>
            <a:r>
              <a:rPr lang="ru-RU" sz="2800" dirty="0">
                <a:latin typeface="Times New Roman" panose="02020603050405020304" pitchFamily="18" charset="0"/>
                <a:cs typeface="Times New Roman" panose="02020603050405020304" pitchFamily="18" charset="0"/>
              </a:rPr>
              <a:t>каждого уровня определяется набор функций–запросов для взаимодействия с вышележащим уровнем, </a:t>
            </a:r>
            <a:r>
              <a:rPr lang="ru-RU" sz="2800" b="1" i="1" dirty="0">
                <a:latin typeface="Times New Roman" panose="02020603050405020304" pitchFamily="18" charset="0"/>
                <a:cs typeface="Times New Roman" panose="02020603050405020304" pitchFamily="18" charset="0"/>
              </a:rPr>
              <a:t>который называется интерфейсом. </a:t>
            </a:r>
            <a:endParaRPr lang="ru-RU" sz="2800" b="1" i="1" dirty="0" smtClean="0">
              <a:latin typeface="Times New Roman" panose="02020603050405020304" pitchFamily="18" charset="0"/>
              <a:cs typeface="Times New Roman" panose="02020603050405020304" pitchFamily="18" charset="0"/>
            </a:endParaRPr>
          </a:p>
          <a:p>
            <a:pPr marL="114300" indent="0">
              <a:buNone/>
            </a:pPr>
            <a:r>
              <a:rPr lang="ru-RU" sz="2800" dirty="0" smtClean="0">
                <a:latin typeface="Times New Roman" panose="02020603050405020304" pitchFamily="18" charset="0"/>
                <a:cs typeface="Times New Roman" panose="02020603050405020304" pitchFamily="18" charset="0"/>
              </a:rPr>
              <a:t>Правила </a:t>
            </a:r>
            <a:r>
              <a:rPr lang="ru-RU" sz="2800" dirty="0">
                <a:latin typeface="Times New Roman" panose="02020603050405020304" pitchFamily="18" charset="0"/>
                <a:cs typeface="Times New Roman" panose="02020603050405020304" pitchFamily="18" charset="0"/>
              </a:rPr>
              <a:t>взаимодействия двух машин могут быть описаны в виде набора процедур для каждого из уровней, </a:t>
            </a:r>
            <a:r>
              <a:rPr lang="ru-RU" sz="2800" b="1" i="1" dirty="0">
                <a:latin typeface="Times New Roman" panose="02020603050405020304" pitchFamily="18" charset="0"/>
                <a:cs typeface="Times New Roman" panose="02020603050405020304" pitchFamily="18" charset="0"/>
              </a:rPr>
              <a:t>которые называются протоколами.</a:t>
            </a:r>
          </a:p>
        </p:txBody>
      </p:sp>
    </p:spTree>
    <p:extLst>
      <p:ext uri="{BB962C8B-B14F-4D97-AF65-F5344CB8AC3E}">
        <p14:creationId xmlns:p14="http://schemas.microsoft.com/office/powerpoint/2010/main" val="426995219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a:bodyPr>
          <a:lstStyle/>
          <a:p>
            <a:pPr marL="114300" indent="0">
              <a:buNone/>
            </a:pPr>
            <a:r>
              <a:rPr lang="ru-RU" sz="2800" dirty="0">
                <a:latin typeface="Times New Roman" panose="02020603050405020304" pitchFamily="18" charset="0"/>
                <a:cs typeface="Times New Roman" panose="02020603050405020304" pitchFamily="18" charset="0"/>
              </a:rPr>
              <a:t>Стеки протоколов разбиваются на три уровня:</a:t>
            </a:r>
          </a:p>
          <a:p>
            <a:pPr>
              <a:buFont typeface="Wingdings" panose="05000000000000000000" pitchFamily="2" charset="2"/>
              <a:buChar char="ü"/>
            </a:pPr>
            <a:r>
              <a:rPr lang="ru-RU" sz="2800" dirty="0" smtClean="0">
                <a:latin typeface="Times New Roman" panose="02020603050405020304" pitchFamily="18" charset="0"/>
                <a:cs typeface="Times New Roman" panose="02020603050405020304" pitchFamily="18" charset="0"/>
              </a:rPr>
              <a:t>сетевые</a:t>
            </a:r>
            <a:r>
              <a:rPr lang="ru-RU" sz="28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r>
              <a:rPr lang="ru-RU" sz="2800" dirty="0" smtClean="0">
                <a:latin typeface="Times New Roman" panose="02020603050405020304" pitchFamily="18" charset="0"/>
                <a:cs typeface="Times New Roman" panose="02020603050405020304" pitchFamily="18" charset="0"/>
              </a:rPr>
              <a:t>транспортные</a:t>
            </a:r>
            <a:r>
              <a:rPr lang="ru-RU" sz="2800" dirty="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r>
              <a:rPr lang="ru-RU" sz="2800" dirty="0" smtClean="0">
                <a:latin typeface="Times New Roman" panose="02020603050405020304" pitchFamily="18" charset="0"/>
                <a:cs typeface="Times New Roman" panose="02020603050405020304" pitchFamily="18" charset="0"/>
              </a:rPr>
              <a:t>прикладные.</a:t>
            </a:r>
            <a:endParaRPr lang="ru-RU" sz="2800"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0" y="274638"/>
            <a:ext cx="8460432" cy="1143000"/>
          </a:xfrm>
        </p:spPr>
        <p:txBody>
          <a:bodyPr/>
          <a:lstStyle/>
          <a:p>
            <a:pPr algn="ctr"/>
            <a:r>
              <a:rPr lang="ru-RU" b="1" dirty="0">
                <a:latin typeface="Times New Roman" panose="02020603050405020304" pitchFamily="18" charset="0"/>
                <a:cs typeface="Times New Roman" panose="02020603050405020304" pitchFamily="18" charset="0"/>
              </a:rPr>
              <a:t>Протоколы и стеки протоколов</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950984"/>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7964" y="-3121"/>
            <a:ext cx="7620000" cy="1143000"/>
          </a:xfrm>
        </p:spPr>
        <p:txBody>
          <a:bodyPr/>
          <a:lstStyle/>
          <a:p>
            <a:pPr algn="ctr"/>
            <a:r>
              <a:rPr lang="ru-RU" b="1" dirty="0">
                <a:latin typeface="Times New Roman" panose="02020603050405020304" pitchFamily="18" charset="0"/>
                <a:cs typeface="Times New Roman" panose="02020603050405020304" pitchFamily="18" charset="0"/>
              </a:rPr>
              <a:t>Сетевые протоколы</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7504" y="1052736"/>
            <a:ext cx="8280920" cy="5616624"/>
          </a:xfrm>
        </p:spPr>
        <p:txBody>
          <a:bodyPr>
            <a:noAutofit/>
          </a:bodyPr>
          <a:lstStyle/>
          <a:p>
            <a:pPr marL="114300" indent="0">
              <a:buNone/>
            </a:pPr>
            <a:r>
              <a:rPr lang="ru-RU" sz="2000" dirty="0" smtClean="0">
                <a:latin typeface="Times New Roman" panose="02020603050405020304" pitchFamily="18" charset="0"/>
                <a:cs typeface="Times New Roman" panose="02020603050405020304" pitchFamily="18" charset="0"/>
              </a:rPr>
              <a:t>Сетевые протоколы предоставляют следующие услуги: адресацию и маршрутизацию информации, проверку на наличие ошибок, запрос повторной передачи и установление правил взаимодействия в конкретной сетевой среде.</a:t>
            </a:r>
          </a:p>
          <a:p>
            <a:r>
              <a:rPr lang="en-US" sz="2000" b="1" dirty="0" smtClean="0">
                <a:latin typeface="Times New Roman" panose="02020603050405020304" pitchFamily="18" charset="0"/>
                <a:cs typeface="Times New Roman" panose="02020603050405020304" pitchFamily="18" charset="0"/>
              </a:rPr>
              <a:t>DDP </a:t>
            </a:r>
            <a:r>
              <a:rPr lang="en-US" sz="2000" dirty="0" smtClean="0">
                <a:latin typeface="Times New Roman" panose="02020603050405020304" pitchFamily="18" charset="0"/>
                <a:cs typeface="Times New Roman" panose="02020603050405020304" pitchFamily="18" charset="0"/>
              </a:rPr>
              <a:t>(Datagram Delivery Protocol – </a:t>
            </a:r>
            <a:r>
              <a:rPr lang="ru-RU" sz="2000" dirty="0" smtClean="0">
                <a:latin typeface="Times New Roman" panose="02020603050405020304" pitchFamily="18" charset="0"/>
                <a:cs typeface="Times New Roman" panose="02020603050405020304" pitchFamily="18" charset="0"/>
              </a:rPr>
              <a:t>Протокол доставки дейтаграмм).</a:t>
            </a:r>
            <a:r>
              <a:rPr lang="ru-RU" sz="2000" b="1" dirty="0" smtClean="0">
                <a:latin typeface="Times New Roman" panose="02020603050405020304" pitchFamily="18" charset="0"/>
                <a:cs typeface="Times New Roman" panose="02020603050405020304" pitchFamily="18" charset="0"/>
              </a:rPr>
              <a:t> </a:t>
            </a:r>
            <a:r>
              <a:rPr lang="ru-RU" sz="2000" dirty="0" smtClean="0">
                <a:latin typeface="Times New Roman" panose="02020603050405020304" pitchFamily="18" charset="0"/>
                <a:cs typeface="Times New Roman" panose="02020603050405020304" pitchFamily="18" charset="0"/>
              </a:rPr>
              <a:t>Протокол передачи данных </a:t>
            </a:r>
            <a:r>
              <a:rPr lang="en-US" sz="2000" dirty="0" smtClean="0">
                <a:latin typeface="Times New Roman" panose="02020603050405020304" pitchFamily="18" charset="0"/>
                <a:cs typeface="Times New Roman" panose="02020603050405020304" pitchFamily="18" charset="0"/>
              </a:rPr>
              <a:t>Apple, </a:t>
            </a:r>
            <a:r>
              <a:rPr lang="ru-RU" sz="2000" dirty="0" smtClean="0">
                <a:latin typeface="Times New Roman" panose="02020603050405020304" pitchFamily="18" charset="0"/>
                <a:cs typeface="Times New Roman" panose="02020603050405020304" pitchFamily="18" charset="0"/>
              </a:rPr>
              <a:t>используемый в </a:t>
            </a:r>
            <a:r>
              <a:rPr lang="en-US" sz="2000" dirty="0" smtClean="0">
                <a:latin typeface="Times New Roman" panose="02020603050405020304" pitchFamily="18" charset="0"/>
                <a:cs typeface="Times New Roman" panose="02020603050405020304" pitchFamily="18" charset="0"/>
              </a:rPr>
              <a:t>Apple Talk.</a:t>
            </a:r>
          </a:p>
          <a:p>
            <a:r>
              <a:rPr lang="en-US" sz="2000" b="1" dirty="0" smtClean="0">
                <a:latin typeface="Times New Roman" panose="02020603050405020304" pitchFamily="18" charset="0"/>
                <a:cs typeface="Times New Roman" panose="02020603050405020304" pitchFamily="18" charset="0"/>
              </a:rPr>
              <a:t>IP </a:t>
            </a:r>
            <a:r>
              <a:rPr lang="en-US" sz="2000" dirty="0" smtClean="0">
                <a:latin typeface="Times New Roman" panose="02020603050405020304" pitchFamily="18" charset="0"/>
                <a:cs typeface="Times New Roman" panose="02020603050405020304" pitchFamily="18" charset="0"/>
              </a:rPr>
              <a:t>(Internet Protocol – </a:t>
            </a:r>
            <a:r>
              <a:rPr lang="ru-RU" sz="2000" dirty="0" smtClean="0">
                <a:latin typeface="Times New Roman" panose="02020603050405020304" pitchFamily="18" charset="0"/>
                <a:cs typeface="Times New Roman" panose="02020603050405020304" pitchFamily="18" charset="0"/>
              </a:rPr>
              <a:t>Протокол </a:t>
            </a:r>
            <a:r>
              <a:rPr lang="en-US" sz="2000" dirty="0" smtClean="0">
                <a:latin typeface="Times New Roman" panose="02020603050405020304" pitchFamily="18" charset="0"/>
                <a:cs typeface="Times New Roman" panose="02020603050405020304" pitchFamily="18" charset="0"/>
              </a:rPr>
              <a:t>Internet). </a:t>
            </a:r>
            <a:r>
              <a:rPr lang="ru-RU" sz="2000" dirty="0" smtClean="0">
                <a:latin typeface="Times New Roman" panose="02020603050405020304" pitchFamily="18" charset="0"/>
                <a:cs typeface="Times New Roman" panose="02020603050405020304" pitchFamily="18" charset="0"/>
              </a:rPr>
              <a:t>Протокол стека </a:t>
            </a:r>
            <a:r>
              <a:rPr lang="en-US" sz="2000" dirty="0" smtClean="0">
                <a:latin typeface="Times New Roman" panose="02020603050405020304" pitchFamily="18" charset="0"/>
                <a:cs typeface="Times New Roman" panose="02020603050405020304" pitchFamily="18" charset="0"/>
              </a:rPr>
              <a:t>TCP/IP, </a:t>
            </a:r>
            <a:r>
              <a:rPr lang="ru-RU" sz="2000" dirty="0" smtClean="0">
                <a:latin typeface="Times New Roman" panose="02020603050405020304" pitchFamily="18" charset="0"/>
                <a:cs typeface="Times New Roman" panose="02020603050405020304" pitchFamily="18" charset="0"/>
              </a:rPr>
              <a:t>обеспечивающий адресную информацию и информацию о маршрутизации.</a:t>
            </a:r>
          </a:p>
          <a:p>
            <a:r>
              <a:rPr lang="en-US" sz="2000" b="1" dirty="0" smtClean="0">
                <a:latin typeface="Times New Roman" panose="02020603050405020304" pitchFamily="18" charset="0"/>
                <a:cs typeface="Times New Roman" panose="02020603050405020304" pitchFamily="18" charset="0"/>
              </a:rPr>
              <a:t>IPX </a:t>
            </a:r>
            <a:r>
              <a:rPr lang="en-US" sz="2000" dirty="0" smtClean="0">
                <a:latin typeface="Times New Roman" panose="02020603050405020304" pitchFamily="18" charset="0"/>
                <a:cs typeface="Times New Roman" panose="02020603050405020304" pitchFamily="18" charset="0"/>
              </a:rPr>
              <a:t>(Internetwork Packet </a:t>
            </a:r>
            <a:r>
              <a:rPr lang="en-US" sz="2000" dirty="0" err="1" smtClean="0">
                <a:latin typeface="Times New Roman" panose="02020603050405020304" pitchFamily="18" charset="0"/>
                <a:cs typeface="Times New Roman" panose="02020603050405020304" pitchFamily="18" charset="0"/>
              </a:rPr>
              <a:t>eXchange</a:t>
            </a:r>
            <a:r>
              <a:rPr lang="en-US" sz="2000" dirty="0" smtClean="0">
                <a:latin typeface="Times New Roman" panose="02020603050405020304" pitchFamily="18" charset="0"/>
                <a:cs typeface="Times New Roman" panose="02020603050405020304" pitchFamily="18" charset="0"/>
              </a:rPr>
              <a:t> – </a:t>
            </a:r>
            <a:r>
              <a:rPr lang="ru-RU" sz="2000" dirty="0" smtClean="0">
                <a:latin typeface="Times New Roman" panose="02020603050405020304" pitchFamily="18" charset="0"/>
                <a:cs typeface="Times New Roman" panose="02020603050405020304" pitchFamily="18" charset="0"/>
              </a:rPr>
              <a:t>Межсетевой обмен пакетами) в </a:t>
            </a:r>
            <a:r>
              <a:rPr lang="en-US" sz="2000" dirty="0" err="1" smtClean="0">
                <a:latin typeface="Times New Roman" panose="02020603050405020304" pitchFamily="18" charset="0"/>
                <a:cs typeface="Times New Roman" panose="02020603050405020304" pitchFamily="18" charset="0"/>
              </a:rPr>
              <a:t>NWLink</a:t>
            </a:r>
            <a:r>
              <a:rPr lang="en-US" sz="2000" dirty="0" smtClean="0">
                <a:latin typeface="Times New Roman" panose="02020603050405020304" pitchFamily="18" charset="0"/>
                <a:cs typeface="Times New Roman" panose="02020603050405020304" pitchFamily="18" charset="0"/>
              </a:rPr>
              <a:t>.</a:t>
            </a:r>
            <a:r>
              <a:rPr lang="en-US" sz="2000" b="1" dirty="0" smtClean="0">
                <a:latin typeface="Times New Roman" panose="02020603050405020304" pitchFamily="18" charset="0"/>
                <a:cs typeface="Times New Roman" panose="02020603050405020304" pitchFamily="18" charset="0"/>
              </a:rPr>
              <a:t> </a:t>
            </a:r>
            <a:r>
              <a:rPr lang="ru-RU" sz="2000" dirty="0" smtClean="0">
                <a:latin typeface="Times New Roman" panose="02020603050405020304" pitchFamily="18" charset="0"/>
                <a:cs typeface="Times New Roman" panose="02020603050405020304" pitchFamily="18" charset="0"/>
              </a:rPr>
              <a:t>Протокол </a:t>
            </a:r>
            <a:r>
              <a:rPr lang="en-US" sz="2000" dirty="0" smtClean="0">
                <a:latin typeface="Times New Roman" panose="02020603050405020304" pitchFamily="18" charset="0"/>
                <a:cs typeface="Times New Roman" panose="02020603050405020304" pitchFamily="18" charset="0"/>
              </a:rPr>
              <a:t>Novel NetWare, </a:t>
            </a:r>
            <a:r>
              <a:rPr lang="ru-RU" sz="2000" dirty="0" smtClean="0">
                <a:latin typeface="Times New Roman" panose="02020603050405020304" pitchFamily="18" charset="0"/>
                <a:cs typeface="Times New Roman" panose="02020603050405020304" pitchFamily="18" charset="0"/>
              </a:rPr>
              <a:t>используемый для маршрутизации и направления пакетов.</a:t>
            </a:r>
          </a:p>
          <a:p>
            <a:r>
              <a:rPr lang="en-US" sz="2000" b="1" dirty="0" smtClean="0">
                <a:latin typeface="Times New Roman" panose="02020603050405020304" pitchFamily="18" charset="0"/>
                <a:cs typeface="Times New Roman" panose="02020603050405020304" pitchFamily="18" charset="0"/>
              </a:rPr>
              <a:t>NetBEUI </a:t>
            </a:r>
            <a:r>
              <a:rPr lang="en-US" sz="2000" dirty="0" smtClean="0">
                <a:latin typeface="Times New Roman" panose="02020603050405020304" pitchFamily="18" charset="0"/>
                <a:cs typeface="Times New Roman" panose="02020603050405020304" pitchFamily="18" charset="0"/>
              </a:rPr>
              <a:t>(NetBIOS Extended User Interface – </a:t>
            </a:r>
            <a:r>
              <a:rPr lang="ru-RU" sz="2000" dirty="0" smtClean="0">
                <a:latin typeface="Times New Roman" panose="02020603050405020304" pitchFamily="18" charset="0"/>
                <a:cs typeface="Times New Roman" panose="02020603050405020304" pitchFamily="18" charset="0"/>
              </a:rPr>
              <a:t>расширенный пользовательский интерфейс базовой сетевой системы ввода вывода)</a:t>
            </a:r>
            <a:r>
              <a:rPr lang="ru-RU" sz="2000" b="1" dirty="0" smtClean="0">
                <a:latin typeface="Times New Roman" panose="02020603050405020304" pitchFamily="18" charset="0"/>
                <a:cs typeface="Times New Roman" panose="02020603050405020304" pitchFamily="18" charset="0"/>
              </a:rPr>
              <a:t>. </a:t>
            </a:r>
            <a:r>
              <a:rPr lang="ru-RU" sz="2000" dirty="0" smtClean="0">
                <a:latin typeface="Times New Roman" panose="02020603050405020304" pitchFamily="18" charset="0"/>
                <a:cs typeface="Times New Roman" panose="02020603050405020304" pitchFamily="18" charset="0"/>
              </a:rPr>
              <a:t>Разработанный совместно </a:t>
            </a:r>
            <a:r>
              <a:rPr lang="en-US" sz="2000" dirty="0" smtClean="0">
                <a:latin typeface="Times New Roman" panose="02020603050405020304" pitchFamily="18" charset="0"/>
                <a:cs typeface="Times New Roman" panose="02020603050405020304" pitchFamily="18" charset="0"/>
              </a:rPr>
              <a:t>IBM </a:t>
            </a:r>
            <a:r>
              <a:rPr lang="ru-RU" sz="2000" dirty="0" smtClean="0">
                <a:latin typeface="Times New Roman" panose="02020603050405020304" pitchFamily="18" charset="0"/>
                <a:cs typeface="Times New Roman" panose="02020603050405020304" pitchFamily="18" charset="0"/>
              </a:rPr>
              <a:t>и </a:t>
            </a:r>
            <a:r>
              <a:rPr lang="en-US" sz="2000" dirty="0" smtClean="0">
                <a:latin typeface="Times New Roman" panose="02020603050405020304" pitchFamily="18" charset="0"/>
                <a:cs typeface="Times New Roman" panose="02020603050405020304" pitchFamily="18" charset="0"/>
              </a:rPr>
              <a:t>Microsoft, </a:t>
            </a:r>
            <a:r>
              <a:rPr lang="ru-RU" sz="2000" dirty="0" smtClean="0">
                <a:latin typeface="Times New Roman" panose="02020603050405020304" pitchFamily="18" charset="0"/>
                <a:cs typeface="Times New Roman" panose="02020603050405020304" pitchFamily="18" charset="0"/>
              </a:rPr>
              <a:t>этот протокол обеспечивает транспортные услуги для </a:t>
            </a:r>
            <a:r>
              <a:rPr lang="en-US" sz="2000" b="1" dirty="0" smtClean="0">
                <a:latin typeface="Times New Roman" panose="02020603050405020304" pitchFamily="18" charset="0"/>
                <a:cs typeface="Times New Roman" panose="02020603050405020304" pitchFamily="18" charset="0"/>
              </a:rPr>
              <a:t>NetBIOS.</a:t>
            </a: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6076512"/>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0"/>
            <a:ext cx="7620000" cy="1143000"/>
          </a:xfrm>
        </p:spPr>
        <p:txBody>
          <a:bodyPr/>
          <a:lstStyle/>
          <a:p>
            <a:pPr algn="ctr"/>
            <a:r>
              <a:rPr lang="ru-RU" b="1" dirty="0">
                <a:latin typeface="Times New Roman" panose="02020603050405020304" pitchFamily="18" charset="0"/>
                <a:cs typeface="Times New Roman" panose="02020603050405020304" pitchFamily="18" charset="0"/>
              </a:rPr>
              <a:t>Транспортные протоколы</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0" y="980728"/>
            <a:ext cx="8388424" cy="5760640"/>
          </a:xfrm>
        </p:spPr>
        <p:txBody>
          <a:bodyPr>
            <a:normAutofit/>
          </a:bodyPr>
          <a:lstStyle/>
          <a:p>
            <a:pPr marL="114300" indent="0">
              <a:buNone/>
            </a:pPr>
            <a:r>
              <a:rPr lang="ru-RU" dirty="0">
                <a:latin typeface="Times New Roman" panose="02020603050405020304" pitchFamily="18" charset="0"/>
                <a:cs typeface="Times New Roman" panose="02020603050405020304" pitchFamily="18" charset="0"/>
              </a:rPr>
              <a:t>Транспортные протоколы предоставляют услуги надежной транспортировки данных между компьютерами. Ниже приведены наиболее популярные транспортные протоколы.</a:t>
            </a:r>
          </a:p>
          <a:p>
            <a:pPr>
              <a:buFont typeface="Wingdings" panose="05000000000000000000" pitchFamily="2" charset="2"/>
              <a:buChar char="ü"/>
            </a:pPr>
            <a:r>
              <a:rPr lang="ru-RU" b="1" dirty="0" smtClean="0">
                <a:latin typeface="Times New Roman" panose="02020603050405020304" pitchFamily="18" charset="0"/>
                <a:cs typeface="Times New Roman" panose="02020603050405020304" pitchFamily="18" charset="0"/>
              </a:rPr>
              <a:t>ATP</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Apple</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Talk</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Protocol</a:t>
            </a:r>
            <a:r>
              <a:rPr lang="ru-RU" dirty="0">
                <a:latin typeface="Times New Roman" panose="02020603050405020304" pitchFamily="18" charset="0"/>
                <a:cs typeface="Times New Roman" panose="02020603050405020304" pitchFamily="18" charset="0"/>
              </a:rPr>
              <a:t> – Транзакционный протокол </a:t>
            </a:r>
            <a:r>
              <a:rPr lang="ru-RU" dirty="0" err="1">
                <a:latin typeface="Times New Roman" panose="02020603050405020304" pitchFamily="18" charset="0"/>
                <a:cs typeface="Times New Roman" panose="02020603050405020304" pitchFamily="18" charset="0"/>
              </a:rPr>
              <a:t>Apple</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Talk</a:t>
            </a:r>
            <a:r>
              <a:rPr lang="ru-RU" dirty="0">
                <a:latin typeface="Times New Roman" panose="02020603050405020304" pitchFamily="18" charset="0"/>
                <a:cs typeface="Times New Roman" panose="02020603050405020304" pitchFamily="18" charset="0"/>
              </a:rPr>
              <a:t>) и</a:t>
            </a:r>
            <a:r>
              <a:rPr lang="ru-RU" b="1" dirty="0">
                <a:latin typeface="Times New Roman" panose="02020603050405020304" pitchFamily="18" charset="0"/>
                <a:cs typeface="Times New Roman" panose="02020603050405020304" pitchFamily="18" charset="0"/>
              </a:rPr>
              <a:t> NBP </a:t>
            </a:r>
            <a:r>
              <a:rPr lang="ru-RU"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Name</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Binding</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Protocol</a:t>
            </a:r>
            <a:r>
              <a:rPr lang="ru-RU" dirty="0">
                <a:latin typeface="Times New Roman" panose="02020603050405020304" pitchFamily="18" charset="0"/>
                <a:cs typeface="Times New Roman" panose="02020603050405020304" pitchFamily="18" charset="0"/>
              </a:rPr>
              <a:t> – Протокол связывания имен). Сеансовый и транспортный протоколы </a:t>
            </a:r>
            <a:r>
              <a:rPr lang="ru-RU" dirty="0" err="1">
                <a:latin typeface="Times New Roman" panose="02020603050405020304" pitchFamily="18" charset="0"/>
                <a:cs typeface="Times New Roman" panose="02020603050405020304" pitchFamily="18" charset="0"/>
              </a:rPr>
              <a:t>Apple</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Talk</a:t>
            </a:r>
            <a:r>
              <a:rPr lang="ru-RU" dirty="0">
                <a:latin typeface="Times New Roman" panose="02020603050405020304" pitchFamily="18" charset="0"/>
                <a:cs typeface="Times New Roman" panose="02020603050405020304" pitchFamily="18" charset="0"/>
              </a:rPr>
              <a:t>.</a:t>
            </a:r>
          </a:p>
          <a:p>
            <a:pPr>
              <a:buFont typeface="Wingdings" panose="05000000000000000000" pitchFamily="2" charset="2"/>
              <a:buChar char="ü"/>
            </a:pPr>
            <a:r>
              <a:rPr lang="ru-RU" b="1" dirty="0" err="1" smtClean="0">
                <a:latin typeface="Times New Roman" panose="02020603050405020304" pitchFamily="18" charset="0"/>
                <a:cs typeface="Times New Roman" panose="02020603050405020304" pitchFamily="18" charset="0"/>
              </a:rPr>
              <a:t>NetBIOS</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(Базовая сетевая система ввода вывода).</a:t>
            </a:r>
            <a:r>
              <a:rPr lang="ru-RU" b="1"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NetBIOS</a:t>
            </a:r>
            <a:r>
              <a:rPr lang="ru-RU" dirty="0">
                <a:latin typeface="Times New Roman" panose="02020603050405020304" pitchFamily="18" charset="0"/>
                <a:cs typeface="Times New Roman" panose="02020603050405020304" pitchFamily="18" charset="0"/>
              </a:rPr>
              <a:t> устанавливает соединение между компьютерами, а </a:t>
            </a:r>
            <a:r>
              <a:rPr lang="ru-RU" b="1" dirty="0" err="1">
                <a:latin typeface="Times New Roman" panose="02020603050405020304" pitchFamily="18" charset="0"/>
                <a:cs typeface="Times New Roman" panose="02020603050405020304" pitchFamily="18" charset="0"/>
              </a:rPr>
              <a:t>NetBEUI</a:t>
            </a:r>
            <a:r>
              <a:rPr lang="ru-RU" dirty="0">
                <a:latin typeface="Times New Roman" panose="02020603050405020304" pitchFamily="18" charset="0"/>
                <a:cs typeface="Times New Roman" panose="02020603050405020304" pitchFamily="18" charset="0"/>
              </a:rPr>
              <a:t> предоставляет услуги передачи данных для этого соединения.</a:t>
            </a:r>
          </a:p>
          <a:p>
            <a:pPr>
              <a:buFont typeface="Wingdings" panose="05000000000000000000" pitchFamily="2" charset="2"/>
              <a:buChar char="ü"/>
            </a:pPr>
            <a:r>
              <a:rPr lang="ru-RU" b="1" dirty="0" smtClean="0">
                <a:latin typeface="Times New Roman" panose="02020603050405020304" pitchFamily="18" charset="0"/>
                <a:cs typeface="Times New Roman" panose="02020603050405020304" pitchFamily="18" charset="0"/>
              </a:rPr>
              <a:t>SPX</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Sequenced</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Packet</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eXchange</a:t>
            </a:r>
            <a:r>
              <a:rPr lang="ru-RU" dirty="0">
                <a:latin typeface="Times New Roman" panose="02020603050405020304" pitchFamily="18" charset="0"/>
                <a:cs typeface="Times New Roman" panose="02020603050405020304" pitchFamily="18" charset="0"/>
              </a:rPr>
              <a:t> – Последовательный обмен пакетами) в </a:t>
            </a:r>
            <a:r>
              <a:rPr lang="ru-RU" dirty="0" err="1">
                <a:latin typeface="Times New Roman" panose="02020603050405020304" pitchFamily="18" charset="0"/>
                <a:cs typeface="Times New Roman" panose="02020603050405020304" pitchFamily="18" charset="0"/>
              </a:rPr>
              <a:t>NWLink</a:t>
            </a:r>
            <a:r>
              <a:rPr lang="ru-RU" dirty="0">
                <a:latin typeface="Times New Roman" panose="02020603050405020304" pitchFamily="18" charset="0"/>
                <a:cs typeface="Times New Roman" panose="02020603050405020304" pitchFamily="18" charset="0"/>
              </a:rPr>
              <a:t>.</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Протокол </a:t>
            </a:r>
            <a:r>
              <a:rPr lang="ru-RU" dirty="0" err="1">
                <a:latin typeface="Times New Roman" panose="02020603050405020304" pitchFamily="18" charset="0"/>
                <a:cs typeface="Times New Roman" panose="02020603050405020304" pitchFamily="18" charset="0"/>
              </a:rPr>
              <a:t>Novel</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NetWare</a:t>
            </a:r>
            <a:r>
              <a:rPr lang="ru-RU" dirty="0">
                <a:latin typeface="Times New Roman" panose="02020603050405020304" pitchFamily="18" charset="0"/>
                <a:cs typeface="Times New Roman" panose="02020603050405020304" pitchFamily="18" charset="0"/>
              </a:rPr>
              <a:t>, используемый для обеспечения доставки данных.</a:t>
            </a:r>
          </a:p>
          <a:p>
            <a:pPr>
              <a:buFont typeface="Wingdings" panose="05000000000000000000" pitchFamily="2" charset="2"/>
              <a:buChar char="ü"/>
            </a:pPr>
            <a:r>
              <a:rPr lang="ru-RU" b="1" dirty="0" smtClean="0">
                <a:latin typeface="Times New Roman" panose="02020603050405020304" pitchFamily="18" charset="0"/>
                <a:cs typeface="Times New Roman" panose="02020603050405020304" pitchFamily="18" charset="0"/>
              </a:rPr>
              <a:t>TCP</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Transmission</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Control</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Protocol</a:t>
            </a:r>
            <a:r>
              <a:rPr lang="ru-RU" dirty="0">
                <a:latin typeface="Times New Roman" panose="02020603050405020304" pitchFamily="18" charset="0"/>
                <a:cs typeface="Times New Roman" panose="02020603050405020304" pitchFamily="18" charset="0"/>
              </a:rPr>
              <a:t> – Протокол управления передачей).</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Протокол стека TCP/IP, отвечающий за надежную доставку данных</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082033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43408"/>
            <a:ext cx="7620000" cy="1143000"/>
          </a:xfrm>
        </p:spPr>
        <p:txBody>
          <a:bodyPr/>
          <a:lstStyle/>
          <a:p>
            <a:pPr algn="ctr"/>
            <a:r>
              <a:rPr lang="ru-RU" b="1" dirty="0">
                <a:latin typeface="Times New Roman" panose="02020603050405020304" pitchFamily="18" charset="0"/>
                <a:cs typeface="Times New Roman" panose="02020603050405020304" pitchFamily="18" charset="0"/>
              </a:rPr>
              <a:t>Прикладные протоколы</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251520" y="899592"/>
            <a:ext cx="8136904" cy="5841776"/>
          </a:xfrm>
        </p:spPr>
        <p:txBody>
          <a:bodyPr>
            <a:normAutofit/>
          </a:bodyPr>
          <a:lstStyle/>
          <a:p>
            <a:pPr marL="114300" indent="0">
              <a:buNone/>
            </a:pPr>
            <a:r>
              <a:rPr lang="ru-RU" dirty="0">
                <a:latin typeface="Times New Roman" panose="02020603050405020304" pitchFamily="18" charset="0"/>
                <a:cs typeface="Times New Roman" panose="02020603050405020304" pitchFamily="18" charset="0"/>
              </a:rPr>
              <a:t>Прикладные протоколы отвечают за взаимодействие приложений. Ниже приведены наиболее популярные прикладные протоколы.</a:t>
            </a:r>
          </a:p>
          <a:p>
            <a:r>
              <a:rPr lang="en-US" b="1" dirty="0" smtClean="0">
                <a:latin typeface="Times New Roman" panose="02020603050405020304" pitchFamily="18" charset="0"/>
                <a:cs typeface="Times New Roman" panose="02020603050405020304" pitchFamily="18" charset="0"/>
              </a:rPr>
              <a:t>AFP</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(Apple Talk File Protocol – </a:t>
            </a:r>
            <a:r>
              <a:rPr lang="ru-RU" dirty="0">
                <a:latin typeface="Times New Roman" panose="02020603050405020304" pitchFamily="18" charset="0"/>
                <a:cs typeface="Times New Roman" panose="02020603050405020304" pitchFamily="18" charset="0"/>
              </a:rPr>
              <a:t>Файловый протокол </a:t>
            </a:r>
            <a:r>
              <a:rPr lang="en-US" dirty="0">
                <a:latin typeface="Times New Roman" panose="02020603050405020304" pitchFamily="18" charset="0"/>
                <a:cs typeface="Times New Roman" panose="02020603050405020304" pitchFamily="18" charset="0"/>
              </a:rPr>
              <a:t>Apple Talk).</a:t>
            </a:r>
            <a:r>
              <a:rPr lang="en-US"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Протокол удаленного управления файлами </a:t>
            </a:r>
            <a:r>
              <a:rPr lang="en-US" dirty="0">
                <a:latin typeface="Times New Roman" panose="02020603050405020304" pitchFamily="18" charset="0"/>
                <a:cs typeface="Times New Roman" panose="02020603050405020304" pitchFamily="18" charset="0"/>
              </a:rPr>
              <a:t>Macintosh.</a:t>
            </a:r>
          </a:p>
          <a:p>
            <a:r>
              <a:rPr lang="en-US" b="1" dirty="0" smtClean="0">
                <a:latin typeface="Times New Roman" panose="02020603050405020304" pitchFamily="18" charset="0"/>
                <a:cs typeface="Times New Roman" panose="02020603050405020304" pitchFamily="18" charset="0"/>
              </a:rPr>
              <a:t>FTP</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(File Transfer Protocol – </a:t>
            </a:r>
            <a:r>
              <a:rPr lang="ru-RU" dirty="0">
                <a:latin typeface="Times New Roman" panose="02020603050405020304" pitchFamily="18" charset="0"/>
                <a:cs typeface="Times New Roman" panose="02020603050405020304" pitchFamily="18" charset="0"/>
              </a:rPr>
              <a:t>Протокол передачи файлов). Протокол стека </a:t>
            </a:r>
            <a:r>
              <a:rPr lang="en-US" dirty="0">
                <a:latin typeface="Times New Roman" panose="02020603050405020304" pitchFamily="18" charset="0"/>
                <a:cs typeface="Times New Roman" panose="02020603050405020304" pitchFamily="18" charset="0"/>
              </a:rPr>
              <a:t>TCP/IP,</a:t>
            </a:r>
            <a:r>
              <a:rPr lang="en-US"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используемый для обеспечения услуг по передачи файлов.</a:t>
            </a:r>
          </a:p>
          <a:p>
            <a:r>
              <a:rPr lang="en-US" b="1" dirty="0" smtClean="0">
                <a:latin typeface="Times New Roman" panose="02020603050405020304" pitchFamily="18" charset="0"/>
                <a:cs typeface="Times New Roman" panose="02020603050405020304" pitchFamily="18" charset="0"/>
              </a:rPr>
              <a:t>NCP</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(NetWare Core Protocol – </a:t>
            </a:r>
            <a:r>
              <a:rPr lang="ru-RU" dirty="0">
                <a:latin typeface="Times New Roman" panose="02020603050405020304" pitchFamily="18" charset="0"/>
                <a:cs typeface="Times New Roman" panose="02020603050405020304" pitchFamily="18" charset="0"/>
              </a:rPr>
              <a:t>Базовый протокол </a:t>
            </a:r>
            <a:r>
              <a:rPr lang="en-US" dirty="0">
                <a:latin typeface="Times New Roman" panose="02020603050405020304" pitchFamily="18" charset="0"/>
                <a:cs typeface="Times New Roman" panose="02020603050405020304" pitchFamily="18" charset="0"/>
              </a:rPr>
              <a:t>NetWare). </a:t>
            </a:r>
            <a:r>
              <a:rPr lang="ru-RU" dirty="0">
                <a:latin typeface="Times New Roman" panose="02020603050405020304" pitchFamily="18" charset="0"/>
                <a:cs typeface="Times New Roman" panose="02020603050405020304" pitchFamily="18" charset="0"/>
              </a:rPr>
              <a:t>Оболочка и </a:t>
            </a:r>
            <a:r>
              <a:rPr lang="ru-RU" dirty="0" err="1">
                <a:latin typeface="Times New Roman" panose="02020603050405020304" pitchFamily="18" charset="0"/>
                <a:cs typeface="Times New Roman" panose="02020603050405020304" pitchFamily="18" charset="0"/>
              </a:rPr>
              <a:t>редиректоры</a:t>
            </a:r>
            <a:r>
              <a:rPr lang="ru-RU" dirty="0">
                <a:latin typeface="Times New Roman" panose="02020603050405020304" pitchFamily="18" charset="0"/>
                <a:cs typeface="Times New Roman" panose="02020603050405020304" pitchFamily="18" charset="0"/>
              </a:rPr>
              <a:t> клиента </a:t>
            </a:r>
            <a:r>
              <a:rPr lang="en-US" dirty="0">
                <a:latin typeface="Times New Roman" panose="02020603050405020304" pitchFamily="18" charset="0"/>
                <a:cs typeface="Times New Roman" panose="02020603050405020304" pitchFamily="18" charset="0"/>
              </a:rPr>
              <a:t>Novel NetWare.</a:t>
            </a:r>
          </a:p>
          <a:p>
            <a:r>
              <a:rPr lang="en-US" b="1" dirty="0" smtClean="0">
                <a:latin typeface="Times New Roman" panose="02020603050405020304" pitchFamily="18" charset="0"/>
                <a:cs typeface="Times New Roman" panose="02020603050405020304" pitchFamily="18" charset="0"/>
              </a:rPr>
              <a:t>SNMP</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(Simple Network Management Protocol – </a:t>
            </a:r>
            <a:r>
              <a:rPr lang="ru-RU" dirty="0">
                <a:latin typeface="Times New Roman" panose="02020603050405020304" pitchFamily="18" charset="0"/>
                <a:cs typeface="Times New Roman" panose="02020603050405020304" pitchFamily="18" charset="0"/>
              </a:rPr>
              <a:t>Простой протокол управления сетью).</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Протокол стека </a:t>
            </a:r>
            <a:r>
              <a:rPr lang="en-US" dirty="0">
                <a:latin typeface="Times New Roman" panose="02020603050405020304" pitchFamily="18" charset="0"/>
                <a:cs typeface="Times New Roman" panose="02020603050405020304" pitchFamily="18" charset="0"/>
              </a:rPr>
              <a:t>TCP/IP, </a:t>
            </a:r>
            <a:r>
              <a:rPr lang="ru-RU" dirty="0">
                <a:latin typeface="Times New Roman" panose="02020603050405020304" pitchFamily="18" charset="0"/>
                <a:cs typeface="Times New Roman" panose="02020603050405020304" pitchFamily="18" charset="0"/>
              </a:rPr>
              <a:t>используемый для</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управления и наблюдения за сетевыми устройствами.</a:t>
            </a:r>
          </a:p>
          <a:p>
            <a:r>
              <a:rPr lang="en-US" b="1" dirty="0" smtClean="0">
                <a:latin typeface="Times New Roman" panose="02020603050405020304" pitchFamily="18" charset="0"/>
                <a:cs typeface="Times New Roman" panose="02020603050405020304" pitchFamily="18" charset="0"/>
              </a:rPr>
              <a:t>HTTP</a:t>
            </a:r>
            <a:r>
              <a:rPr lang="en-US" dirty="0">
                <a:latin typeface="Times New Roman" panose="02020603050405020304" pitchFamily="18" charset="0"/>
                <a:cs typeface="Times New Roman" panose="02020603050405020304" pitchFamily="18" charset="0"/>
              </a:rPr>
              <a:t> (Hyper Text Transfer Protocol) – </a:t>
            </a:r>
            <a:r>
              <a:rPr lang="ru-RU" dirty="0">
                <a:latin typeface="Times New Roman" panose="02020603050405020304" pitchFamily="18" charset="0"/>
                <a:cs typeface="Times New Roman" panose="02020603050405020304" pitchFamily="18" charset="0"/>
              </a:rPr>
              <a:t>протокол передачи гипертекста и другие протоколы</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2221460"/>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95536" y="1988840"/>
            <a:ext cx="7620000" cy="1143000"/>
          </a:xfrm>
        </p:spPr>
        <p:txBody>
          <a:bodyPr/>
          <a:lstStyle/>
          <a:p>
            <a:pPr algn="ctr"/>
            <a:r>
              <a:rPr lang="ru-RU" b="1" dirty="0">
                <a:latin typeface="Times New Roman" panose="02020603050405020304" pitchFamily="18" charset="0"/>
                <a:cs typeface="Times New Roman" panose="02020603050405020304" pitchFamily="18" charset="0"/>
              </a:rPr>
              <a:t>Сетевые архитектуры</a:t>
            </a:r>
            <a:endParaRPr lang="ru-RU"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1691680" y="3131840"/>
            <a:ext cx="6606480" cy="923330"/>
          </a:xfrm>
          <a:prstGeom prst="rect">
            <a:avLst/>
          </a:prstGeom>
        </p:spPr>
        <p:txBody>
          <a:bodyPr wrap="square">
            <a:spAutoFit/>
          </a:bodyPr>
          <a:lstStyle/>
          <a:p>
            <a:r>
              <a:rPr lang="ru-RU" b="1" i="1" dirty="0">
                <a:latin typeface="Times New Roman" panose="02020603050405020304" pitchFamily="18" charset="0"/>
                <a:ea typeface="Times New Roman" panose="02020603050405020304" pitchFamily="18" charset="0"/>
              </a:rPr>
              <a:t>Основные методы </a:t>
            </a:r>
            <a:r>
              <a:rPr lang="ru-RU" b="1" i="1" dirty="0" smtClean="0">
                <a:latin typeface="Times New Roman" panose="02020603050405020304" pitchFamily="18" charset="0"/>
                <a:ea typeface="Times New Roman" panose="02020603050405020304" pitchFamily="18" charset="0"/>
              </a:rPr>
              <a:t>доступа </a:t>
            </a:r>
            <a:r>
              <a:rPr lang="ru-RU" b="1" i="1" dirty="0">
                <a:latin typeface="Times New Roman" panose="02020603050405020304" pitchFamily="18" charset="0"/>
                <a:ea typeface="Times New Roman" panose="02020603050405020304" pitchFamily="18" charset="0"/>
              </a:rPr>
              <a:t>к </a:t>
            </a:r>
            <a:r>
              <a:rPr lang="ru-RU" b="1" i="1" dirty="0" smtClean="0">
                <a:latin typeface="Times New Roman" panose="02020603050405020304" pitchFamily="18" charset="0"/>
                <a:ea typeface="Times New Roman" panose="02020603050405020304" pitchFamily="18" charset="0"/>
              </a:rPr>
              <a:t>среде передачи данных.</a:t>
            </a:r>
            <a:endParaRPr lang="en-US" b="1" i="1" dirty="0" smtClean="0">
              <a:latin typeface="Times New Roman" panose="02020603050405020304" pitchFamily="18" charset="0"/>
              <a:ea typeface="Times New Roman" panose="02020603050405020304" pitchFamily="18" charset="0"/>
            </a:endParaRPr>
          </a:p>
          <a:p>
            <a:r>
              <a:rPr lang="ru-RU" b="1" i="1" dirty="0" smtClean="0">
                <a:latin typeface="Times New Roman" panose="02020603050405020304" pitchFamily="18" charset="0"/>
                <a:ea typeface="Times New Roman" panose="02020603050405020304" pitchFamily="18" charset="0"/>
              </a:rPr>
              <a:t> </a:t>
            </a:r>
            <a:endParaRPr lang="en-US" b="1" i="1" dirty="0" smtClean="0">
              <a:latin typeface="Times New Roman" panose="02020603050405020304" pitchFamily="18" charset="0"/>
              <a:ea typeface="Times New Roman" panose="02020603050405020304" pitchFamily="18" charset="0"/>
            </a:endParaRPr>
          </a:p>
          <a:p>
            <a:r>
              <a:rPr lang="ru-RU" b="1" i="1" dirty="0" smtClean="0">
                <a:latin typeface="Times New Roman" panose="02020603050405020304" pitchFamily="18" charset="0"/>
                <a:ea typeface="Times New Roman" panose="02020603050405020304" pitchFamily="18" charset="0"/>
              </a:rPr>
              <a:t>Технология Ethernet</a:t>
            </a:r>
            <a:r>
              <a:rPr lang="ru-RU" b="1" i="1" dirty="0">
                <a:latin typeface="Times New Roman" panose="02020603050405020304" pitchFamily="18" charset="0"/>
                <a:ea typeface="Times New Roman" panose="02020603050405020304" pitchFamily="18" charset="0"/>
              </a:rPr>
              <a:t>. Технология 100</a:t>
            </a:r>
            <a:r>
              <a:rPr lang="en-US" b="1" i="1" dirty="0">
                <a:latin typeface="Times New Roman" panose="02020603050405020304" pitchFamily="18" charset="0"/>
                <a:ea typeface="Times New Roman" panose="02020603050405020304" pitchFamily="18" charset="0"/>
              </a:rPr>
              <a:t>VG </a:t>
            </a:r>
            <a:r>
              <a:rPr lang="en-US" b="1" i="1" dirty="0" err="1">
                <a:latin typeface="Times New Roman" panose="02020603050405020304" pitchFamily="18" charset="0"/>
                <a:ea typeface="Times New Roman" panose="02020603050405020304" pitchFamily="18" charset="0"/>
              </a:rPr>
              <a:t>AnyLAN</a:t>
            </a:r>
            <a:endParaRPr lang="ru-RU" i="1" dirty="0"/>
          </a:p>
        </p:txBody>
      </p:sp>
    </p:spTree>
    <p:extLst>
      <p:ext uri="{BB962C8B-B14F-4D97-AF65-F5344CB8AC3E}">
        <p14:creationId xmlns:p14="http://schemas.microsoft.com/office/powerpoint/2010/main" val="1134572593"/>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latin typeface="Times New Roman" panose="02020603050405020304" pitchFamily="18" charset="0"/>
                <a:ea typeface="Times New Roman" panose="02020603050405020304" pitchFamily="18" charset="0"/>
              </a:rPr>
              <a:t>Основные методы </a:t>
            </a:r>
            <a:r>
              <a:rPr lang="ru-RU" b="1" dirty="0" smtClean="0">
                <a:latin typeface="Times New Roman" panose="02020603050405020304" pitchFamily="18" charset="0"/>
                <a:ea typeface="Times New Roman" panose="02020603050405020304" pitchFamily="18" charset="0"/>
              </a:rPr>
              <a:t>доступ</a:t>
            </a:r>
            <a:r>
              <a:rPr lang="ru-RU" b="1" dirty="0">
                <a:latin typeface="Times New Roman" panose="02020603050405020304" pitchFamily="18" charset="0"/>
                <a:ea typeface="Times New Roman" panose="02020603050405020304" pitchFamily="18" charset="0"/>
              </a:rPr>
              <a:t>а</a:t>
            </a:r>
            <a:r>
              <a:rPr lang="ru-RU" b="1" dirty="0" smtClean="0">
                <a:latin typeface="Times New Roman" panose="02020603050405020304" pitchFamily="18" charset="0"/>
                <a:ea typeface="Times New Roman" panose="02020603050405020304" pitchFamily="18" charset="0"/>
              </a:rPr>
              <a:t> </a:t>
            </a:r>
            <a:r>
              <a:rPr lang="ru-RU" b="1" dirty="0">
                <a:latin typeface="Times New Roman" panose="02020603050405020304" pitchFamily="18" charset="0"/>
                <a:ea typeface="Times New Roman" panose="02020603050405020304" pitchFamily="18" charset="0"/>
              </a:rPr>
              <a:t>к среде </a:t>
            </a:r>
            <a:r>
              <a:rPr lang="ru-RU" b="1" dirty="0" smtClean="0">
                <a:latin typeface="Times New Roman" panose="02020603050405020304" pitchFamily="18" charset="0"/>
                <a:ea typeface="Times New Roman" panose="02020603050405020304" pitchFamily="18" charset="0"/>
              </a:rPr>
              <a:t>передачи данных</a:t>
            </a:r>
            <a:endParaRPr lang="ru-RU" dirty="0"/>
          </a:p>
        </p:txBody>
      </p:sp>
      <p:sp>
        <p:nvSpPr>
          <p:cNvPr id="3" name="Объект 2"/>
          <p:cNvSpPr>
            <a:spLocks noGrp="1"/>
          </p:cNvSpPr>
          <p:nvPr>
            <p:ph idx="1"/>
          </p:nvPr>
        </p:nvSpPr>
        <p:spPr/>
        <p:txBody>
          <a:bodyPr/>
          <a:lstStyle/>
          <a:p>
            <a:pPr marL="114300" indent="0" algn="just">
              <a:buNone/>
            </a:pPr>
            <a:r>
              <a:rPr lang="ru-RU" b="1" dirty="0">
                <a:latin typeface="Times New Roman" panose="02020603050405020304" pitchFamily="18" charset="0"/>
                <a:cs typeface="Times New Roman" panose="02020603050405020304" pitchFamily="18" charset="0"/>
              </a:rPr>
              <a:t>Метод доступа к среде передачи </a:t>
            </a:r>
            <a:r>
              <a:rPr lang="ru-RU" dirty="0">
                <a:latin typeface="Times New Roman" panose="02020603050405020304" pitchFamily="18" charset="0"/>
                <a:cs typeface="Times New Roman" panose="02020603050405020304" pitchFamily="18" charset="0"/>
              </a:rPr>
              <a:t>– это правила (протокол), которые описывают, как устройства разделяют канал связи, как занимают канал и освобождают его. </a:t>
            </a:r>
            <a:endParaRPr lang="en-US" dirty="0" smtClean="0">
              <a:latin typeface="Times New Roman" panose="02020603050405020304" pitchFamily="18" charset="0"/>
              <a:cs typeface="Times New Roman" panose="02020603050405020304" pitchFamily="18" charset="0"/>
            </a:endParaRPr>
          </a:p>
          <a:p>
            <a:pPr marL="114300" indent="0" algn="just">
              <a:buNone/>
            </a:pPr>
            <a:endParaRPr lang="en-US" dirty="0">
              <a:latin typeface="Times New Roman" panose="02020603050405020304" pitchFamily="18" charset="0"/>
              <a:cs typeface="Times New Roman" panose="02020603050405020304" pitchFamily="18" charset="0"/>
            </a:endParaRPr>
          </a:p>
          <a:p>
            <a:pPr marL="114300" indent="0" algn="just">
              <a:buNone/>
            </a:pPr>
            <a:r>
              <a:rPr lang="ru-RU" dirty="0" smtClean="0">
                <a:latin typeface="Times New Roman" panose="02020603050405020304" pitchFamily="18" charset="0"/>
                <a:cs typeface="Times New Roman" panose="02020603050405020304" pitchFamily="18" charset="0"/>
              </a:rPr>
              <a:t>Метод </a:t>
            </a:r>
            <a:r>
              <a:rPr lang="ru-RU" dirty="0">
                <a:latin typeface="Times New Roman" panose="02020603050405020304" pitchFamily="18" charset="0"/>
                <a:cs typeface="Times New Roman" panose="02020603050405020304" pitchFamily="18" charset="0"/>
              </a:rPr>
              <a:t>доступа влияет на эффективную скорость передачи данных, то есть реальную пропускную способность сети</a:t>
            </a:r>
            <a:r>
              <a:rPr lang="ru-RU"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114300" indent="0" algn="just">
              <a:buNone/>
            </a:pPr>
            <a:r>
              <a:rPr lang="ru-RU" dirty="0" smtClean="0">
                <a:latin typeface="Times New Roman" panose="02020603050405020304" pitchFamily="18" charset="0"/>
                <a:cs typeface="Times New Roman" panose="02020603050405020304" pitchFamily="18" charset="0"/>
              </a:rPr>
              <a:t>Для </a:t>
            </a:r>
            <a:r>
              <a:rPr lang="ru-RU" dirty="0">
                <a:latin typeface="Times New Roman" panose="02020603050405020304" pitchFamily="18" charset="0"/>
                <a:cs typeface="Times New Roman" panose="02020603050405020304" pitchFamily="18" charset="0"/>
              </a:rPr>
              <a:t>управления обменом (управления доступом к сети) используются различные методы, особенности которых в значительной степени зависят от топологии сети.</a:t>
            </a:r>
          </a:p>
        </p:txBody>
      </p:sp>
    </p:spTree>
    <p:extLst>
      <p:ext uri="{BB962C8B-B14F-4D97-AF65-F5344CB8AC3E}">
        <p14:creationId xmlns:p14="http://schemas.microsoft.com/office/powerpoint/2010/main" val="31095168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Существует несколько групп методов доступа, основанных на временном разделении канала: </a:t>
            </a:r>
            <a:endParaRPr lang="en-US" dirty="0" smtClean="0">
              <a:latin typeface="Times New Roman" panose="02020603050405020304" pitchFamily="18" charset="0"/>
              <a:cs typeface="Times New Roman" panose="02020603050405020304" pitchFamily="18" charset="0"/>
            </a:endParaRPr>
          </a:p>
          <a:p>
            <a:pPr marL="114300" indent="0">
              <a:buNone/>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b="1" i="1" dirty="0" smtClean="0">
                <a:latin typeface="Times New Roman" panose="02020603050405020304" pitchFamily="18" charset="0"/>
                <a:cs typeface="Times New Roman" panose="02020603050405020304" pitchFamily="18" charset="0"/>
              </a:rPr>
              <a:t>Централизованные</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 все управление доступом сосредоточено в одном узле (центре), например от сервера</a:t>
            </a:r>
            <a:r>
              <a:rPr lang="ru-RU"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ru-RU" b="1" i="1" dirty="0" smtClean="0">
                <a:latin typeface="Times New Roman" panose="02020603050405020304" pitchFamily="18" charset="0"/>
                <a:cs typeface="Times New Roman" panose="02020603050405020304" pitchFamily="18" charset="0"/>
              </a:rPr>
              <a:t>Децентрализованные</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 управление доступом осуществляется всеми абонентами сети на основе протоколов без управляющих воздействий со стороны центра.</a:t>
            </a:r>
          </a:p>
        </p:txBody>
      </p:sp>
      <p:sp>
        <p:nvSpPr>
          <p:cNvPr id="4" name="Заголовок 1"/>
          <p:cNvSpPr>
            <a:spLocks noGrp="1"/>
          </p:cNvSpPr>
          <p:nvPr>
            <p:ph type="title"/>
          </p:nvPr>
        </p:nvSpPr>
        <p:spPr/>
        <p:txBody>
          <a:bodyPr/>
          <a:lstStyle/>
          <a:p>
            <a:pPr algn="ctr"/>
            <a:r>
              <a:rPr lang="ru-RU" b="1" dirty="0">
                <a:latin typeface="Times New Roman" panose="02020603050405020304" pitchFamily="18" charset="0"/>
                <a:ea typeface="Times New Roman" panose="02020603050405020304" pitchFamily="18" charset="0"/>
              </a:rPr>
              <a:t>Основные методы доступ к среде передачи</a:t>
            </a:r>
            <a:endParaRPr lang="ru-RU" dirty="0"/>
          </a:p>
        </p:txBody>
      </p:sp>
    </p:spTree>
    <p:extLst>
      <p:ext uri="{BB962C8B-B14F-4D97-AF65-F5344CB8AC3E}">
        <p14:creationId xmlns:p14="http://schemas.microsoft.com/office/powerpoint/2010/main" val="2416101030"/>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Децентрализованные методы</a:t>
            </a:r>
          </a:p>
        </p:txBody>
      </p:sp>
      <p:sp>
        <p:nvSpPr>
          <p:cNvPr id="3" name="Объект 2"/>
          <p:cNvSpPr>
            <a:spLocks noGrp="1"/>
          </p:cNvSpPr>
          <p:nvPr>
            <p:ph idx="1"/>
          </p:nvPr>
        </p:nvSpPr>
        <p:spPr/>
        <p:txBody>
          <a:bodyPr>
            <a:normAutofit/>
          </a:bodyPr>
          <a:lstStyle/>
          <a:p>
            <a:pPr marL="114300" indent="0">
              <a:buNone/>
            </a:pPr>
            <a:r>
              <a:rPr lang="ru-RU" sz="2800" dirty="0">
                <a:latin typeface="Times New Roman" panose="02020603050405020304" pitchFamily="18" charset="0"/>
                <a:cs typeface="Times New Roman" panose="02020603050405020304" pitchFamily="18" charset="0"/>
              </a:rPr>
              <a:t>Децентрализованные методы делятся </a:t>
            </a:r>
            <a:r>
              <a:rPr lang="ru-RU" sz="2800" dirty="0" smtClean="0">
                <a:latin typeface="Times New Roman" panose="02020603050405020304" pitchFamily="18" charset="0"/>
                <a:cs typeface="Times New Roman" panose="02020603050405020304" pitchFamily="18" charset="0"/>
              </a:rPr>
              <a:t>на:</a:t>
            </a:r>
          </a:p>
          <a:p>
            <a:pPr>
              <a:buFont typeface="Wingdings" panose="05000000000000000000" pitchFamily="2" charset="2"/>
              <a:buChar char="ü"/>
            </a:pPr>
            <a:r>
              <a:rPr lang="ru-RU" sz="2800" dirty="0">
                <a:latin typeface="Times New Roman" panose="02020603050405020304" pitchFamily="18" charset="0"/>
                <a:cs typeface="Times New Roman" panose="02020603050405020304" pitchFamily="18" charset="0"/>
              </a:rPr>
              <a:t>Детерминированные методы определяют четкие правила, по которым осуществляется порядок предоставления доступа абонентам </a:t>
            </a:r>
            <a:r>
              <a:rPr lang="ru-RU" sz="2800" dirty="0" smtClean="0">
                <a:latin typeface="Times New Roman" panose="02020603050405020304" pitchFamily="18" charset="0"/>
                <a:cs typeface="Times New Roman" panose="02020603050405020304" pitchFamily="18" charset="0"/>
              </a:rPr>
              <a:t>сети;</a:t>
            </a:r>
          </a:p>
          <a:p>
            <a:pPr>
              <a:buFont typeface="Wingdings" panose="05000000000000000000" pitchFamily="2" charset="2"/>
              <a:buChar char="ü"/>
            </a:pPr>
            <a:r>
              <a:rPr lang="ru-RU" sz="2800" dirty="0">
                <a:latin typeface="Times New Roman" panose="02020603050405020304" pitchFamily="18" charset="0"/>
                <a:cs typeface="Times New Roman" panose="02020603050405020304" pitchFamily="18" charset="0"/>
              </a:rPr>
              <a:t>Случайные (вероятностные) методы подразумевают произвольный (случайный) порядок получения доступа к среде </a:t>
            </a:r>
            <a:r>
              <a:rPr lang="ru-RU" sz="2800" dirty="0" smtClean="0">
                <a:latin typeface="Times New Roman" panose="02020603050405020304" pitchFamily="18" charset="0"/>
                <a:cs typeface="Times New Roman" panose="02020603050405020304" pitchFamily="18" charset="0"/>
              </a:rPr>
              <a:t>передачи;</a:t>
            </a:r>
          </a:p>
        </p:txBody>
      </p:sp>
    </p:spTree>
    <p:extLst>
      <p:ext uri="{BB962C8B-B14F-4D97-AF65-F5344CB8AC3E}">
        <p14:creationId xmlns:p14="http://schemas.microsoft.com/office/powerpoint/2010/main" val="1471772860"/>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latin typeface="Times New Roman" panose="02020603050405020304" pitchFamily="18" charset="0"/>
                <a:ea typeface="Times New Roman" panose="02020603050405020304" pitchFamily="18" charset="0"/>
              </a:rPr>
              <a:t>Технология Ethernet</a:t>
            </a:r>
            <a:endParaRPr lang="ru-RU" dirty="0"/>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Ethernet – это наиболее распространённая технология организации локальных сетей. </a:t>
            </a:r>
            <a:endParaRPr lang="en-US" dirty="0" smtClean="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Стандарты Ethernet описывают реализацию двух первых уровней модели OSI – проводные соединения и электрические сигналы (физический уровень), а так же форматы блоков данных и протоколы управления доступом к сети (канальный уровень). </a:t>
            </a:r>
          </a:p>
        </p:txBody>
      </p:sp>
    </p:spTree>
    <p:extLst>
      <p:ext uri="{BB962C8B-B14F-4D97-AF65-F5344CB8AC3E}">
        <p14:creationId xmlns:p14="http://schemas.microsoft.com/office/powerpoint/2010/main" val="3492864529"/>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99392"/>
            <a:ext cx="7620000" cy="1143000"/>
          </a:xfrm>
        </p:spPr>
        <p:txBody>
          <a:bodyPr/>
          <a:lstStyle/>
          <a:p>
            <a:pPr algn="ctr"/>
            <a:r>
              <a:rPr lang="ru-RU" b="1" dirty="0" smtClean="0">
                <a:latin typeface="Times New Roman" panose="02020603050405020304" pitchFamily="18" charset="0"/>
                <a:cs typeface="Times New Roman" panose="02020603050405020304" pitchFamily="18" charset="0"/>
              </a:rPr>
              <a:t>Плюсы и минусы </a:t>
            </a:r>
            <a:r>
              <a:rPr lang="en-US" b="1" dirty="0" smtClean="0">
                <a:latin typeface="Times New Roman" panose="02020603050405020304" pitchFamily="18" charset="0"/>
                <a:cs typeface="Times New Roman" panose="02020603050405020304" pitchFamily="18" charset="0"/>
              </a:rPr>
              <a:t>Ethernet</a:t>
            </a:r>
            <a:endParaRPr lang="ru-RU"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07504" y="1196752"/>
            <a:ext cx="4536504" cy="5472608"/>
          </a:xfrm>
        </p:spPr>
        <p:txBody>
          <a:bodyPr>
            <a:noAutofit/>
          </a:bodyPr>
          <a:lstStyle/>
          <a:p>
            <a:pPr>
              <a:buFont typeface="Calibri" panose="020F0502020204030204" pitchFamily="34" charset="0"/>
              <a:buChar char="+"/>
            </a:pPr>
            <a:r>
              <a:rPr lang="ru-RU" sz="1600" dirty="0">
                <a:latin typeface="Times New Roman" panose="02020603050405020304" pitchFamily="18" charset="0"/>
                <a:cs typeface="Times New Roman" panose="02020603050405020304" pitchFamily="18" charset="0"/>
              </a:rPr>
              <a:t>наилучшее соотношение цена/скорость/возможности в сравнении со всеми другими технологиями</a:t>
            </a:r>
          </a:p>
          <a:p>
            <a:pPr>
              <a:buFont typeface="Calibri" panose="020F0502020204030204" pitchFamily="34" charset="0"/>
              <a:buChar char="+"/>
            </a:pPr>
            <a:r>
              <a:rPr lang="ru-RU" sz="1600" dirty="0" smtClean="0">
                <a:latin typeface="Times New Roman" panose="02020603050405020304" pitchFamily="18" charset="0"/>
                <a:cs typeface="Times New Roman" panose="02020603050405020304" pitchFamily="18" charset="0"/>
              </a:rPr>
              <a:t>возможность </a:t>
            </a:r>
            <a:r>
              <a:rPr lang="ru-RU" sz="1600" dirty="0">
                <a:latin typeface="Times New Roman" panose="02020603050405020304" pitchFamily="18" charset="0"/>
                <a:cs typeface="Times New Roman" panose="02020603050405020304" pitchFamily="18" charset="0"/>
              </a:rPr>
              <a:t>использовать внутренние ресурсы </a:t>
            </a:r>
            <a:r>
              <a:rPr lang="ru-RU" sz="1600" dirty="0" smtClean="0">
                <a:latin typeface="Times New Roman" panose="02020603050405020304" pitchFamily="18" charset="0"/>
                <a:cs typeface="Times New Roman" panose="02020603050405020304" pitchFamily="18" charset="0"/>
              </a:rPr>
              <a:t>сетей</a:t>
            </a:r>
            <a:r>
              <a:rPr lang="en-US" sz="1600" dirty="0" smtClean="0">
                <a:latin typeface="Times New Roman" panose="02020603050405020304" pitchFamily="18" charset="0"/>
                <a:cs typeface="Times New Roman" panose="02020603050405020304" pitchFamily="18" charset="0"/>
              </a:rPr>
              <a:t> </a:t>
            </a:r>
            <a:r>
              <a:rPr lang="ru-RU" sz="1600" dirty="0" smtClean="0">
                <a:latin typeface="Times New Roman" panose="02020603050405020304" pitchFamily="18" charset="0"/>
                <a:cs typeface="Times New Roman" panose="02020603050405020304" pitchFamily="18" charset="0"/>
              </a:rPr>
              <a:t>на </a:t>
            </a:r>
            <a:r>
              <a:rPr lang="ru-RU" sz="1600" dirty="0">
                <a:latin typeface="Times New Roman" panose="02020603050405020304" pitchFamily="18" charset="0"/>
                <a:cs typeface="Times New Roman" panose="02020603050405020304" pitchFamily="18" charset="0"/>
              </a:rPr>
              <a:t>огромной </a:t>
            </a:r>
            <a:r>
              <a:rPr lang="ru-RU" sz="1600" dirty="0" smtClean="0">
                <a:latin typeface="Times New Roman" panose="02020603050405020304" pitchFamily="18" charset="0"/>
                <a:cs typeface="Times New Roman" panose="02020603050405020304" pitchFamily="18" charset="0"/>
              </a:rPr>
              <a:t>скорости</a:t>
            </a:r>
            <a:endParaRPr lang="en-US" sz="1600" dirty="0" smtClean="0">
              <a:latin typeface="Times New Roman" panose="02020603050405020304" pitchFamily="18" charset="0"/>
              <a:cs typeface="Times New Roman" panose="02020603050405020304" pitchFamily="18" charset="0"/>
            </a:endParaRPr>
          </a:p>
          <a:p>
            <a:pPr>
              <a:buFont typeface="Calibri" panose="020F0502020204030204" pitchFamily="34" charset="0"/>
              <a:buChar char="+"/>
            </a:pPr>
            <a:r>
              <a:rPr lang="ru-RU" sz="1600" dirty="0" smtClean="0">
                <a:latin typeface="Times New Roman" panose="02020603050405020304" pitchFamily="18" charset="0"/>
                <a:cs typeface="Times New Roman" panose="02020603050405020304" pitchFamily="18" charset="0"/>
              </a:rPr>
              <a:t>независимость </a:t>
            </a:r>
            <a:r>
              <a:rPr lang="ru-RU" sz="1600" dirty="0">
                <a:latin typeface="Times New Roman" panose="02020603050405020304" pitchFamily="18" charset="0"/>
                <a:cs typeface="Times New Roman" panose="02020603050405020304" pitchFamily="18" charset="0"/>
              </a:rPr>
              <a:t>ни от наличия городского телефона/телевизионного кабеля, ни от их </a:t>
            </a:r>
            <a:r>
              <a:rPr lang="ru-RU" sz="1600" dirty="0" err="1">
                <a:latin typeface="Times New Roman" panose="02020603050405020304" pitchFamily="18" charset="0"/>
                <a:cs typeface="Times New Roman" panose="02020603050405020304" pitchFamily="18" charset="0"/>
              </a:rPr>
              <a:t>техсостояния</a:t>
            </a:r>
            <a:endParaRPr lang="ru-RU" sz="1600" dirty="0">
              <a:latin typeface="Times New Roman" panose="02020603050405020304" pitchFamily="18" charset="0"/>
              <a:cs typeface="Times New Roman" panose="02020603050405020304" pitchFamily="18" charset="0"/>
            </a:endParaRPr>
          </a:p>
          <a:p>
            <a:pPr>
              <a:buFont typeface="Calibri" panose="020F0502020204030204" pitchFamily="34" charset="0"/>
              <a:buChar char="+"/>
            </a:pPr>
            <a:r>
              <a:rPr lang="ru-RU" sz="1600" dirty="0" smtClean="0">
                <a:latin typeface="Times New Roman" panose="02020603050405020304" pitchFamily="18" charset="0"/>
                <a:cs typeface="Times New Roman" panose="02020603050405020304" pitchFamily="18" charset="0"/>
              </a:rPr>
              <a:t>существует </a:t>
            </a:r>
            <a:r>
              <a:rPr lang="ru-RU" sz="1600" dirty="0">
                <a:latin typeface="Times New Roman" panose="02020603050405020304" pitchFamily="18" charset="0"/>
                <a:cs typeface="Times New Roman" panose="02020603050405020304" pitchFamily="18" charset="0"/>
              </a:rPr>
              <a:t>множество дополнительных устройств для простого подключения на одну линию нескольких компьютеров и/или других устройств (игровые </a:t>
            </a:r>
            <a:r>
              <a:rPr lang="ru-RU" sz="1600" dirty="0" err="1">
                <a:latin typeface="Times New Roman" panose="02020603050405020304" pitchFamily="18" charset="0"/>
                <a:cs typeface="Times New Roman" panose="02020603050405020304" pitchFamily="18" charset="0"/>
              </a:rPr>
              <a:t>приставки,IP-камерывидеонаблюдения</a:t>
            </a:r>
            <a:r>
              <a:rPr lang="ru-RU" sz="1600" dirty="0">
                <a:latin typeface="Times New Roman" panose="02020603050405020304" pitchFamily="18" charset="0"/>
                <a:cs typeface="Times New Roman" panose="02020603050405020304" pitchFamily="18" charset="0"/>
              </a:rPr>
              <a:t> и пр.), </a:t>
            </a:r>
            <a:r>
              <a:rPr lang="ru-RU" sz="1600" dirty="0" err="1">
                <a:latin typeface="Times New Roman" panose="02020603050405020304" pitchFamily="18" charset="0"/>
                <a:cs typeface="Times New Roman" panose="02020603050405020304" pitchFamily="18" charset="0"/>
              </a:rPr>
              <a:t>т.к</a:t>
            </a:r>
            <a:r>
              <a:rPr lang="ru-RU" sz="1600" dirty="0">
                <a:latin typeface="Times New Roman" panose="02020603050405020304" pitchFamily="18" charset="0"/>
                <a:cs typeface="Times New Roman" panose="02020603050405020304" pitchFamily="18" charset="0"/>
              </a:rPr>
              <a:t> это основная и самая распространённая сетевая технология сегодня и в обозримом будущем.</a:t>
            </a:r>
          </a:p>
          <a:p>
            <a:pPr>
              <a:buFont typeface="Calibri" panose="020F0502020204030204" pitchFamily="34" charset="0"/>
              <a:buChar char="+"/>
            </a:pPr>
            <a:r>
              <a:rPr lang="ru-RU" sz="1600" dirty="0" smtClean="0">
                <a:latin typeface="Times New Roman" panose="02020603050405020304" pitchFamily="18" charset="0"/>
                <a:cs typeface="Times New Roman" panose="02020603050405020304" pitchFamily="18" charset="0"/>
              </a:rPr>
              <a:t>возможность </a:t>
            </a:r>
            <a:r>
              <a:rPr lang="ru-RU" sz="1600" dirty="0">
                <a:latin typeface="Times New Roman" panose="02020603050405020304" pitchFamily="18" charset="0"/>
                <a:cs typeface="Times New Roman" panose="02020603050405020304" pitchFamily="18" charset="0"/>
              </a:rPr>
              <a:t>получить высокоскоростные тарифы, достаточные для самых продвинутых пользователей</a:t>
            </a:r>
          </a:p>
          <a:p>
            <a:pPr>
              <a:buFont typeface="Calibri" panose="020F0502020204030204" pitchFamily="34" charset="0"/>
              <a:buChar char="+"/>
            </a:pPr>
            <a:r>
              <a:rPr lang="ru-RU" sz="1600" dirty="0" smtClean="0">
                <a:latin typeface="Times New Roman" panose="02020603050405020304" pitchFamily="18" charset="0"/>
                <a:cs typeface="Times New Roman" panose="02020603050405020304" pitchFamily="18" charset="0"/>
              </a:rPr>
              <a:t>возможность быстро</a:t>
            </a:r>
            <a:r>
              <a:rPr lang="en-US" sz="1600" dirty="0" smtClean="0">
                <a:latin typeface="Times New Roman" panose="02020603050405020304" pitchFamily="18" charset="0"/>
                <a:cs typeface="Times New Roman" panose="02020603050405020304" pitchFamily="18" charset="0"/>
              </a:rPr>
              <a:t> </a:t>
            </a:r>
            <a:r>
              <a:rPr lang="ru-RU" sz="1600" dirty="0" smtClean="0">
                <a:latin typeface="Times New Roman" panose="02020603050405020304" pitchFamily="18" charset="0"/>
                <a:cs typeface="Times New Roman" panose="02020603050405020304" pitchFamily="18" charset="0"/>
              </a:rPr>
              <a:t>и без </a:t>
            </a:r>
            <a:r>
              <a:rPr lang="ru-RU" sz="1600" dirty="0">
                <a:latin typeface="Times New Roman" panose="02020603050405020304" pitchFamily="18" charset="0"/>
                <a:cs typeface="Times New Roman" panose="02020603050405020304" pitchFamily="18" charset="0"/>
              </a:rPr>
              <a:t>дополнительных расходов на оборудование сменить </a:t>
            </a:r>
            <a:r>
              <a:rPr lang="ru-RU" sz="1600" dirty="0" smtClean="0">
                <a:latin typeface="Times New Roman" panose="02020603050405020304" pitchFamily="18" charset="0"/>
                <a:cs typeface="Times New Roman" panose="02020603050405020304" pitchFamily="18" charset="0"/>
              </a:rPr>
              <a:t>провайдера</a:t>
            </a:r>
            <a:endParaRPr lang="ru-RU" sz="1600"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4644008" y="2564904"/>
            <a:ext cx="3791823" cy="646331"/>
          </a:xfrm>
          <a:prstGeom prst="rect">
            <a:avLst/>
          </a:prstGeom>
        </p:spPr>
        <p:txBody>
          <a:bodyPr wrap="square">
            <a:spAutoFit/>
          </a:bodyPr>
          <a:lstStyle/>
          <a:p>
            <a:pPr marL="285750" indent="-285750">
              <a:buFont typeface="Arial" panose="020B0604020202020204" pitchFamily="34" charset="0"/>
              <a:buChar char="-"/>
            </a:pPr>
            <a:r>
              <a:rPr lang="ru-RU" dirty="0">
                <a:solidFill>
                  <a:srgbClr val="000000"/>
                </a:solidFill>
                <a:latin typeface="Times New Roman" panose="02020603050405020304" pitchFamily="18" charset="0"/>
                <a:cs typeface="Times New Roman" panose="02020603050405020304" pitchFamily="18" charset="0"/>
              </a:rPr>
              <a:t>необходимость ввода в квартиру дополнительного кабеля</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3930042"/>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dirty="0">
                <a:latin typeface="Times New Roman" panose="02020603050405020304" pitchFamily="18" charset="0"/>
                <a:cs typeface="Times New Roman" panose="02020603050405020304" pitchFamily="18" charset="0"/>
              </a:rPr>
              <a:t>Типы технологии </a:t>
            </a:r>
            <a:r>
              <a:rPr lang="en-US" dirty="0">
                <a:latin typeface="Times New Roman" panose="02020603050405020304" pitchFamily="18" charset="0"/>
                <a:cs typeface="Times New Roman" panose="02020603050405020304" pitchFamily="18" charset="0"/>
              </a:rPr>
              <a:t>Ethernet</a:t>
            </a:r>
            <a:endParaRPr lang="ru-RU" dirty="0">
              <a:latin typeface="Times New Roman" panose="02020603050405020304" pitchFamily="18" charset="0"/>
              <a:cs typeface="Times New Roman" panose="02020603050405020304" pitchFamily="18" charset="0"/>
            </a:endParaRPr>
          </a:p>
        </p:txBody>
      </p:sp>
      <p:graphicFrame>
        <p:nvGraphicFramePr>
          <p:cNvPr id="4" name="Объект 3"/>
          <p:cNvGraphicFramePr>
            <a:graphicFrameLocks noGrp="1"/>
          </p:cNvGraphicFramePr>
          <p:nvPr>
            <p:ph idx="1"/>
            <p:extLst>
              <p:ext uri="{D42A27DB-BD31-4B8C-83A1-F6EECF244321}">
                <p14:modId xmlns:p14="http://schemas.microsoft.com/office/powerpoint/2010/main" val="3178631514"/>
              </p:ext>
            </p:extLst>
          </p:nvPr>
        </p:nvGraphicFramePr>
        <p:xfrm>
          <a:off x="457200" y="1600200"/>
          <a:ext cx="7620000" cy="228600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0000"/>
                    </a:ext>
                  </a:extLst>
                </a:gridCol>
                <a:gridCol w="2540000">
                  <a:extLst>
                    <a:ext uri="{9D8B030D-6E8A-4147-A177-3AD203B41FA5}">
                      <a16:colId xmlns:a16="http://schemas.microsoft.com/office/drawing/2014/main" val="20001"/>
                    </a:ext>
                  </a:extLst>
                </a:gridCol>
                <a:gridCol w="2540000">
                  <a:extLst>
                    <a:ext uri="{9D8B030D-6E8A-4147-A177-3AD203B41FA5}">
                      <a16:colId xmlns:a16="http://schemas.microsoft.com/office/drawing/2014/main" val="20002"/>
                    </a:ext>
                  </a:extLst>
                </a:gridCol>
              </a:tblGrid>
              <a:tr h="370840">
                <a:tc>
                  <a:txBody>
                    <a:bodyPr/>
                    <a:lstStyle/>
                    <a:p>
                      <a:pPr algn="ctr"/>
                      <a:r>
                        <a:rPr lang="ru-RU" sz="2000" b="1" i="0" kern="1200" dirty="0" smtClean="0">
                          <a:solidFill>
                            <a:schemeClr val="lt1"/>
                          </a:solidFill>
                          <a:effectLst/>
                          <a:latin typeface="Times New Roman" panose="02020603050405020304" pitchFamily="18" charset="0"/>
                          <a:ea typeface="+mn-ea"/>
                          <a:cs typeface="Times New Roman" panose="02020603050405020304" pitchFamily="18" charset="0"/>
                        </a:rPr>
                        <a:t>Тип стандарта </a:t>
                      </a:r>
                      <a:r>
                        <a:rPr lang="en-US" sz="2000" b="1" i="0" kern="1200" dirty="0" smtClean="0">
                          <a:solidFill>
                            <a:schemeClr val="lt1"/>
                          </a:solidFill>
                          <a:effectLst/>
                          <a:latin typeface="Times New Roman" panose="02020603050405020304" pitchFamily="18" charset="0"/>
                          <a:ea typeface="+mn-ea"/>
                          <a:cs typeface="Times New Roman" panose="02020603050405020304" pitchFamily="18" charset="0"/>
                        </a:rPr>
                        <a:t>Ethernet</a:t>
                      </a:r>
                      <a:endParaRPr lang="ru-RU" sz="2000" b="1" dirty="0">
                        <a:latin typeface="Times New Roman" panose="02020603050405020304" pitchFamily="18" charset="0"/>
                        <a:cs typeface="Times New Roman" panose="02020603050405020304" pitchFamily="18" charset="0"/>
                      </a:endParaRPr>
                    </a:p>
                  </a:txBody>
                  <a:tcPr/>
                </a:tc>
                <a:tc>
                  <a:txBody>
                    <a:bodyPr/>
                    <a:lstStyle/>
                    <a:p>
                      <a:pPr algn="ctr"/>
                      <a:r>
                        <a:rPr lang="ru-RU" sz="2000" b="1" i="0" kern="1200" dirty="0" smtClean="0">
                          <a:solidFill>
                            <a:schemeClr val="lt1"/>
                          </a:solidFill>
                          <a:effectLst/>
                          <a:latin typeface="Times New Roman" panose="02020603050405020304" pitchFamily="18" charset="0"/>
                          <a:ea typeface="+mn-ea"/>
                          <a:cs typeface="Times New Roman" panose="02020603050405020304" pitchFamily="18" charset="0"/>
                        </a:rPr>
                        <a:t>Скорость передачи данных</a:t>
                      </a:r>
                      <a:endParaRPr lang="ru-RU" sz="2000" b="1" dirty="0">
                        <a:latin typeface="Times New Roman" panose="02020603050405020304" pitchFamily="18" charset="0"/>
                        <a:cs typeface="Times New Roman" panose="02020603050405020304" pitchFamily="18" charset="0"/>
                      </a:endParaRPr>
                    </a:p>
                  </a:txBody>
                  <a:tcPr/>
                </a:tc>
                <a:tc>
                  <a:txBody>
                    <a:bodyPr/>
                    <a:lstStyle/>
                    <a:p>
                      <a:pPr algn="ctr"/>
                      <a:r>
                        <a:rPr lang="ru-RU" sz="2000" b="1" i="0" kern="1200" dirty="0" smtClean="0">
                          <a:solidFill>
                            <a:schemeClr val="lt1"/>
                          </a:solidFill>
                          <a:effectLst/>
                          <a:latin typeface="Times New Roman" panose="02020603050405020304" pitchFamily="18" charset="0"/>
                          <a:ea typeface="+mn-ea"/>
                          <a:cs typeface="Times New Roman" panose="02020603050405020304" pitchFamily="18" charset="0"/>
                        </a:rPr>
                        <a:t>Максимальный диаметр сети</a:t>
                      </a:r>
                      <a:endParaRPr lang="ru-RU"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370840">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Ethernet</a:t>
                      </a:r>
                      <a:endParaRPr lang="ru-RU" sz="2000" dirty="0">
                        <a:latin typeface="Times New Roman" panose="02020603050405020304" pitchFamily="18" charset="0"/>
                        <a:cs typeface="Times New Roman" panose="02020603050405020304" pitchFamily="18" charset="0"/>
                      </a:endParaRPr>
                    </a:p>
                  </a:txBody>
                  <a:tcPr/>
                </a:tc>
                <a:tc>
                  <a:txBody>
                    <a:bodyPr/>
                    <a:lstStyle/>
                    <a:p>
                      <a:r>
                        <a:rPr lang="ru-RU" sz="2000" b="0" i="0" kern="1200" dirty="0" smtClean="0">
                          <a:solidFill>
                            <a:schemeClr val="dk1"/>
                          </a:solidFill>
                          <a:effectLst/>
                          <a:latin typeface="Times New Roman" panose="02020603050405020304" pitchFamily="18" charset="0"/>
                          <a:ea typeface="+mn-ea"/>
                          <a:cs typeface="Times New Roman" panose="02020603050405020304" pitchFamily="18" charset="0"/>
                        </a:rPr>
                        <a:t>10 Мбит/с</a:t>
                      </a:r>
                      <a:endParaRPr lang="ru-RU" sz="2000" dirty="0">
                        <a:latin typeface="Times New Roman" panose="02020603050405020304" pitchFamily="18" charset="0"/>
                        <a:cs typeface="Times New Roman" panose="02020603050405020304" pitchFamily="18" charset="0"/>
                      </a:endParaRPr>
                    </a:p>
                  </a:txBody>
                  <a:tcPr/>
                </a:tc>
                <a:tc>
                  <a:txBody>
                    <a:bodyPr/>
                    <a:lstStyle/>
                    <a:p>
                      <a:r>
                        <a:rPr lang="ru-RU" sz="2000" b="0" i="0" kern="1200" dirty="0" smtClean="0">
                          <a:solidFill>
                            <a:schemeClr val="dk1"/>
                          </a:solidFill>
                          <a:effectLst/>
                          <a:latin typeface="Times New Roman" panose="02020603050405020304" pitchFamily="18" charset="0"/>
                          <a:ea typeface="+mn-ea"/>
                          <a:cs typeface="Times New Roman" panose="02020603050405020304" pitchFamily="18" charset="0"/>
                        </a:rPr>
                        <a:t>2 500 м</a:t>
                      </a:r>
                      <a:endParaRPr lang="ru-RU"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370840">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Fast Ethernet</a:t>
                      </a:r>
                      <a:endParaRPr lang="ru-RU" sz="2000" dirty="0">
                        <a:latin typeface="Times New Roman" panose="02020603050405020304" pitchFamily="18" charset="0"/>
                        <a:cs typeface="Times New Roman" panose="02020603050405020304" pitchFamily="18" charset="0"/>
                      </a:endParaRPr>
                    </a:p>
                  </a:txBody>
                  <a:tcPr/>
                </a:tc>
                <a:tc>
                  <a:txBody>
                    <a:bodyPr/>
                    <a:lstStyle/>
                    <a:p>
                      <a:r>
                        <a:rPr lang="ru-RU" sz="2000" b="0" i="0" kern="1200" dirty="0" smtClean="0">
                          <a:solidFill>
                            <a:schemeClr val="dk1"/>
                          </a:solidFill>
                          <a:effectLst/>
                          <a:latin typeface="Times New Roman" panose="02020603050405020304" pitchFamily="18" charset="0"/>
                          <a:ea typeface="+mn-ea"/>
                          <a:cs typeface="Times New Roman" panose="02020603050405020304" pitchFamily="18" charset="0"/>
                        </a:rPr>
                        <a:t>100 Мбит/с</a:t>
                      </a:r>
                      <a:endParaRPr lang="ru-RU" sz="2000" dirty="0">
                        <a:latin typeface="Times New Roman" panose="02020603050405020304" pitchFamily="18" charset="0"/>
                        <a:cs typeface="Times New Roman" panose="02020603050405020304" pitchFamily="18" charset="0"/>
                      </a:endParaRPr>
                    </a:p>
                  </a:txBody>
                  <a:tcPr/>
                </a:tc>
                <a:tc>
                  <a:txBody>
                    <a:bodyPr/>
                    <a:lstStyle/>
                    <a:p>
                      <a:r>
                        <a:rPr lang="ru-RU" sz="2000" b="0" i="0" kern="1200" dirty="0" smtClean="0">
                          <a:solidFill>
                            <a:schemeClr val="dk1"/>
                          </a:solidFill>
                          <a:effectLst/>
                          <a:latin typeface="Times New Roman" panose="02020603050405020304" pitchFamily="18" charset="0"/>
                          <a:ea typeface="+mn-ea"/>
                          <a:cs typeface="Times New Roman" panose="02020603050405020304" pitchFamily="18" charset="0"/>
                        </a:rPr>
                        <a:t>200 м</a:t>
                      </a:r>
                      <a:endParaRPr lang="ru-RU"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370840">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Gigabit Ethernet</a:t>
                      </a:r>
                      <a:endParaRPr lang="ru-RU" sz="2000" dirty="0">
                        <a:latin typeface="Times New Roman" panose="02020603050405020304" pitchFamily="18" charset="0"/>
                        <a:cs typeface="Times New Roman" panose="02020603050405020304" pitchFamily="18" charset="0"/>
                      </a:endParaRPr>
                    </a:p>
                  </a:txBody>
                  <a:tcPr/>
                </a:tc>
                <a:tc>
                  <a:txBody>
                    <a:bodyPr/>
                    <a:lstStyle/>
                    <a:p>
                      <a:r>
                        <a:rPr lang="ru-RU" sz="2000" b="0" i="0" kern="1200" dirty="0" smtClean="0">
                          <a:solidFill>
                            <a:schemeClr val="dk1"/>
                          </a:solidFill>
                          <a:effectLst/>
                          <a:latin typeface="Times New Roman" panose="02020603050405020304" pitchFamily="18" charset="0"/>
                          <a:ea typeface="+mn-ea"/>
                          <a:cs typeface="Times New Roman" panose="02020603050405020304" pitchFamily="18" charset="0"/>
                        </a:rPr>
                        <a:t>1000 Мбит/с</a:t>
                      </a:r>
                      <a:endParaRPr lang="ru-RU" sz="2000" dirty="0">
                        <a:latin typeface="Times New Roman" panose="02020603050405020304" pitchFamily="18" charset="0"/>
                        <a:cs typeface="Times New Roman" panose="02020603050405020304" pitchFamily="18" charset="0"/>
                      </a:endParaRPr>
                    </a:p>
                  </a:txBody>
                  <a:tcPr/>
                </a:tc>
                <a:tc>
                  <a:txBody>
                    <a:bodyPr/>
                    <a:lstStyle/>
                    <a:p>
                      <a:r>
                        <a:rPr lang="ru-RU" sz="2000" b="0" i="0" kern="1200" dirty="0" smtClean="0">
                          <a:solidFill>
                            <a:schemeClr val="dk1"/>
                          </a:solidFill>
                          <a:effectLst/>
                          <a:latin typeface="Times New Roman" panose="02020603050405020304" pitchFamily="18" charset="0"/>
                          <a:ea typeface="+mn-ea"/>
                          <a:cs typeface="Times New Roman" panose="02020603050405020304" pitchFamily="18" charset="0"/>
                        </a:rPr>
                        <a:t>200 м</a:t>
                      </a:r>
                      <a:endParaRPr lang="ru-RU"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370840">
                <a:tc>
                  <a:txBody>
                    <a:bodyPr/>
                    <a:lstStyle/>
                    <a:p>
                      <a:r>
                        <a:rPr lang="en-US" sz="2000" b="0" i="0" kern="1200" dirty="0" smtClean="0">
                          <a:solidFill>
                            <a:schemeClr val="dk1"/>
                          </a:solidFill>
                          <a:effectLst/>
                          <a:latin typeface="Times New Roman" panose="02020603050405020304" pitchFamily="18" charset="0"/>
                          <a:ea typeface="+mn-ea"/>
                          <a:cs typeface="Times New Roman" panose="02020603050405020304" pitchFamily="18" charset="0"/>
                        </a:rPr>
                        <a:t>10G Ethernet</a:t>
                      </a:r>
                      <a:endParaRPr lang="ru-RU" sz="2000" dirty="0">
                        <a:latin typeface="Times New Roman" panose="02020603050405020304" pitchFamily="18" charset="0"/>
                        <a:cs typeface="Times New Roman" panose="02020603050405020304" pitchFamily="18" charset="0"/>
                      </a:endParaRPr>
                    </a:p>
                  </a:txBody>
                  <a:tcPr/>
                </a:tc>
                <a:tc>
                  <a:txBody>
                    <a:bodyPr/>
                    <a:lstStyle/>
                    <a:p>
                      <a:r>
                        <a:rPr lang="ru-RU" sz="2000" b="0" i="0" kern="1200" dirty="0" smtClean="0">
                          <a:solidFill>
                            <a:schemeClr val="dk1"/>
                          </a:solidFill>
                          <a:effectLst/>
                          <a:latin typeface="Times New Roman" panose="02020603050405020304" pitchFamily="18" charset="0"/>
                          <a:ea typeface="+mn-ea"/>
                          <a:cs typeface="Times New Roman" panose="02020603050405020304" pitchFamily="18" charset="0"/>
                        </a:rPr>
                        <a:t>10 Гбит/с</a:t>
                      </a:r>
                      <a:endParaRPr lang="ru-RU" sz="2000" dirty="0">
                        <a:latin typeface="Times New Roman" panose="02020603050405020304" pitchFamily="18" charset="0"/>
                        <a:cs typeface="Times New Roman" panose="02020603050405020304" pitchFamily="18" charset="0"/>
                      </a:endParaRPr>
                    </a:p>
                  </a:txBody>
                  <a:tcPr/>
                </a:tc>
                <a:tc>
                  <a:txBody>
                    <a:bodyPr/>
                    <a:lstStyle/>
                    <a:p>
                      <a:r>
                        <a:rPr lang="ru-RU" sz="2000" b="0" i="0" kern="1200" dirty="0" smtClean="0">
                          <a:solidFill>
                            <a:schemeClr val="dk1"/>
                          </a:solidFill>
                          <a:effectLst/>
                          <a:latin typeface="Times New Roman" panose="02020603050405020304" pitchFamily="18" charset="0"/>
                          <a:ea typeface="+mn-ea"/>
                          <a:cs typeface="Times New Roman" panose="02020603050405020304" pitchFamily="18" charset="0"/>
                        </a:rPr>
                        <a:t>40 км</a:t>
                      </a:r>
                      <a:endParaRPr lang="ru-RU"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0758290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Схема сети </a:t>
            </a:r>
            <a:r>
              <a:rPr lang="en-US" b="1" dirty="0">
                <a:latin typeface="Times New Roman" panose="02020603050405020304" pitchFamily="18" charset="0"/>
                <a:cs typeface="Times New Roman" panose="02020603050405020304" pitchFamily="18" charset="0"/>
              </a:rPr>
              <a:t>Ethernet</a:t>
            </a:r>
            <a:endParaRPr lang="ru-RU" b="1" dirty="0">
              <a:latin typeface="Times New Roman" panose="02020603050405020304" pitchFamily="18" charset="0"/>
              <a:cs typeface="Times New Roman" panose="02020603050405020304" pitchFamily="18" charset="0"/>
            </a:endParaRPr>
          </a:p>
        </p:txBody>
      </p:sp>
      <p:pic>
        <p:nvPicPr>
          <p:cNvPr id="5" name="Объект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27584" y="1700808"/>
            <a:ext cx="7128782" cy="2255023"/>
          </a:xfrm>
        </p:spPr>
      </p:pic>
      <p:sp>
        <p:nvSpPr>
          <p:cNvPr id="6" name="Прямоугольник 5"/>
          <p:cNvSpPr/>
          <p:nvPr/>
        </p:nvSpPr>
        <p:spPr>
          <a:xfrm>
            <a:off x="3347864" y="4239761"/>
            <a:ext cx="2127762" cy="369332"/>
          </a:xfrm>
          <a:prstGeom prst="rect">
            <a:avLst/>
          </a:prstGeom>
        </p:spPr>
        <p:txBody>
          <a:bodyPr wrap="none">
            <a:spAutoFit/>
          </a:bodyPr>
          <a:lstStyle/>
          <a:p>
            <a:r>
              <a:rPr lang="ru-RU" dirty="0">
                <a:solidFill>
                  <a:srgbClr val="000000"/>
                </a:solidFill>
                <a:latin typeface="Times New Roman" panose="02020603050405020304" pitchFamily="18" charset="0"/>
                <a:cs typeface="Times New Roman" panose="02020603050405020304" pitchFamily="18" charset="0"/>
              </a:rPr>
              <a:t>Схема сети </a:t>
            </a:r>
            <a:r>
              <a:rPr lang="en-US" dirty="0">
                <a:solidFill>
                  <a:srgbClr val="000000"/>
                </a:solidFill>
                <a:latin typeface="Times New Roman" panose="02020603050405020304" pitchFamily="18" charset="0"/>
                <a:cs typeface="Times New Roman" panose="02020603050405020304" pitchFamily="18" charset="0"/>
              </a:rPr>
              <a:t>Ethernet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2745487"/>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Технология </a:t>
            </a:r>
            <a:r>
              <a:rPr lang="ru-RU" b="1" dirty="0" err="1">
                <a:latin typeface="Times New Roman" panose="02020603050405020304" pitchFamily="18" charset="0"/>
                <a:cs typeface="Times New Roman" panose="02020603050405020304" pitchFamily="18" charset="0"/>
              </a:rPr>
              <a:t>Token</a:t>
            </a:r>
            <a:r>
              <a:rPr lang="ru-RU" b="1" dirty="0">
                <a:latin typeface="Times New Roman" panose="02020603050405020304" pitchFamily="18" charset="0"/>
                <a:cs typeface="Times New Roman" panose="02020603050405020304" pitchFamily="18" charset="0"/>
              </a:rPr>
              <a:t> </a:t>
            </a:r>
            <a:r>
              <a:rPr lang="ru-RU" b="1" dirty="0" err="1" smtClean="0">
                <a:latin typeface="Times New Roman" panose="02020603050405020304" pitchFamily="18" charset="0"/>
                <a:cs typeface="Times New Roman" panose="02020603050405020304" pitchFamily="18" charset="0"/>
              </a:rPr>
              <a:t>Ring</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265584" y="1556792"/>
            <a:ext cx="8003232" cy="4925144"/>
          </a:xfrm>
        </p:spPr>
        <p:txBody>
          <a:bodyPr/>
          <a:lstStyle/>
          <a:p>
            <a:pPr marL="114300" indent="0">
              <a:buNone/>
            </a:pPr>
            <a:r>
              <a:rPr lang="ru-RU" sz="2400" dirty="0" smtClean="0">
                <a:latin typeface="Times New Roman" panose="02020603050405020304" pitchFamily="18" charset="0"/>
                <a:cs typeface="Times New Roman" panose="02020603050405020304" pitchFamily="18" charset="0"/>
              </a:rPr>
              <a:t>Технология</a:t>
            </a:r>
            <a:r>
              <a:rPr lang="ru-RU" sz="2400"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Token</a:t>
            </a:r>
            <a:r>
              <a:rPr lang="ru-RU" sz="2400" b="1" dirty="0">
                <a:latin typeface="Times New Roman" panose="02020603050405020304" pitchFamily="18" charset="0"/>
                <a:cs typeface="Times New Roman" panose="02020603050405020304" pitchFamily="18" charset="0"/>
              </a:rPr>
              <a:t> </a:t>
            </a:r>
            <a:r>
              <a:rPr lang="ru-RU" sz="2400" b="1" dirty="0" err="1">
                <a:latin typeface="Times New Roman" panose="02020603050405020304" pitchFamily="18" charset="0"/>
                <a:cs typeface="Times New Roman" panose="02020603050405020304" pitchFamily="18" charset="0"/>
              </a:rPr>
              <a:t>Ring</a:t>
            </a:r>
            <a:r>
              <a:rPr lang="ru-RU" sz="2400" b="1"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имеет значительно более сложную реализацию, чем та же самая технология </a:t>
            </a:r>
            <a:r>
              <a:rPr lang="ru-RU" sz="2400" b="1" dirty="0" err="1">
                <a:latin typeface="Times New Roman" panose="02020603050405020304" pitchFamily="18" charset="0"/>
                <a:cs typeface="Times New Roman" panose="02020603050405020304" pitchFamily="18" charset="0"/>
              </a:rPr>
              <a:t>Ethernet</a:t>
            </a:r>
            <a:r>
              <a:rPr lang="ru-RU" sz="2400" b="1" dirty="0">
                <a:latin typeface="Times New Roman" panose="02020603050405020304" pitchFamily="18" charset="0"/>
                <a:cs typeface="Times New Roman" panose="02020603050405020304" pitchFamily="18" charset="0"/>
              </a:rPr>
              <a:t> </a:t>
            </a:r>
            <a:r>
              <a:rPr lang="ru-RU" sz="2400" dirty="0">
                <a:latin typeface="Times New Roman" panose="02020603050405020304" pitchFamily="18" charset="0"/>
                <a:cs typeface="Times New Roman" panose="02020603050405020304" pitchFamily="18" charset="0"/>
              </a:rPr>
              <a:t>на разделяемой среде передачи данных. </a:t>
            </a:r>
            <a:endParaRPr lang="ru-RU" sz="2400"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Первоначально </a:t>
            </a:r>
            <a:r>
              <a:rPr lang="ru-RU" dirty="0">
                <a:latin typeface="Times New Roman" panose="02020603050405020304" pitchFamily="18" charset="0"/>
                <a:cs typeface="Times New Roman" panose="02020603050405020304" pitchFamily="18" charset="0"/>
              </a:rPr>
              <a:t>скорость передачи данных составляла 4 Мбит/с, когда была впервые разработана в компании </a:t>
            </a:r>
            <a:r>
              <a:rPr lang="ru-RU" b="1" dirty="0">
                <a:latin typeface="Times New Roman" panose="02020603050405020304" pitchFamily="18" charset="0"/>
                <a:cs typeface="Times New Roman" panose="02020603050405020304" pitchFamily="18" charset="0"/>
              </a:rPr>
              <a:t>IBM, </a:t>
            </a:r>
            <a:r>
              <a:rPr lang="ru-RU" dirty="0">
                <a:latin typeface="Times New Roman" panose="02020603050405020304" pitchFamily="18" charset="0"/>
                <a:cs typeface="Times New Roman" panose="02020603050405020304" pitchFamily="18" charset="0"/>
              </a:rPr>
              <a:t>но несколько позже была увеличена до 16 Мбит/с. Система адресации в локальных сетях была такой же, как и в технологии </a:t>
            </a:r>
            <a:r>
              <a:rPr lang="ru-RU" b="1" dirty="0" err="1">
                <a:latin typeface="Times New Roman" panose="02020603050405020304" pitchFamily="18" charset="0"/>
                <a:cs typeface="Times New Roman" panose="02020603050405020304" pitchFamily="18" charset="0"/>
              </a:rPr>
              <a:t>Ethernet</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то есть MAC-адреса были того же формата.</a:t>
            </a:r>
          </a:p>
        </p:txBody>
      </p:sp>
    </p:spTree>
    <p:extLst>
      <p:ext uri="{BB962C8B-B14F-4D97-AF65-F5344CB8AC3E}">
        <p14:creationId xmlns:p14="http://schemas.microsoft.com/office/powerpoint/2010/main" val="2928298024"/>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Метод доступа к </a:t>
            </a:r>
            <a:r>
              <a:rPr lang="ru-RU" b="1" dirty="0" smtClean="0">
                <a:latin typeface="Times New Roman" panose="02020603050405020304" pitchFamily="18" charset="0"/>
                <a:cs typeface="Times New Roman" panose="02020603050405020304" pitchFamily="18" charset="0"/>
              </a:rPr>
              <a:t>сети</a:t>
            </a:r>
            <a:endParaRPr lang="ru-RU"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457200" y="1556792"/>
            <a:ext cx="7620000" cy="4844008"/>
          </a:xfrm>
        </p:spPr>
        <p:txBody>
          <a:bodyPr/>
          <a:lstStyle/>
          <a:p>
            <a:pPr marL="114300" indent="0">
              <a:buNone/>
            </a:pPr>
            <a:r>
              <a:rPr lang="ru-RU" dirty="0">
                <a:latin typeface="Times New Roman" panose="02020603050405020304" pitchFamily="18" charset="0"/>
                <a:cs typeface="Times New Roman" panose="02020603050405020304" pitchFamily="18" charset="0"/>
              </a:rPr>
              <a:t>В сетях </a:t>
            </a:r>
            <a:r>
              <a:rPr lang="ru-RU" b="1" dirty="0" err="1">
                <a:latin typeface="Times New Roman" panose="02020603050405020304" pitchFamily="18" charset="0"/>
                <a:cs typeface="Times New Roman" panose="02020603050405020304" pitchFamily="18" charset="0"/>
              </a:rPr>
              <a:t>Token</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Ring</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для определения очередности узлов, которые будут иметь доступ к среде передачи данных использовался специальный кадр - </a:t>
            </a:r>
            <a:r>
              <a:rPr lang="ru-RU" b="1" dirty="0" err="1">
                <a:latin typeface="Times New Roman" panose="02020603050405020304" pitchFamily="18" charset="0"/>
                <a:cs typeface="Times New Roman" panose="02020603050405020304" pitchFamily="18" charset="0"/>
              </a:rPr>
              <a:t>токен</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 или маркер.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Технология</a:t>
            </a:r>
            <a:r>
              <a:rPr lang="ru-RU"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Token</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Ring</a:t>
            </a:r>
            <a:r>
              <a:rPr lang="ru-RU" b="1"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имеет кольцевую топологию и данный маркер передаётся от узла к узлу в одном направлении. Узел, который владеет </a:t>
            </a:r>
            <a:r>
              <a:rPr lang="ru-RU" dirty="0" err="1">
                <a:latin typeface="Times New Roman" panose="02020603050405020304" pitchFamily="18" charset="0"/>
                <a:cs typeface="Times New Roman" panose="02020603050405020304" pitchFamily="18" charset="0"/>
              </a:rPr>
              <a:t>токеном</a:t>
            </a:r>
            <a:r>
              <a:rPr lang="ru-RU" dirty="0">
                <a:latin typeface="Times New Roman" panose="02020603050405020304" pitchFamily="18" charset="0"/>
                <a:cs typeface="Times New Roman" panose="02020603050405020304" pitchFamily="18" charset="0"/>
              </a:rPr>
              <a:t>, имеет право трансляции информации в разделяемую среду передачи данных. </a:t>
            </a:r>
          </a:p>
        </p:txBody>
      </p:sp>
    </p:spTree>
    <p:extLst>
      <p:ext uri="{BB962C8B-B14F-4D97-AF65-F5344CB8AC3E}">
        <p14:creationId xmlns:p14="http://schemas.microsoft.com/office/powerpoint/2010/main" val="715838206"/>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86608" y="-99392"/>
            <a:ext cx="7620000" cy="1143000"/>
          </a:xfrm>
        </p:spPr>
        <p:txBody>
          <a:bodyPr/>
          <a:lstStyle/>
          <a:p>
            <a:pPr algn="ctr"/>
            <a:r>
              <a:rPr lang="ru-RU" b="1" dirty="0">
                <a:latin typeface="Times New Roman" panose="02020603050405020304" pitchFamily="18" charset="0"/>
                <a:cs typeface="Times New Roman" panose="02020603050405020304" pitchFamily="18" charset="0"/>
              </a:rPr>
              <a:t>Метод доступа к сети</a:t>
            </a:r>
          </a:p>
        </p:txBody>
      </p:sp>
      <p:pic>
        <p:nvPicPr>
          <p:cNvPr id="4" name="Объект 3"/>
          <p:cNvPicPr>
            <a:picLocks noGrp="1" noChangeAspect="1"/>
          </p:cNvPicPr>
          <p:nvPr>
            <p:ph idx="1"/>
          </p:nvPr>
        </p:nvPicPr>
        <p:blipFill rotWithShape="1">
          <a:blip r:embed="rId3">
            <a:extLst>
              <a:ext uri="{28A0092B-C50C-407E-A947-70E740481C1C}">
                <a14:useLocalDpi xmlns:a14="http://schemas.microsoft.com/office/drawing/2010/main" val="0"/>
              </a:ext>
            </a:extLst>
          </a:blip>
          <a:srcRect l="2178" b="1905"/>
          <a:stretch/>
        </p:blipFill>
        <p:spPr>
          <a:xfrm>
            <a:off x="899592" y="908720"/>
            <a:ext cx="6594032" cy="4709120"/>
          </a:xfrm>
        </p:spPr>
      </p:pic>
      <p:sp>
        <p:nvSpPr>
          <p:cNvPr id="5" name="Прямоугольник 4"/>
          <p:cNvSpPr/>
          <p:nvPr/>
        </p:nvSpPr>
        <p:spPr>
          <a:xfrm>
            <a:off x="1910608" y="5960395"/>
            <a:ext cx="5583016" cy="369332"/>
          </a:xfrm>
          <a:prstGeom prst="rect">
            <a:avLst/>
          </a:prstGeom>
        </p:spPr>
        <p:txBody>
          <a:bodyPr wrap="square">
            <a:spAutoFit/>
          </a:bodyPr>
          <a:lstStyle/>
          <a:p>
            <a:r>
              <a:rPr lang="ru-RU" dirty="0">
                <a:solidFill>
                  <a:srgbClr val="212529"/>
                </a:solidFill>
                <a:latin typeface="Times New Roman" panose="02020603050405020304" pitchFamily="18" charset="0"/>
                <a:cs typeface="Times New Roman" panose="02020603050405020304" pitchFamily="18" charset="0"/>
              </a:rPr>
              <a:t>Передача </a:t>
            </a:r>
            <a:r>
              <a:rPr lang="ru-RU" dirty="0" err="1">
                <a:solidFill>
                  <a:srgbClr val="212529"/>
                </a:solidFill>
                <a:latin typeface="Times New Roman" panose="02020603050405020304" pitchFamily="18" charset="0"/>
                <a:cs typeface="Times New Roman" panose="02020603050405020304" pitchFamily="18" charset="0"/>
              </a:rPr>
              <a:t>токена</a:t>
            </a:r>
            <a:r>
              <a:rPr lang="ru-RU" dirty="0">
                <a:solidFill>
                  <a:srgbClr val="212529"/>
                </a:solidFill>
                <a:latin typeface="Times New Roman" panose="02020603050405020304" pitchFamily="18" charset="0"/>
                <a:cs typeface="Times New Roman" panose="02020603050405020304" pitchFamily="18" charset="0"/>
              </a:rPr>
              <a:t> в сети </a:t>
            </a:r>
            <a:r>
              <a:rPr lang="ru-RU" dirty="0" err="1">
                <a:solidFill>
                  <a:srgbClr val="212529"/>
                </a:solidFill>
                <a:latin typeface="Times New Roman" panose="02020603050405020304" pitchFamily="18" charset="0"/>
                <a:cs typeface="Times New Roman" panose="02020603050405020304" pitchFamily="18" charset="0"/>
              </a:rPr>
              <a:t>Token</a:t>
            </a:r>
            <a:r>
              <a:rPr lang="ru-RU" dirty="0">
                <a:solidFill>
                  <a:srgbClr val="212529"/>
                </a:solidFill>
                <a:latin typeface="Times New Roman" panose="02020603050405020304" pitchFamily="18" charset="0"/>
                <a:cs typeface="Times New Roman" panose="02020603050405020304" pitchFamily="18" charset="0"/>
              </a:rPr>
              <a:t> </a:t>
            </a:r>
            <a:r>
              <a:rPr lang="ru-RU" dirty="0" err="1">
                <a:solidFill>
                  <a:srgbClr val="212529"/>
                </a:solidFill>
                <a:latin typeface="Times New Roman" panose="02020603050405020304" pitchFamily="18" charset="0"/>
                <a:cs typeface="Times New Roman" panose="02020603050405020304" pitchFamily="18" charset="0"/>
              </a:rPr>
              <a:t>Ring</a:t>
            </a:r>
            <a:r>
              <a:rPr lang="ru-RU" dirty="0">
                <a:solidFill>
                  <a:srgbClr val="212529"/>
                </a:solidFill>
                <a:latin typeface="Times New Roman" panose="02020603050405020304" pitchFamily="18" charset="0"/>
                <a:cs typeface="Times New Roman" panose="02020603050405020304" pitchFamily="18" charset="0"/>
              </a:rPr>
              <a:t> между узлами</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0321478"/>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Технология </a:t>
            </a:r>
            <a:r>
              <a:rPr lang="en-US" b="1" dirty="0" smtClean="0">
                <a:latin typeface="Times New Roman" panose="02020603050405020304" pitchFamily="18" charset="0"/>
                <a:cs typeface="Times New Roman" panose="02020603050405020304" pitchFamily="18" charset="0"/>
              </a:rPr>
              <a:t>FDDI</a:t>
            </a:r>
            <a:endParaRPr lang="ru-RU" b="1" dirty="0">
              <a:latin typeface="Times New Roman" panose="02020603050405020304" pitchFamily="18" charset="0"/>
              <a:cs typeface="Times New Roman" panose="02020603050405020304" pitchFamily="18" charset="0"/>
            </a:endParaRPr>
          </a:p>
        </p:txBody>
      </p:sp>
      <p:pic>
        <p:nvPicPr>
          <p:cNvPr id="4" name="Объект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3015" y="1340768"/>
            <a:ext cx="7139202" cy="4680520"/>
          </a:xfrm>
        </p:spPr>
      </p:pic>
      <p:sp>
        <p:nvSpPr>
          <p:cNvPr id="5" name="Прямоугольник 4"/>
          <p:cNvSpPr/>
          <p:nvPr/>
        </p:nvSpPr>
        <p:spPr>
          <a:xfrm>
            <a:off x="2983931" y="6345224"/>
            <a:ext cx="2566536" cy="369332"/>
          </a:xfrm>
          <a:prstGeom prst="rect">
            <a:avLst/>
          </a:prstGeom>
        </p:spPr>
        <p:txBody>
          <a:bodyPr wrap="none">
            <a:spAutoFit/>
          </a:bodyPr>
          <a:lstStyle/>
          <a:p>
            <a:r>
              <a:rPr lang="ru-RU" dirty="0">
                <a:solidFill>
                  <a:srgbClr val="212529"/>
                </a:solidFill>
                <a:latin typeface="Times New Roman" panose="02020603050405020304" pitchFamily="18" charset="0"/>
                <a:cs typeface="Times New Roman" panose="02020603050405020304" pitchFamily="18" charset="0"/>
              </a:rPr>
              <a:t>Передача </a:t>
            </a:r>
            <a:r>
              <a:rPr lang="ru-RU" dirty="0" err="1">
                <a:solidFill>
                  <a:srgbClr val="212529"/>
                </a:solidFill>
                <a:latin typeface="Times New Roman" panose="02020603050405020304" pitchFamily="18" charset="0"/>
                <a:cs typeface="Times New Roman" panose="02020603050405020304" pitchFamily="18" charset="0"/>
              </a:rPr>
              <a:t>токена</a:t>
            </a:r>
            <a:r>
              <a:rPr lang="ru-RU" dirty="0">
                <a:solidFill>
                  <a:srgbClr val="212529"/>
                </a:solidFill>
                <a:latin typeface="Times New Roman" panose="02020603050405020304" pitchFamily="18" charset="0"/>
                <a:cs typeface="Times New Roman" panose="02020603050405020304" pitchFamily="18" charset="0"/>
              </a:rPr>
              <a:t> в </a:t>
            </a:r>
            <a:r>
              <a:rPr lang="en-US" dirty="0">
                <a:solidFill>
                  <a:srgbClr val="212529"/>
                </a:solidFill>
                <a:latin typeface="Times New Roman" panose="02020603050405020304" pitchFamily="18" charset="0"/>
                <a:cs typeface="Times New Roman" panose="02020603050405020304" pitchFamily="18" charset="0"/>
              </a:rPr>
              <a:t>FDDI</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3578077"/>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39552" y="2276872"/>
            <a:ext cx="7620000" cy="1143000"/>
          </a:xfrm>
        </p:spPr>
        <p:txBody>
          <a:bodyPr/>
          <a:lstStyle/>
          <a:p>
            <a:r>
              <a:rPr lang="ru-RU" b="1" dirty="0">
                <a:latin typeface="Times New Roman" panose="02020603050405020304" pitchFamily="18" charset="0"/>
                <a:cs typeface="Times New Roman" panose="02020603050405020304" pitchFamily="18" charset="0"/>
              </a:rPr>
              <a:t>Адресация в сетях TCP/IP</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1115616" y="3645024"/>
            <a:ext cx="6889576" cy="1387624"/>
          </a:xfrm>
        </p:spPr>
        <p:txBody>
          <a:bodyPr>
            <a:normAutofit lnSpcReduction="10000"/>
          </a:bodyPr>
          <a:lstStyle/>
          <a:p>
            <a:pPr marL="114300" indent="0">
              <a:buNone/>
            </a:pPr>
            <a:r>
              <a:rPr lang="ru-RU" b="1" dirty="0">
                <a:latin typeface="Times New Roman" panose="02020603050405020304" pitchFamily="18" charset="0"/>
                <a:cs typeface="Times New Roman" panose="02020603050405020304" pitchFamily="18" charset="0"/>
              </a:rPr>
              <a:t>Типы адресов стека </a:t>
            </a:r>
            <a:r>
              <a:rPr lang="en-US" b="1" dirty="0">
                <a:latin typeface="Times New Roman" panose="02020603050405020304" pitchFamily="18" charset="0"/>
                <a:cs typeface="Times New Roman" panose="02020603050405020304" pitchFamily="18" charset="0"/>
              </a:rPr>
              <a:t>TCP</a:t>
            </a:r>
            <a:r>
              <a:rPr lang="ru-RU" b="1" dirty="0">
                <a:latin typeface="Times New Roman" panose="02020603050405020304" pitchFamily="18" charset="0"/>
                <a:cs typeface="Times New Roman" panose="02020603050405020304" pitchFamily="18" charset="0"/>
              </a:rPr>
              <a:t>/</a:t>
            </a:r>
            <a:r>
              <a:rPr lang="en-US" b="1" dirty="0" smtClean="0">
                <a:latin typeface="Times New Roman" panose="02020603050405020304" pitchFamily="18" charset="0"/>
                <a:cs typeface="Times New Roman" panose="02020603050405020304" pitchFamily="18" charset="0"/>
              </a:rPr>
              <a:t>IP</a:t>
            </a:r>
            <a:r>
              <a:rPr lang="ru-RU" b="1" dirty="0" smtClean="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Доменные </a:t>
            </a:r>
            <a:r>
              <a:rPr lang="ru-RU" dirty="0" smtClean="0">
                <a:latin typeface="Times New Roman" panose="02020603050405020304" pitchFamily="18" charset="0"/>
                <a:cs typeface="Times New Roman" panose="02020603050405020304" pitchFamily="18" charset="0"/>
              </a:rPr>
              <a:t>имена, </a:t>
            </a:r>
            <a:r>
              <a:rPr lang="ru-RU" dirty="0">
                <a:latin typeface="Times New Roman" panose="02020603050405020304" pitchFamily="18" charset="0"/>
                <a:cs typeface="Times New Roman" panose="02020603050405020304" pitchFamily="18" charset="0"/>
              </a:rPr>
              <a:t>Формат и классы </a:t>
            </a:r>
            <a:r>
              <a:rPr lang="ru-RU" dirty="0" smtClean="0">
                <a:latin typeface="Times New Roman" panose="02020603050405020304" pitchFamily="18" charset="0"/>
                <a:cs typeface="Times New Roman" panose="02020603050405020304" pitchFamily="18" charset="0"/>
              </a:rPr>
              <a:t>IP-адресов, </a:t>
            </a:r>
            <a:r>
              <a:rPr lang="ru-RU" dirty="0">
                <a:latin typeface="Times New Roman" panose="02020603050405020304" pitchFamily="18" charset="0"/>
                <a:cs typeface="Times New Roman" panose="02020603050405020304" pitchFamily="18" charset="0"/>
              </a:rPr>
              <a:t>Назначение адресов автономной </a:t>
            </a:r>
            <a:r>
              <a:rPr lang="ru-RU" dirty="0" smtClean="0">
                <a:latin typeface="Times New Roman" panose="02020603050405020304" pitchFamily="18" charset="0"/>
                <a:cs typeface="Times New Roman" panose="02020603050405020304" pitchFamily="18" charset="0"/>
              </a:rPr>
              <a:t>сети, </a:t>
            </a:r>
            <a:r>
              <a:rPr lang="ru-RU" dirty="0">
                <a:latin typeface="Times New Roman" panose="02020603050405020304" pitchFamily="18" charset="0"/>
                <a:cs typeface="Times New Roman" panose="02020603050405020304" pitchFamily="18" charset="0"/>
              </a:rPr>
              <a:t>Маска </a:t>
            </a:r>
            <a:r>
              <a:rPr lang="ru-RU" dirty="0" smtClean="0">
                <a:latin typeface="Times New Roman" panose="02020603050405020304" pitchFamily="18" charset="0"/>
                <a:cs typeface="Times New Roman" panose="02020603050405020304" pitchFamily="18" charset="0"/>
              </a:rPr>
              <a:t>подсети,</a:t>
            </a:r>
            <a:r>
              <a:rPr lang="ru-RU" dirty="0">
                <a:latin typeface="Times New Roman" panose="02020603050405020304" pitchFamily="18" charset="0"/>
                <a:cs typeface="Times New Roman" panose="02020603050405020304" pitchFamily="18" charset="0"/>
              </a:rPr>
              <a:t> Сетевая утилита </a:t>
            </a:r>
            <a:r>
              <a:rPr lang="en-US" dirty="0" err="1" smtClean="0">
                <a:latin typeface="Times New Roman" panose="02020603050405020304" pitchFamily="18" charset="0"/>
                <a:cs typeface="Times New Roman" panose="02020603050405020304" pitchFamily="18" charset="0"/>
              </a:rPr>
              <a:t>NetSH</a:t>
            </a:r>
            <a:r>
              <a:rPr lang="ru-RU" dirty="0" smtClean="0">
                <a:latin typeface="Times New Roman" panose="02020603050405020304" pitchFamily="18" charset="0"/>
                <a:cs typeface="Times New Roman" panose="02020603050405020304" pitchFamily="18" charset="0"/>
              </a:rPr>
              <a:t>.</a:t>
            </a:r>
            <a:endParaRPr lang="ru-RU" b="1"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737647"/>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Доменные имена</a:t>
            </a:r>
          </a:p>
        </p:txBody>
      </p:sp>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Для работы в сети Интернет компьютеру присваивается индивидуальный номер – IP-адрес, который идентифицирует данный компьютер в сети. IP-адрес представляет собой четырехбайтовое число, записанное в десятичной форме, например, “111.11.111.11”.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Когда </a:t>
            </a:r>
            <a:r>
              <a:rPr lang="ru-RU" dirty="0">
                <a:latin typeface="Times New Roman" panose="02020603050405020304" pitchFamily="18" charset="0"/>
                <a:cs typeface="Times New Roman" panose="02020603050405020304" pitchFamily="18" charset="0"/>
              </a:rPr>
              <a:t>Интернет все еще использовался преимущественно для исследовательских целей, была разработана </a:t>
            </a:r>
            <a:r>
              <a:rPr lang="ru-RU" b="1" dirty="0">
                <a:latin typeface="Times New Roman" panose="02020603050405020304" pitchFamily="18" charset="0"/>
                <a:cs typeface="Times New Roman" panose="02020603050405020304" pitchFamily="18" charset="0"/>
              </a:rPr>
              <a:t>система доменных имен – </a:t>
            </a:r>
            <a:r>
              <a:rPr lang="ru-RU" b="1" dirty="0" err="1">
                <a:latin typeface="Times New Roman" panose="02020603050405020304" pitchFamily="18" charset="0"/>
                <a:cs typeface="Times New Roman" panose="02020603050405020304" pitchFamily="18" charset="0"/>
              </a:rPr>
              <a:t>Domain</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Name</a:t>
            </a:r>
            <a:r>
              <a:rPr lang="ru-RU" b="1" dirty="0">
                <a:latin typeface="Times New Roman" panose="02020603050405020304" pitchFamily="18" charset="0"/>
                <a:cs typeface="Times New Roman" panose="02020603050405020304" pitchFamily="18" charset="0"/>
              </a:rPr>
              <a:t> </a:t>
            </a:r>
            <a:r>
              <a:rPr lang="ru-RU" b="1" dirty="0" err="1">
                <a:latin typeface="Times New Roman" panose="02020603050405020304" pitchFamily="18" charset="0"/>
                <a:cs typeface="Times New Roman" panose="02020603050405020304" pitchFamily="18" charset="0"/>
              </a:rPr>
              <a:t>System</a:t>
            </a:r>
            <a:r>
              <a:rPr lang="ru-RU" b="1" dirty="0">
                <a:latin typeface="Times New Roman" panose="02020603050405020304" pitchFamily="18" charset="0"/>
                <a:cs typeface="Times New Roman" panose="02020603050405020304" pitchFamily="18" charset="0"/>
              </a:rPr>
              <a:t> (DNS)</a:t>
            </a:r>
            <a:r>
              <a:rPr lang="ru-RU" dirty="0">
                <a:latin typeface="Times New Roman" panose="02020603050405020304" pitchFamily="18" charset="0"/>
                <a:cs typeface="Times New Roman" panose="02020603050405020304" pitchFamily="18" charset="0"/>
              </a:rPr>
              <a:t>, позволяющая обращаться не по цифровым IP-адресам, а по специально устанавливаемым именам.</a:t>
            </a:r>
          </a:p>
          <a:p>
            <a:pPr marL="11430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5392088"/>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Само доменное имя состоит обязательно из домена верхнего уровня (</a:t>
            </a:r>
            <a:r>
              <a:rPr lang="ru-RU" dirty="0" err="1">
                <a:latin typeface="Times New Roman" panose="02020603050405020304" pitchFamily="18" charset="0"/>
                <a:cs typeface="Times New Roman" panose="02020603050405020304" pitchFamily="18" charset="0"/>
              </a:rPr>
              <a:t>Top</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Level</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Domain</a:t>
            </a:r>
            <a:r>
              <a:rPr lang="ru-RU" dirty="0">
                <a:latin typeface="Times New Roman" panose="02020603050405020304" pitchFamily="18" charset="0"/>
                <a:cs typeface="Times New Roman" panose="02020603050405020304" pitchFamily="18" charset="0"/>
              </a:rPr>
              <a:t> – TLD), расположенного в правой части доменного имени, и из одного или нескольких доменов более низкого уровня, отделенных точками.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Домены </a:t>
            </a:r>
            <a:r>
              <a:rPr lang="ru-RU" dirty="0">
                <a:latin typeface="Times New Roman" panose="02020603050405020304" pitchFamily="18" charset="0"/>
                <a:cs typeface="Times New Roman" panose="02020603050405020304" pitchFamily="18" charset="0"/>
              </a:rPr>
              <a:t>верхнего уровня могут быть или родовыми (</a:t>
            </a:r>
            <a:r>
              <a:rPr lang="ru-RU" dirty="0" err="1">
                <a:latin typeface="Times New Roman" panose="02020603050405020304" pitchFamily="18" charset="0"/>
                <a:cs typeface="Times New Roman" panose="02020603050405020304" pitchFamily="18" charset="0"/>
              </a:rPr>
              <a:t>Generic</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Top</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Level</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Domains</a:t>
            </a:r>
            <a:r>
              <a:rPr lang="ru-RU" dirty="0">
                <a:latin typeface="Times New Roman" panose="02020603050405020304" pitchFamily="18" charset="0"/>
                <a:cs typeface="Times New Roman" panose="02020603050405020304" pitchFamily="18" charset="0"/>
              </a:rPr>
              <a:t> – </a:t>
            </a:r>
            <a:r>
              <a:rPr lang="ru-RU" dirty="0" err="1">
                <a:latin typeface="Times New Roman" panose="02020603050405020304" pitchFamily="18" charset="0"/>
                <a:cs typeface="Times New Roman" panose="02020603050405020304" pitchFamily="18" charset="0"/>
              </a:rPr>
              <a:t>gTLDs</a:t>
            </a:r>
            <a:r>
              <a:rPr lang="ru-RU" dirty="0">
                <a:latin typeface="Times New Roman" panose="02020603050405020304" pitchFamily="18" charset="0"/>
                <a:cs typeface="Times New Roman" panose="02020603050405020304" pitchFamily="18" charset="0"/>
              </a:rPr>
              <a:t>), указывающими на род деятельности их владельца, или состоять из кода страны (</a:t>
            </a:r>
            <a:r>
              <a:rPr lang="ru-RU" dirty="0" err="1">
                <a:latin typeface="Times New Roman" panose="02020603050405020304" pitchFamily="18" charset="0"/>
                <a:cs typeface="Times New Roman" panose="02020603050405020304" pitchFamily="18" charset="0"/>
              </a:rPr>
              <a:t>Country</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Code</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Top</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Level</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Domains</a:t>
            </a:r>
            <a:r>
              <a:rPr lang="ru-RU" dirty="0">
                <a:latin typeface="Times New Roman" panose="02020603050405020304" pitchFamily="18" charset="0"/>
                <a:cs typeface="Times New Roman" panose="02020603050405020304" pitchFamily="18" charset="0"/>
              </a:rPr>
              <a:t> – </a:t>
            </a:r>
            <a:r>
              <a:rPr lang="ru-RU" dirty="0" err="1">
                <a:latin typeface="Times New Roman" panose="02020603050405020304" pitchFamily="18" charset="0"/>
                <a:cs typeface="Times New Roman" panose="02020603050405020304" pitchFamily="18" charset="0"/>
              </a:rPr>
              <a:t>ccTLDs</a:t>
            </a:r>
            <a:r>
              <a:rPr lang="ru-RU" dirty="0">
                <a:latin typeface="Times New Roman" panose="02020603050405020304" pitchFamily="18" charset="0"/>
                <a:cs typeface="Times New Roman" panose="02020603050405020304" pitchFamily="18" charset="0"/>
              </a:rPr>
              <a:t>), в которой они зарегистрированы.</a:t>
            </a:r>
          </a:p>
        </p:txBody>
      </p:sp>
      <p:sp>
        <p:nvSpPr>
          <p:cNvPr id="4"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Доменные имена</a:t>
            </a:r>
          </a:p>
        </p:txBody>
      </p:sp>
    </p:spTree>
    <p:extLst>
      <p:ext uri="{BB962C8B-B14F-4D97-AF65-F5344CB8AC3E}">
        <p14:creationId xmlns:p14="http://schemas.microsoft.com/office/powerpoint/2010/main" val="44795305"/>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600200"/>
            <a:ext cx="7620000" cy="4997152"/>
          </a:xfrm>
        </p:spPr>
        <p:txBody>
          <a:bodyPr>
            <a:normAutofit/>
          </a:bodyPr>
          <a:lstStyle/>
          <a:p>
            <a:pPr marL="114300" indent="0">
              <a:buNone/>
            </a:pPr>
            <a:r>
              <a:rPr lang="ru-RU" dirty="0">
                <a:latin typeface="Times New Roman" panose="02020603050405020304" pitchFamily="18" charset="0"/>
                <a:cs typeface="Times New Roman" panose="02020603050405020304" pitchFamily="18" charset="0"/>
              </a:rPr>
              <a:t>Каждая страна имеет свой домен верхнего уровня, состоящий из кода страны. Например, для России – это “.</a:t>
            </a:r>
            <a:r>
              <a:rPr lang="ru-RU" dirty="0" err="1">
                <a:latin typeface="Times New Roman" panose="02020603050405020304" pitchFamily="18" charset="0"/>
                <a:cs typeface="Times New Roman" panose="02020603050405020304" pitchFamily="18" charset="0"/>
              </a:rPr>
              <a:t>ru</a:t>
            </a:r>
            <a:r>
              <a:rPr lang="ru-RU" dirty="0">
                <a:latin typeface="Times New Roman" panose="02020603050405020304" pitchFamily="18" charset="0"/>
                <a:cs typeface="Times New Roman" panose="02020603050405020304" pitchFamily="18" charset="0"/>
              </a:rPr>
              <a:t>”, Норвегии – “.</a:t>
            </a:r>
            <a:r>
              <a:rPr lang="ru-RU" dirty="0" err="1">
                <a:latin typeface="Times New Roman" panose="02020603050405020304" pitchFamily="18" charset="0"/>
                <a:cs typeface="Times New Roman" panose="02020603050405020304" pitchFamily="18" charset="0"/>
              </a:rPr>
              <a:t>no</a:t>
            </a:r>
            <a:r>
              <a:rPr lang="ru-RU" dirty="0">
                <a:latin typeface="Times New Roman" panose="02020603050405020304" pitchFamily="18" charset="0"/>
                <a:cs typeface="Times New Roman" panose="02020603050405020304" pitchFamily="18" charset="0"/>
              </a:rPr>
              <a:t>”, Италии – “.</a:t>
            </a:r>
            <a:r>
              <a:rPr lang="ru-RU" dirty="0" err="1">
                <a:latin typeface="Times New Roman" panose="02020603050405020304" pitchFamily="18" charset="0"/>
                <a:cs typeface="Times New Roman" panose="02020603050405020304" pitchFamily="18" charset="0"/>
              </a:rPr>
              <a:t>it</a:t>
            </a:r>
            <a:r>
              <a:rPr lang="ru-RU" dirty="0">
                <a:latin typeface="Times New Roman" panose="02020603050405020304" pitchFamily="18" charset="0"/>
                <a:cs typeface="Times New Roman" panose="02020603050405020304" pitchFamily="18" charset="0"/>
              </a:rPr>
              <a:t>”, Германии – “.</a:t>
            </a:r>
            <a:r>
              <a:rPr lang="ru-RU" dirty="0" err="1">
                <a:latin typeface="Times New Roman" panose="02020603050405020304" pitchFamily="18" charset="0"/>
                <a:cs typeface="Times New Roman" panose="02020603050405020304" pitchFamily="18" charset="0"/>
              </a:rPr>
              <a:t>de</a:t>
            </a:r>
            <a:r>
              <a:rPr lang="ru-RU" dirty="0">
                <a:latin typeface="Times New Roman" panose="02020603050405020304" pitchFamily="18" charset="0"/>
                <a:cs typeface="Times New Roman" panose="02020603050405020304" pitchFamily="18" charset="0"/>
              </a:rPr>
              <a:t>” и др</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err="1" smtClean="0">
                <a:latin typeface="Times New Roman" panose="02020603050405020304" pitchFamily="18" charset="0"/>
                <a:cs typeface="Times New Roman" panose="02020603050405020304" pitchFamily="18" charset="0"/>
              </a:rPr>
              <a:t>Goodwill</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 это условная стоимость деловых связей, нематериальных активов, престиж торговой марки, устойчивая клиентура, репутация и др. Он приобретается вследствие роста репутации компании среди клиентов в течение многих лет и позволяет получить доходы, превышающие доходы, полученные при его отсутствии</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Доменные имена</a:t>
            </a:r>
          </a:p>
        </p:txBody>
      </p:sp>
    </p:spTree>
    <p:extLst>
      <p:ext uri="{BB962C8B-B14F-4D97-AF65-F5344CB8AC3E}">
        <p14:creationId xmlns:p14="http://schemas.microsoft.com/office/powerpoint/2010/main" val="3391483229"/>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Интернет-компании непосредственно </a:t>
            </a:r>
            <a:r>
              <a:rPr lang="ru-RU" dirty="0" err="1">
                <a:latin typeface="Times New Roman" panose="02020603050405020304" pitchFamily="18" charset="0"/>
                <a:cs typeface="Times New Roman" panose="02020603050405020304" pitchFamily="18" charset="0"/>
              </a:rPr>
              <a:t>объективизируется</a:t>
            </a:r>
            <a:r>
              <a:rPr lang="ru-RU" dirty="0">
                <a:latin typeface="Times New Roman" panose="02020603050405020304" pitchFamily="18" charset="0"/>
                <a:cs typeface="Times New Roman" panose="02020603050405020304" pitchFamily="18" charset="0"/>
              </a:rPr>
              <a:t> в ее доменном имени, поскольку именно оно является связующим звеном между компанией и клиентами. Поэтому доменные имена хорошо зарекомендовавших себя сайтов имеют высокую стоимость и часто являются объектами купли-продажи. Так, например, </a:t>
            </a:r>
            <a:r>
              <a:rPr lang="ru-RU" b="1" dirty="0">
                <a:latin typeface="Times New Roman" panose="02020603050405020304" pitchFamily="18" charset="0"/>
                <a:cs typeface="Times New Roman" panose="02020603050405020304" pitchFamily="18" charset="0"/>
              </a:rPr>
              <a:t>стоимость известного доменного имени unix.com составила $1 млн.</a:t>
            </a:r>
          </a:p>
        </p:txBody>
      </p:sp>
      <p:sp>
        <p:nvSpPr>
          <p:cNvPr id="4"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Доменные имена</a:t>
            </a:r>
          </a:p>
        </p:txBody>
      </p:sp>
    </p:spTree>
    <p:extLst>
      <p:ext uri="{BB962C8B-B14F-4D97-AF65-F5344CB8AC3E}">
        <p14:creationId xmlns:p14="http://schemas.microsoft.com/office/powerpoint/2010/main" val="3298888815"/>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43408"/>
            <a:ext cx="7620000" cy="1143000"/>
          </a:xfrm>
        </p:spPr>
        <p:txBody>
          <a:bodyPr/>
          <a:lstStyle/>
          <a:p>
            <a:pPr algn="ctr"/>
            <a:r>
              <a:rPr lang="ru-RU" b="1" dirty="0">
                <a:latin typeface="Times New Roman" panose="02020603050405020304" pitchFamily="18" charset="0"/>
                <a:cs typeface="Times New Roman" panose="02020603050405020304" pitchFamily="18" charset="0"/>
              </a:rPr>
              <a:t>Формат </a:t>
            </a:r>
            <a:r>
              <a:rPr lang="ru-RU" b="1" dirty="0" smtClean="0">
                <a:latin typeface="Times New Roman" panose="02020603050405020304" pitchFamily="18" charset="0"/>
                <a:cs typeface="Times New Roman" panose="02020603050405020304" pitchFamily="18" charset="0"/>
              </a:rPr>
              <a:t>IP-адресов</a:t>
            </a:r>
            <a:endParaRPr lang="ru-RU"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251520" y="1417638"/>
            <a:ext cx="7825680" cy="4983162"/>
          </a:xfrm>
        </p:spPr>
        <p:txBody>
          <a:bodyPr>
            <a:normAutofit/>
          </a:bodyPr>
          <a:lstStyle/>
          <a:p>
            <a:pPr marL="114300" indent="0" fontAlgn="base">
              <a:buNone/>
            </a:pPr>
            <a:r>
              <a:rPr lang="ru-RU" dirty="0">
                <a:latin typeface="Times New Roman" panose="02020603050405020304" pitchFamily="18" charset="0"/>
                <a:cs typeface="Times New Roman" panose="02020603050405020304" pitchFamily="18" charset="0"/>
              </a:rPr>
              <a:t>Наиболее распространенной формой представления IP-адреса является запись в виде четырех чисел, представляющих значения каждого байта в десятичной форме и разделенных точками, например:</a:t>
            </a:r>
          </a:p>
          <a:p>
            <a:pPr marL="114300" indent="0" fontAlgn="base">
              <a:buNone/>
            </a:pPr>
            <a:r>
              <a:rPr lang="ru-RU" dirty="0">
                <a:latin typeface="Times New Roman" panose="02020603050405020304" pitchFamily="18" charset="0"/>
                <a:cs typeface="Times New Roman" panose="02020603050405020304" pitchFamily="18" charset="0"/>
              </a:rPr>
              <a:t>128.10.2.30</a:t>
            </a:r>
          </a:p>
          <a:p>
            <a:pPr marL="114300" indent="0" fontAlgn="base">
              <a:buNone/>
            </a:pPr>
            <a:r>
              <a:rPr lang="ru-RU" dirty="0">
                <a:latin typeface="Times New Roman" panose="02020603050405020304" pitchFamily="18" charset="0"/>
                <a:cs typeface="Times New Roman" panose="02020603050405020304" pitchFamily="18" charset="0"/>
              </a:rPr>
              <a:t>Этот же адрес может быть представлен в двоичном формате:</a:t>
            </a:r>
          </a:p>
          <a:p>
            <a:pPr marL="114300" indent="0" fontAlgn="base">
              <a:buNone/>
            </a:pPr>
            <a:r>
              <a:rPr lang="ru-RU" dirty="0">
                <a:latin typeface="Times New Roman" panose="02020603050405020304" pitchFamily="18" charset="0"/>
                <a:cs typeface="Times New Roman" panose="02020603050405020304" pitchFamily="18" charset="0"/>
              </a:rPr>
              <a:t>10000000 00001010 00000010 00011110</a:t>
            </a:r>
          </a:p>
          <a:p>
            <a:pPr marL="114300" indent="0" fontAlgn="base">
              <a:buNone/>
            </a:pPr>
            <a:r>
              <a:rPr lang="ru-RU" dirty="0">
                <a:latin typeface="Times New Roman" panose="02020603050405020304" pitchFamily="18" charset="0"/>
                <a:cs typeface="Times New Roman" panose="02020603050405020304" pitchFamily="18" charset="0"/>
              </a:rPr>
              <a:t>А также в шестнадцатеричном формате:</a:t>
            </a:r>
          </a:p>
          <a:p>
            <a:pPr marL="114300" indent="0" fontAlgn="base">
              <a:buNone/>
            </a:pPr>
            <a:r>
              <a:rPr lang="ru-RU" dirty="0">
                <a:latin typeface="Times New Roman" panose="02020603050405020304" pitchFamily="18" charset="0"/>
                <a:cs typeface="Times New Roman" panose="02020603050405020304" pitchFamily="18" charset="0"/>
              </a:rPr>
              <a:t>80.0A.02.1D</a:t>
            </a:r>
          </a:p>
          <a:p>
            <a:pPr marL="114300" indent="0">
              <a:buNone/>
            </a:pPr>
            <a:r>
              <a:rPr lang="ru-RU" dirty="0">
                <a:latin typeface="Times New Roman" panose="02020603050405020304" pitchFamily="18" charset="0"/>
                <a:cs typeface="Times New Roman" panose="02020603050405020304" pitchFamily="18" charset="0"/>
              </a:rPr>
              <a:t>Признаком, на основании которого IP-адрес относят к тому или иному классу, являются значения нескольких первых битов адреса. </a:t>
            </a:r>
          </a:p>
        </p:txBody>
      </p:sp>
    </p:spTree>
    <p:extLst>
      <p:ext uri="{BB962C8B-B14F-4D97-AF65-F5344CB8AC3E}">
        <p14:creationId xmlns:p14="http://schemas.microsoft.com/office/powerpoint/2010/main" val="423889557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9082" y="-243408"/>
            <a:ext cx="7620000" cy="1143000"/>
          </a:xfrm>
        </p:spPr>
        <p:txBody>
          <a:bodyPr/>
          <a:lstStyle/>
          <a:p>
            <a:pPr algn="ctr"/>
            <a:r>
              <a:rPr lang="ru-RU" b="1" dirty="0" smtClean="0">
                <a:latin typeface="Times New Roman" panose="02020603050405020304" pitchFamily="18" charset="0"/>
                <a:cs typeface="Times New Roman" panose="02020603050405020304" pitchFamily="18" charset="0"/>
              </a:rPr>
              <a:t>Классы </a:t>
            </a:r>
            <a:r>
              <a:rPr lang="ru-RU" b="1" dirty="0">
                <a:latin typeface="Times New Roman" panose="02020603050405020304" pitchFamily="18" charset="0"/>
                <a:cs typeface="Times New Roman" panose="02020603050405020304" pitchFamily="18" charset="0"/>
              </a:rPr>
              <a:t>IP-адресов</a:t>
            </a:r>
            <a:endParaRPr lang="ru-RU" b="1" dirty="0"/>
          </a:p>
        </p:txBody>
      </p:sp>
      <p:pic>
        <p:nvPicPr>
          <p:cNvPr id="4" name="Объект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504" y="1627238"/>
            <a:ext cx="8183009" cy="2810499"/>
          </a:xfrm>
        </p:spPr>
      </p:pic>
      <p:sp>
        <p:nvSpPr>
          <p:cNvPr id="5" name="Прямоугольник 4"/>
          <p:cNvSpPr/>
          <p:nvPr/>
        </p:nvSpPr>
        <p:spPr>
          <a:xfrm>
            <a:off x="449082" y="1165574"/>
            <a:ext cx="2640146" cy="461665"/>
          </a:xfrm>
          <a:prstGeom prst="rect">
            <a:avLst/>
          </a:prstGeom>
        </p:spPr>
        <p:txBody>
          <a:bodyPr wrap="none">
            <a:spAutoFit/>
          </a:bodyPr>
          <a:lstStyle/>
          <a:p>
            <a:r>
              <a:rPr lang="ru-RU" sz="2400" dirty="0">
                <a:latin typeface="Times New Roman" panose="02020603050405020304" pitchFamily="18" charset="0"/>
                <a:cs typeface="Times New Roman" panose="02020603050405020304" pitchFamily="18" charset="0"/>
              </a:rPr>
              <a:t>Классы </a:t>
            </a:r>
            <a:r>
              <a:rPr lang="en-US" sz="2400" dirty="0">
                <a:latin typeface="Times New Roman" panose="02020603050405020304" pitchFamily="18" charset="0"/>
                <a:cs typeface="Times New Roman" panose="02020603050405020304" pitchFamily="18" charset="0"/>
              </a:rPr>
              <a:t>IP-</a:t>
            </a:r>
            <a:r>
              <a:rPr lang="ru-RU" sz="2400" dirty="0">
                <a:latin typeface="Times New Roman" panose="02020603050405020304" pitchFamily="18" charset="0"/>
                <a:cs typeface="Times New Roman" panose="02020603050405020304" pitchFamily="18" charset="0"/>
              </a:rPr>
              <a:t>адресов</a:t>
            </a:r>
          </a:p>
        </p:txBody>
      </p:sp>
    </p:spTree>
    <p:extLst>
      <p:ext uri="{BB962C8B-B14F-4D97-AF65-F5344CB8AC3E}">
        <p14:creationId xmlns:p14="http://schemas.microsoft.com/office/powerpoint/2010/main" val="816658829"/>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323528" y="1700808"/>
            <a:ext cx="7620000" cy="4800600"/>
          </a:xfrm>
        </p:spPr>
        <p:txBody>
          <a:bodyPr/>
          <a:lstStyle/>
          <a:p>
            <a:pPr marL="114300" indent="0">
              <a:buNone/>
            </a:pPr>
            <a:r>
              <a:rPr lang="ru-RU" b="1" dirty="0">
                <a:latin typeface="Times New Roman" panose="02020603050405020304" pitchFamily="18" charset="0"/>
                <a:cs typeface="Times New Roman" panose="02020603050405020304" pitchFamily="18" charset="0"/>
              </a:rPr>
              <a:t>К</a:t>
            </a:r>
            <a:r>
              <a:rPr lang="ru-RU" dirty="0">
                <a:latin typeface="Times New Roman" panose="02020603050405020304" pitchFamily="18" charset="0"/>
                <a:cs typeface="Times New Roman" panose="02020603050405020304" pitchFamily="18" charset="0"/>
              </a:rPr>
              <a:t> </a:t>
            </a:r>
            <a:r>
              <a:rPr lang="ru-RU" b="1" dirty="0">
                <a:latin typeface="Times New Roman" panose="02020603050405020304" pitchFamily="18" charset="0"/>
                <a:cs typeface="Times New Roman" panose="02020603050405020304" pitchFamily="18" charset="0"/>
              </a:rPr>
              <a:t>классу А </a:t>
            </a:r>
            <a:r>
              <a:rPr lang="ru-RU" dirty="0">
                <a:latin typeface="Times New Roman" panose="02020603050405020304" pitchFamily="18" charset="0"/>
                <a:cs typeface="Times New Roman" panose="02020603050405020304" pitchFamily="18" charset="0"/>
              </a:rPr>
              <a:t>относится адрес, в котором старший бит имеет значение 0. В адресах класса А под идентификатор сети отводится 1 байт, а остальные 3 байта интерпретируются как номер узла в сети. Сети, все IP-адреса которых имеют значение первого байта </a:t>
            </a:r>
            <a:r>
              <a:rPr lang="ru-RU" dirty="0" smtClean="0">
                <a:latin typeface="Times New Roman" panose="02020603050405020304" pitchFamily="18" charset="0"/>
                <a:cs typeface="Times New Roman" panose="02020603050405020304" pitchFamily="18" charset="0"/>
              </a:rPr>
              <a:t>в диапазоне от </a:t>
            </a:r>
            <a:r>
              <a:rPr lang="ru-RU" dirty="0">
                <a:latin typeface="Times New Roman" panose="02020603050405020304" pitchFamily="18" charset="0"/>
                <a:cs typeface="Times New Roman" panose="02020603050405020304" pitchFamily="18" charset="0"/>
              </a:rPr>
              <a:t>1 (00000001) до 126 (01111110), называются сетями класса А. Значение 0 (00000000) первого байта не используется, а значение 127 (01111111) зарезервировано для специальных целей (см. далее). Сетей класса А </a:t>
            </a:r>
            <a:r>
              <a:rPr lang="ru-RU" dirty="0" smtClean="0">
                <a:latin typeface="Times New Roman" panose="02020603050405020304" pitchFamily="18" charset="0"/>
                <a:cs typeface="Times New Roman" panose="02020603050405020304" pitchFamily="18" charset="0"/>
              </a:rPr>
              <a:t>немного</a:t>
            </a:r>
            <a:r>
              <a:rPr lang="ru-RU" dirty="0">
                <a:latin typeface="Times New Roman" panose="02020603050405020304" pitchFamily="18" charset="0"/>
                <a:cs typeface="Times New Roman" panose="02020603050405020304" pitchFamily="18" charset="0"/>
              </a:rPr>
              <a:t>, зато количество узлов в них может достигать 2</a:t>
            </a:r>
            <a:r>
              <a:rPr lang="ru-RU" baseline="30000" dirty="0">
                <a:latin typeface="Times New Roman" panose="02020603050405020304" pitchFamily="18" charset="0"/>
                <a:cs typeface="Times New Roman" panose="02020603050405020304" pitchFamily="18" charset="0"/>
              </a:rPr>
              <a:t>24</a:t>
            </a:r>
            <a:r>
              <a:rPr lang="ru-RU" dirty="0">
                <a:latin typeface="Times New Roman" panose="02020603050405020304" pitchFamily="18" charset="0"/>
                <a:cs typeface="Times New Roman" panose="02020603050405020304" pitchFamily="18" charset="0"/>
              </a:rPr>
              <a:t>, то есть 16 777 216 узлов.</a:t>
            </a:r>
          </a:p>
          <a:p>
            <a:pPr marL="114300" indent="0">
              <a:buNone/>
            </a:pP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539552" y="7334"/>
            <a:ext cx="7620000" cy="1143000"/>
          </a:xfrm>
        </p:spPr>
        <p:txBody>
          <a:bodyPr/>
          <a:lstStyle/>
          <a:p>
            <a:pPr algn="ctr"/>
            <a:r>
              <a:rPr lang="ru-RU" b="1" dirty="0" smtClean="0">
                <a:latin typeface="Times New Roman" panose="02020603050405020304" pitchFamily="18" charset="0"/>
                <a:cs typeface="Times New Roman" panose="02020603050405020304" pitchFamily="18" charset="0"/>
              </a:rPr>
              <a:t>Классы </a:t>
            </a:r>
            <a:r>
              <a:rPr lang="ru-RU" b="1" dirty="0">
                <a:latin typeface="Times New Roman" panose="02020603050405020304" pitchFamily="18" charset="0"/>
                <a:cs typeface="Times New Roman" panose="02020603050405020304" pitchFamily="18" charset="0"/>
              </a:rPr>
              <a:t>IP-адресов</a:t>
            </a:r>
            <a:endParaRPr lang="ru-RU" b="1" dirty="0"/>
          </a:p>
        </p:txBody>
      </p:sp>
    </p:spTree>
    <p:extLst>
      <p:ext uri="{BB962C8B-B14F-4D97-AF65-F5344CB8AC3E}">
        <p14:creationId xmlns:p14="http://schemas.microsoft.com/office/powerpoint/2010/main" val="4216354667"/>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7821" y="0"/>
            <a:ext cx="7620000" cy="1143000"/>
          </a:xfrm>
        </p:spPr>
        <p:txBody>
          <a:bodyPr/>
          <a:lstStyle/>
          <a:p>
            <a:pPr algn="ctr"/>
            <a:r>
              <a:rPr lang="ru-RU" b="1" dirty="0">
                <a:latin typeface="Times New Roman" panose="02020603050405020304" pitchFamily="18" charset="0"/>
                <a:cs typeface="Times New Roman" panose="02020603050405020304" pitchFamily="18" charset="0"/>
              </a:rPr>
              <a:t>Классы IP-адресов</a:t>
            </a:r>
            <a:endParaRPr lang="ru-RU" dirty="0"/>
          </a:p>
        </p:txBody>
      </p:sp>
      <p:sp>
        <p:nvSpPr>
          <p:cNvPr id="3" name="Объект 2"/>
          <p:cNvSpPr>
            <a:spLocks noGrp="1"/>
          </p:cNvSpPr>
          <p:nvPr>
            <p:ph idx="1"/>
          </p:nvPr>
        </p:nvSpPr>
        <p:spPr/>
        <p:txBody>
          <a:bodyPr/>
          <a:lstStyle/>
          <a:p>
            <a:pPr marL="114300" indent="0">
              <a:buNone/>
            </a:pPr>
            <a:r>
              <a:rPr lang="ru-RU" b="1" dirty="0">
                <a:latin typeface="Times New Roman" panose="02020603050405020304" pitchFamily="18" charset="0"/>
                <a:cs typeface="Times New Roman" panose="02020603050405020304" pitchFamily="18" charset="0"/>
              </a:rPr>
              <a:t>К классу В относятся </a:t>
            </a:r>
            <a:r>
              <a:rPr lang="ru-RU" dirty="0">
                <a:latin typeface="Times New Roman" panose="02020603050405020304" pitchFamily="18" charset="0"/>
                <a:cs typeface="Times New Roman" panose="02020603050405020304" pitchFamily="18" charset="0"/>
              </a:rPr>
              <a:t>все адреса, старшие два бита которых имеют значение 10. В адресах класса В под номер сети и под номер узла отводится по 2 байта. Сети, значения первых двух байтов адресов которых находятся в диапазоне от 128.0 (10000000 00000000) до 191.255 (1011111111111111), называются сетями класса В. </a:t>
            </a:r>
            <a:r>
              <a:rPr lang="ru-RU" dirty="0" smtClean="0">
                <a:latin typeface="Times New Roman" panose="02020603050405020304" pitchFamily="18" charset="0"/>
                <a:cs typeface="Times New Roman" panose="02020603050405020304" pitchFamily="18" charset="0"/>
              </a:rPr>
              <a:t>Сетей </a:t>
            </a:r>
            <a:r>
              <a:rPr lang="ru-RU" dirty="0">
                <a:latin typeface="Times New Roman" panose="02020603050405020304" pitchFamily="18" charset="0"/>
                <a:cs typeface="Times New Roman" panose="02020603050405020304" pitchFamily="18" charset="0"/>
              </a:rPr>
              <a:t>класса В больше, чем сетей класса А, а размеры их меньше. Максимальное количество узлов в сетях класса В составляет 2</a:t>
            </a:r>
            <a:r>
              <a:rPr lang="ru-RU" baseline="30000" dirty="0">
                <a:latin typeface="Times New Roman" panose="02020603050405020304" pitchFamily="18" charset="0"/>
                <a:cs typeface="Times New Roman" panose="02020603050405020304" pitchFamily="18" charset="0"/>
              </a:rPr>
              <a:t>16</a:t>
            </a:r>
            <a:r>
              <a:rPr lang="ru-RU" dirty="0">
                <a:latin typeface="Times New Roman" panose="02020603050405020304" pitchFamily="18" charset="0"/>
                <a:cs typeface="Times New Roman" panose="02020603050405020304" pitchFamily="18" charset="0"/>
              </a:rPr>
              <a:t>  (65 536</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0954812"/>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114300" indent="0">
              <a:buNone/>
            </a:pPr>
            <a:r>
              <a:rPr lang="ru-RU" b="1" dirty="0">
                <a:latin typeface="Times New Roman" panose="02020603050405020304" pitchFamily="18" charset="0"/>
                <a:cs typeface="Times New Roman" panose="02020603050405020304" pitchFamily="18" charset="0"/>
              </a:rPr>
              <a:t>К классу С </a:t>
            </a:r>
            <a:r>
              <a:rPr lang="ru-RU" dirty="0">
                <a:latin typeface="Times New Roman" panose="02020603050405020304" pitchFamily="18" charset="0"/>
                <a:cs typeface="Times New Roman" panose="02020603050405020304" pitchFamily="18" charset="0"/>
              </a:rPr>
              <a:t>относятся все адреса, старшие три бита которых имеют значение 110. В адресах класса С под номер сети отводится 3 байта, а под номер узла — 1 байт.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Сети</a:t>
            </a:r>
            <a:r>
              <a:rPr lang="ru-RU" dirty="0">
                <a:latin typeface="Times New Roman" panose="02020603050405020304" pitchFamily="18" charset="0"/>
                <a:cs typeface="Times New Roman" panose="02020603050405020304" pitchFamily="18" charset="0"/>
              </a:rPr>
              <a:t>, старшие три байта которых находятся в диапазоне от 192.0.0 (11000000 00000000 00000000) до 223.255.255 (11011111 11111111 11111111), называются сетями класса С. Сети класса С наиболее распространены, и наименьшее максимальное число узлов в них равно 2</a:t>
            </a:r>
            <a:r>
              <a:rPr lang="ru-RU" baseline="30000" dirty="0">
                <a:latin typeface="Times New Roman" panose="02020603050405020304" pitchFamily="18" charset="0"/>
                <a:cs typeface="Times New Roman" panose="02020603050405020304" pitchFamily="18" charset="0"/>
              </a:rPr>
              <a:t>8</a:t>
            </a:r>
            <a:r>
              <a:rPr lang="ru-RU" dirty="0">
                <a:latin typeface="Times New Roman" panose="02020603050405020304" pitchFamily="18" charset="0"/>
                <a:cs typeface="Times New Roman" panose="02020603050405020304" pitchFamily="18" charset="0"/>
              </a:rPr>
              <a:t> (256).</a:t>
            </a:r>
          </a:p>
          <a:p>
            <a:pPr marL="114300" indent="0">
              <a:buNone/>
            </a:pP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457200" y="-243408"/>
            <a:ext cx="7620000" cy="1143000"/>
          </a:xfrm>
        </p:spPr>
        <p:txBody>
          <a:bodyPr/>
          <a:lstStyle/>
          <a:p>
            <a:pPr algn="ctr"/>
            <a:r>
              <a:rPr lang="ru-RU" b="1" dirty="0">
                <a:latin typeface="Times New Roman" panose="02020603050405020304" pitchFamily="18" charset="0"/>
                <a:cs typeface="Times New Roman" panose="02020603050405020304" pitchFamily="18" charset="0"/>
              </a:rPr>
              <a:t>Классы IP-адресов</a:t>
            </a:r>
            <a:endParaRPr lang="ru-RU" dirty="0"/>
          </a:p>
        </p:txBody>
      </p:sp>
    </p:spTree>
    <p:extLst>
      <p:ext uri="{BB962C8B-B14F-4D97-AF65-F5344CB8AC3E}">
        <p14:creationId xmlns:p14="http://schemas.microsoft.com/office/powerpoint/2010/main" val="3047802578"/>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Если адрес начинается с последовательности 1110, то он является адресом </a:t>
            </a:r>
            <a:r>
              <a:rPr lang="ru-RU" b="1" dirty="0">
                <a:latin typeface="Times New Roman" panose="02020603050405020304" pitchFamily="18" charset="0"/>
                <a:cs typeface="Times New Roman" panose="02020603050405020304" pitchFamily="18" charset="0"/>
              </a:rPr>
              <a:t>класса D </a:t>
            </a:r>
            <a:r>
              <a:rPr lang="ru-RU" dirty="0">
                <a:latin typeface="Times New Roman" panose="02020603050405020304" pitchFamily="18" charset="0"/>
                <a:cs typeface="Times New Roman" panose="02020603050405020304" pitchFamily="18" charset="0"/>
              </a:rPr>
              <a:t>и обозначает особый групповой адрес (</a:t>
            </a:r>
            <a:r>
              <a:rPr lang="ru-RU" dirty="0" err="1">
                <a:latin typeface="Times New Roman" panose="02020603050405020304" pitchFamily="18" charset="0"/>
                <a:cs typeface="Times New Roman" panose="02020603050405020304" pitchFamily="18" charset="0"/>
              </a:rPr>
              <a:t>multicast</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address</a:t>
            </a:r>
            <a:r>
              <a:rPr lang="ru-RU" dirty="0">
                <a:latin typeface="Times New Roman" panose="02020603050405020304" pitchFamily="18" charset="0"/>
                <a:cs typeface="Times New Roman" panose="02020603050405020304" pitchFamily="18" charset="0"/>
              </a:rPr>
              <a:t>). В то время как адреса классов А, В и С служат для идентификации отдельных сетевых интерфейсов, то есть являются индивидуальными адресами (</a:t>
            </a:r>
            <a:r>
              <a:rPr lang="ru-RU" dirty="0" err="1">
                <a:latin typeface="Times New Roman" panose="02020603050405020304" pitchFamily="18" charset="0"/>
                <a:cs typeface="Times New Roman" panose="02020603050405020304" pitchFamily="18" charset="0"/>
              </a:rPr>
              <a:t>unicast</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address</a:t>
            </a:r>
            <a:r>
              <a:rPr lang="ru-RU" dirty="0">
                <a:latin typeface="Times New Roman" panose="02020603050405020304" pitchFamily="18" charset="0"/>
                <a:cs typeface="Times New Roman" panose="02020603050405020304" pitchFamily="18" charset="0"/>
              </a:rPr>
              <a:t>), групповой адрес идентифицирует группу сетевых интерфейсов, которые в общем случае могут принадлежать разным сетям. Интерфейс, входящий в группу, получает наряду с обычным индивидуальным IP-адресом еще один групповой адрес. Если при отправке пакета в качестве адреса назначения указан адрес класса D, то такой пакет должен быть доставлен всем узлам, которые входят в группу</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457200" y="0"/>
            <a:ext cx="7620000" cy="1143000"/>
          </a:xfrm>
        </p:spPr>
        <p:txBody>
          <a:bodyPr/>
          <a:lstStyle/>
          <a:p>
            <a:pPr algn="ctr"/>
            <a:r>
              <a:rPr lang="ru-RU" b="1" dirty="0">
                <a:latin typeface="Times New Roman" panose="02020603050405020304" pitchFamily="18" charset="0"/>
                <a:cs typeface="Times New Roman" panose="02020603050405020304" pitchFamily="18" charset="0"/>
              </a:rPr>
              <a:t>Классы IP-адресов</a:t>
            </a:r>
            <a:endParaRPr lang="ru-RU" dirty="0"/>
          </a:p>
        </p:txBody>
      </p:sp>
    </p:spTree>
    <p:extLst>
      <p:ext uri="{BB962C8B-B14F-4D97-AF65-F5344CB8AC3E}">
        <p14:creationId xmlns:p14="http://schemas.microsoft.com/office/powerpoint/2010/main" val="885193105"/>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1239" y="2057400"/>
            <a:ext cx="7620000" cy="4800600"/>
          </a:xfrm>
        </p:spPr>
        <p:txBody>
          <a:bodyPr/>
          <a:lstStyle/>
          <a:p>
            <a:pPr marL="114300" indent="0">
              <a:buNone/>
            </a:pPr>
            <a:r>
              <a:rPr lang="ru-RU" dirty="0">
                <a:latin typeface="Times New Roman" panose="02020603050405020304" pitchFamily="18" charset="0"/>
                <a:cs typeface="Times New Roman" panose="02020603050405020304" pitchFamily="18" charset="0"/>
              </a:rPr>
              <a:t>Если адрес начинается с последовательности 11110, то это значит, что данный адрес относится </a:t>
            </a:r>
            <a:r>
              <a:rPr lang="ru-RU" b="1" dirty="0">
                <a:latin typeface="Times New Roman" panose="02020603050405020304" pitchFamily="18" charset="0"/>
                <a:cs typeface="Times New Roman" panose="02020603050405020304" pitchFamily="18" charset="0"/>
              </a:rPr>
              <a:t>к классу Е</a:t>
            </a:r>
            <a:r>
              <a:rPr lang="ru-RU" dirty="0">
                <a:latin typeface="Times New Roman" panose="02020603050405020304" pitchFamily="18" charset="0"/>
                <a:cs typeface="Times New Roman" panose="02020603050405020304" pitchFamily="18" charset="0"/>
              </a:rPr>
              <a:t>. Адреса этого класса зарезервированы для будущих применений</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Классы IP-адресов</a:t>
            </a:r>
            <a:endParaRPr lang="ru-RU" dirty="0"/>
          </a:p>
        </p:txBody>
      </p:sp>
    </p:spTree>
    <p:extLst>
      <p:ext uri="{BB962C8B-B14F-4D97-AF65-F5344CB8AC3E}">
        <p14:creationId xmlns:p14="http://schemas.microsoft.com/office/powerpoint/2010/main" val="2399689133"/>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91307" y="0"/>
            <a:ext cx="7620000" cy="1143000"/>
          </a:xfrm>
        </p:spPr>
        <p:txBody>
          <a:bodyPr/>
          <a:lstStyle/>
          <a:p>
            <a:pPr algn="ctr"/>
            <a:r>
              <a:rPr lang="ru-RU" b="1" dirty="0">
                <a:latin typeface="Times New Roman" panose="02020603050405020304" pitchFamily="18" charset="0"/>
                <a:cs typeface="Times New Roman" panose="02020603050405020304" pitchFamily="18" charset="0"/>
              </a:rPr>
              <a:t>Назначение адресов автономной сети</a:t>
            </a:r>
            <a:endParaRPr lang="ru-RU" b="1" dirty="0"/>
          </a:p>
        </p:txBody>
      </p:sp>
      <p:sp>
        <p:nvSpPr>
          <p:cNvPr id="3" name="Объект 2"/>
          <p:cNvSpPr>
            <a:spLocks noGrp="1"/>
          </p:cNvSpPr>
          <p:nvPr>
            <p:ph idx="1"/>
          </p:nvPr>
        </p:nvSpPr>
        <p:spPr/>
        <p:txBody>
          <a:bodyPr>
            <a:normAutofit fontScale="92500" lnSpcReduction="10000"/>
          </a:bodyPr>
          <a:lstStyle/>
          <a:p>
            <a:pPr marL="114300" indent="0">
              <a:buNone/>
            </a:pPr>
            <a:r>
              <a:rPr lang="ru-RU" b="1" dirty="0">
                <a:latin typeface="Times New Roman" panose="02020603050405020304" pitchFamily="18" charset="0"/>
                <a:cs typeface="Times New Roman" panose="02020603050405020304" pitchFamily="18" charset="0"/>
              </a:rPr>
              <a:t>Автономная </a:t>
            </a:r>
            <a:r>
              <a:rPr lang="ru-RU" b="1" dirty="0" smtClean="0">
                <a:latin typeface="Times New Roman" panose="02020603050405020304" pitchFamily="18" charset="0"/>
                <a:cs typeface="Times New Roman" panose="02020603050405020304" pitchFamily="18" charset="0"/>
              </a:rPr>
              <a:t>сеть </a:t>
            </a:r>
            <a:r>
              <a:rPr lang="ru-RU" dirty="0" smtClean="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система IP-сетей и маршрутизаторов, управляемых одним или несколькими операторами, имеющими единую политику маршрутизации с Интернетом.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Система </a:t>
            </a:r>
            <a:r>
              <a:rPr lang="ru-RU" dirty="0">
                <a:latin typeface="Times New Roman" panose="02020603050405020304" pitchFamily="18" charset="0"/>
                <a:cs typeface="Times New Roman" panose="02020603050405020304" pitchFamily="18" charset="0"/>
              </a:rPr>
              <a:t>имеет уникальный номер (ASN), необходимый для обмена информацией о маршрутах с другими AS, который осуществляется по протоколу </a:t>
            </a:r>
            <a:r>
              <a:rPr lang="ru-RU" dirty="0" err="1">
                <a:latin typeface="Times New Roman" panose="02020603050405020304" pitchFamily="18" charset="0"/>
                <a:cs typeface="Times New Roman" panose="02020603050405020304" pitchFamily="18" charset="0"/>
              </a:rPr>
              <a:t>междоменной</a:t>
            </a:r>
            <a:r>
              <a:rPr lang="ru-RU" dirty="0">
                <a:latin typeface="Times New Roman" panose="02020603050405020304" pitchFamily="18" charset="0"/>
                <a:cs typeface="Times New Roman" panose="02020603050405020304" pitchFamily="18" charset="0"/>
              </a:rPr>
              <a:t> маршрутизации </a:t>
            </a:r>
            <a:r>
              <a:rPr lang="ru-RU" dirty="0" err="1">
                <a:latin typeface="Times New Roman" panose="02020603050405020304" pitchFamily="18" charset="0"/>
                <a:cs typeface="Times New Roman" panose="02020603050405020304" pitchFamily="18" charset="0"/>
              </a:rPr>
              <a:t>Border</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Gateway</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Protocol</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Автономная система нужна, чтобы иметь несколько подключений одновременно к нескольким операторам, иметь возможность участвовать в точках обмена трафиком, переходить без простоя из одного ДЦ в другой. Обладая собственной автономной системой можно без перенастроек конечного оборудования пользователей изменять каналы связи, не зависеть от IP-адресов провайдера, менять приоритет одного канала над другими и многое другое.</a:t>
            </a:r>
          </a:p>
        </p:txBody>
      </p:sp>
    </p:spTree>
    <p:extLst>
      <p:ext uri="{BB962C8B-B14F-4D97-AF65-F5344CB8AC3E}">
        <p14:creationId xmlns:p14="http://schemas.microsoft.com/office/powerpoint/2010/main" val="1104117003"/>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Автономная </a:t>
            </a:r>
            <a:r>
              <a:rPr lang="ru-RU" dirty="0" smtClean="0">
                <a:latin typeface="Times New Roman" panose="02020603050405020304" pitchFamily="18" charset="0"/>
                <a:cs typeface="Times New Roman" panose="02020603050405020304" pitchFamily="18" charset="0"/>
              </a:rPr>
              <a:t>сеть </a:t>
            </a:r>
            <a:r>
              <a:rPr lang="ru-RU" dirty="0">
                <a:latin typeface="Times New Roman" panose="02020603050405020304" pitchFamily="18" charset="0"/>
                <a:cs typeface="Times New Roman" panose="02020603050405020304" pitchFamily="18" charset="0"/>
              </a:rPr>
              <a:t>нужна, чтобы иметь несколько подключений одновременно к нескольким операторам, иметь возможность участвовать в точках обмена трафиком, переходить без простоя из одного ДЦ в другой.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Обладая </a:t>
            </a:r>
            <a:r>
              <a:rPr lang="ru-RU" dirty="0">
                <a:latin typeface="Times New Roman" panose="02020603050405020304" pitchFamily="18" charset="0"/>
                <a:cs typeface="Times New Roman" panose="02020603050405020304" pitchFamily="18" charset="0"/>
              </a:rPr>
              <a:t>собственной автономной системой можно без перенастроек конечного оборудования пользователей изменять каналы связи, не зависеть от IP-адресов провайдера, менять приоритет одного канала над другими и многое другое.</a:t>
            </a:r>
          </a:p>
        </p:txBody>
      </p:sp>
      <p:sp>
        <p:nvSpPr>
          <p:cNvPr id="4" name="Заголовок 1"/>
          <p:cNvSpPr>
            <a:spLocks noGrp="1"/>
          </p:cNvSpPr>
          <p:nvPr>
            <p:ph type="title"/>
          </p:nvPr>
        </p:nvSpPr>
        <p:spPr>
          <a:xfrm>
            <a:off x="457200" y="0"/>
            <a:ext cx="7620000" cy="1143000"/>
          </a:xfrm>
        </p:spPr>
        <p:txBody>
          <a:bodyPr/>
          <a:lstStyle/>
          <a:p>
            <a:pPr algn="ctr"/>
            <a:r>
              <a:rPr lang="ru-RU" b="1" dirty="0">
                <a:latin typeface="Times New Roman" panose="02020603050405020304" pitchFamily="18" charset="0"/>
                <a:cs typeface="Times New Roman" panose="02020603050405020304" pitchFamily="18" charset="0"/>
              </a:rPr>
              <a:t>Назначение адресов автономной сети</a:t>
            </a:r>
            <a:endParaRPr lang="ru-RU" b="1" dirty="0"/>
          </a:p>
        </p:txBody>
      </p:sp>
    </p:spTree>
    <p:extLst>
      <p:ext uri="{BB962C8B-B14F-4D97-AF65-F5344CB8AC3E}">
        <p14:creationId xmlns:p14="http://schemas.microsoft.com/office/powerpoint/2010/main" val="4012394584"/>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Маска подсети</a:t>
            </a:r>
            <a:endParaRPr lang="ru-RU" b="1" dirty="0"/>
          </a:p>
        </p:txBody>
      </p:sp>
      <p:sp>
        <p:nvSpPr>
          <p:cNvPr id="3" name="Объект 2"/>
          <p:cNvSpPr>
            <a:spLocks noGrp="1"/>
          </p:cNvSpPr>
          <p:nvPr>
            <p:ph idx="1"/>
          </p:nvPr>
        </p:nvSpPr>
        <p:spPr/>
        <p:txBody>
          <a:bodyPr/>
          <a:lstStyle/>
          <a:p>
            <a:pPr marL="114300" indent="0">
              <a:buNone/>
            </a:pPr>
            <a:r>
              <a:rPr lang="ru-RU" b="1" dirty="0">
                <a:latin typeface="Times New Roman" panose="02020603050405020304" pitchFamily="18" charset="0"/>
                <a:cs typeface="Times New Roman" panose="02020603050405020304" pitchFamily="18" charset="0"/>
              </a:rPr>
              <a:t>Маска подсети </a:t>
            </a:r>
            <a:r>
              <a:rPr lang="ru-RU" dirty="0" smtClean="0">
                <a:latin typeface="Times New Roman" panose="02020603050405020304" pitchFamily="18" charset="0"/>
                <a:cs typeface="Times New Roman" panose="02020603050405020304" pitchFamily="18" charset="0"/>
              </a:rPr>
              <a:t>является </a:t>
            </a:r>
            <a:r>
              <a:rPr lang="ru-RU" dirty="0">
                <a:latin typeface="Times New Roman" panose="02020603050405020304" pitchFamily="18" charset="0"/>
                <a:cs typeface="Times New Roman" panose="02020603050405020304" pitchFamily="18" charset="0"/>
              </a:rPr>
              <a:t>числом, </a:t>
            </a:r>
            <a:r>
              <a:rPr lang="ru-RU" dirty="0" smtClean="0">
                <a:latin typeface="Times New Roman" panose="02020603050405020304" pitchFamily="18" charset="0"/>
                <a:cs typeface="Times New Roman" panose="02020603050405020304" pitchFamily="18" charset="0"/>
              </a:rPr>
              <a:t>она </a:t>
            </a:r>
            <a:r>
              <a:rPr lang="ru-RU" dirty="0">
                <a:latin typeface="Times New Roman" panose="02020603050405020304" pitchFamily="18" charset="0"/>
                <a:cs typeface="Times New Roman" panose="02020603050405020304" pitchFamily="18" charset="0"/>
              </a:rPr>
              <a:t>определяет диапазон IP-адресов, которые может использовать сеть. С ее помощью сети могут делиться на небольшие подсети, которые подключаются к Интернету. Маска подсети будет обозначать эти подсети</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Устройства</a:t>
            </a:r>
            <a:r>
              <a:rPr lang="ru-RU" dirty="0">
                <a:latin typeface="Times New Roman" panose="02020603050405020304" pitchFamily="18" charset="0"/>
                <a:cs typeface="Times New Roman" panose="02020603050405020304" pitchFamily="18" charset="0"/>
              </a:rPr>
              <a:t>, расположенные в одной подсети, могут взаимодействовать друг с другом. Если устройства одной подсети хотят обмениваться данными с другой, им потребуется маршрутизатор для маршрутизации коммутации между ними. Это можно использовать для разделения многочисленных сетей и, следовательно, для ограничения связи между </a:t>
            </a:r>
            <a:r>
              <a:rPr lang="ru-RU" dirty="0" smtClean="0">
                <a:latin typeface="Times New Roman" panose="02020603050405020304" pitchFamily="18" charset="0"/>
                <a:cs typeface="Times New Roman" panose="02020603050405020304" pitchFamily="18" charset="0"/>
              </a:rPr>
              <a:t>ними</a:t>
            </a:r>
            <a:r>
              <a:rPr lang="ru-RU" dirty="0">
                <a:latin typeface="Times New Roman" panose="02020603050405020304" pitchFamily="18" charset="0"/>
                <a:cs typeface="Times New Roman" panose="02020603050405020304" pitchFamily="18" charset="0"/>
              </a:rPr>
              <a:t>.</a:t>
            </a:r>
            <a:endParaRPr lang="ru-RU"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583410"/>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600200"/>
            <a:ext cx="7620000" cy="5141168"/>
          </a:xfrm>
        </p:spPr>
        <p:txBody>
          <a:bodyPr>
            <a:normAutofit fontScale="92500" lnSpcReduction="10000"/>
          </a:bodyPr>
          <a:lstStyle/>
          <a:p>
            <a:pPr marL="114300" indent="0">
              <a:buNone/>
            </a:pPr>
            <a:r>
              <a:rPr lang="ru-RU" dirty="0">
                <a:latin typeface="Times New Roman" panose="02020603050405020304" pitchFamily="18" charset="0"/>
                <a:cs typeface="Times New Roman" panose="02020603050405020304" pitchFamily="18" charset="0"/>
              </a:rPr>
              <a:t>Задача маски подсети, если простыми словами, – скрыть сетевой элемент адреса. Виден только элемент хоста. Одна из наиболее распространенных масок класса C – 255.255.255.0.</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Каждый </a:t>
            </a:r>
            <a:r>
              <a:rPr lang="ru-RU" dirty="0">
                <a:latin typeface="Times New Roman" panose="02020603050405020304" pitchFamily="18" charset="0"/>
                <a:cs typeface="Times New Roman" panose="02020603050405020304" pitchFamily="18" charset="0"/>
              </a:rPr>
              <a:t>раздел адреса маски подсети может содержать любые числа от 0 до 255. Для 255.255.255.0 первые 3 раздела заполнены, что означает, что IP-адреса устройств в этой подсети должны совпадать с начальными 3 разделами. Последний раздел может быть любым числом от 0 до 255</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Пример: </a:t>
            </a:r>
            <a:r>
              <a:rPr lang="ru-RU" dirty="0">
                <a:latin typeface="Times New Roman" panose="02020603050405020304" pitchFamily="18" charset="0"/>
                <a:cs typeface="Times New Roman" panose="02020603050405020304" pitchFamily="18" charset="0"/>
              </a:rPr>
              <a:t>Два IP-адреса 12.0.1.101 и 12.0.1.102 расположены в одной подсети, а номер 12.0.2.101 будет находиться уже в другой</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С маской 255.255.255.0 существует 256 IP-адресов, но только 254 из них могут использоваться для хостов. Это связано с тем, что шлюз (обычно первый адрес – 0) и широковещательный адрес (обычно последний адрес – 255) зарезервированы</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Маска подсети</a:t>
            </a:r>
            <a:endParaRPr lang="ru-RU" b="1" dirty="0"/>
          </a:p>
        </p:txBody>
      </p:sp>
    </p:spTree>
    <p:extLst>
      <p:ext uri="{BB962C8B-B14F-4D97-AF65-F5344CB8AC3E}">
        <p14:creationId xmlns:p14="http://schemas.microsoft.com/office/powerpoint/2010/main" val="2243381350"/>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124744"/>
            <a:ext cx="7620000" cy="5733256"/>
          </a:xfrm>
        </p:spPr>
        <p:txBody>
          <a:bodyPr>
            <a:normAutofit lnSpcReduction="10000"/>
          </a:bodyPr>
          <a:lstStyle/>
          <a:p>
            <a:pPr marL="114300" indent="0">
              <a:buNone/>
            </a:pPr>
            <a:r>
              <a:rPr lang="ru-RU" dirty="0">
                <a:latin typeface="Times New Roman" panose="02020603050405020304" pitchFamily="18" charset="0"/>
                <a:cs typeface="Times New Roman" panose="02020603050405020304" pitchFamily="18" charset="0"/>
              </a:rPr>
              <a:t>Одной из наиболее важных причин является </a:t>
            </a:r>
            <a:r>
              <a:rPr lang="ru-RU" b="1" dirty="0">
                <a:latin typeface="Times New Roman" panose="02020603050405020304" pitchFamily="18" charset="0"/>
                <a:cs typeface="Times New Roman" panose="02020603050405020304" pitchFamily="18" charset="0"/>
              </a:rPr>
              <a:t>безопасность</a:t>
            </a:r>
            <a:r>
              <a:rPr lang="ru-RU" dirty="0">
                <a:latin typeface="Times New Roman" panose="02020603050405020304" pitchFamily="18" charset="0"/>
                <a:cs typeface="Times New Roman" panose="02020603050405020304" pitchFamily="18" charset="0"/>
              </a:rPr>
              <a:t>. Когда вы находитесь в той же подсети, что и другие устройства, существует свободная связь, но устройства в других подсетях не смогут получить прямой доступ к вам</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Типичная маска подсети для домашних сетей – 255.255.255.0. </a:t>
            </a: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Это </a:t>
            </a:r>
            <a:r>
              <a:rPr lang="ru-RU" dirty="0">
                <a:latin typeface="Times New Roman" panose="02020603050405020304" pitchFamily="18" charset="0"/>
                <a:cs typeface="Times New Roman" panose="02020603050405020304" pitchFamily="18" charset="0"/>
              </a:rPr>
              <a:t>24-битная маска, которая позволяет использовать до 256 уникальных номеров. Однако возможны «только» 254 хоста, которых должно быть достаточно для большинства квартир. Но в больших масштабах этого очень мало. Хорошо, что 255.255.255.0 можно изменить на что-то другое. Это увеличит сеть и пропускную способность хостов.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Например</a:t>
            </a:r>
            <a:r>
              <a:rPr lang="ru-RU" dirty="0">
                <a:latin typeface="Times New Roman" panose="02020603050405020304" pitchFamily="18" charset="0"/>
                <a:cs typeface="Times New Roman" panose="02020603050405020304" pitchFamily="18" charset="0"/>
              </a:rPr>
              <a:t>, 255.255.0.0, который является 16-битной маской, может иметь 65 536 хостов</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457200" y="-171400"/>
            <a:ext cx="7620000" cy="1143000"/>
          </a:xfrm>
        </p:spPr>
        <p:txBody>
          <a:bodyPr/>
          <a:lstStyle/>
          <a:p>
            <a:pPr algn="ctr"/>
            <a:r>
              <a:rPr lang="ru-RU" b="1" dirty="0">
                <a:latin typeface="Times New Roman" panose="02020603050405020304" pitchFamily="18" charset="0"/>
                <a:cs typeface="Times New Roman" panose="02020603050405020304" pitchFamily="18" charset="0"/>
              </a:rPr>
              <a:t>Маска подсети</a:t>
            </a:r>
            <a:endParaRPr lang="ru-RU" b="1" dirty="0"/>
          </a:p>
        </p:txBody>
      </p:sp>
    </p:spTree>
    <p:extLst>
      <p:ext uri="{BB962C8B-B14F-4D97-AF65-F5344CB8AC3E}">
        <p14:creationId xmlns:p14="http://schemas.microsoft.com/office/powerpoint/2010/main" val="3490064612"/>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32566"/>
            <a:ext cx="7620000" cy="1143000"/>
          </a:xfrm>
        </p:spPr>
        <p:txBody>
          <a:bodyPr/>
          <a:lstStyle/>
          <a:p>
            <a:pPr algn="ctr"/>
            <a:r>
              <a:rPr lang="ru-RU" b="1" dirty="0">
                <a:latin typeface="Times New Roman" panose="02020603050405020304" pitchFamily="18" charset="0"/>
                <a:cs typeface="Times New Roman" panose="02020603050405020304" pitchFamily="18" charset="0"/>
              </a:rPr>
              <a:t>Сетевая утилита </a:t>
            </a:r>
            <a:r>
              <a:rPr lang="en-US" b="1" dirty="0" err="1">
                <a:latin typeface="Times New Roman" panose="02020603050405020304" pitchFamily="18" charset="0"/>
                <a:cs typeface="Times New Roman" panose="02020603050405020304" pitchFamily="18" charset="0"/>
              </a:rPr>
              <a:t>NetSH</a:t>
            </a:r>
            <a:endParaRPr lang="ru-RU"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457200" y="1700808"/>
            <a:ext cx="7620000" cy="4699992"/>
          </a:xfrm>
        </p:spPr>
        <p:txBody>
          <a:bodyPr/>
          <a:lstStyle/>
          <a:p>
            <a:pPr marL="114300" indent="0">
              <a:buNone/>
            </a:pPr>
            <a:r>
              <a:rPr lang="ru-RU" dirty="0" err="1">
                <a:latin typeface="Times New Roman" panose="02020603050405020304" pitchFamily="18" charset="0"/>
                <a:cs typeface="Times New Roman" panose="02020603050405020304" pitchFamily="18" charset="0"/>
              </a:rPr>
              <a:t>Netsh</a:t>
            </a:r>
            <a:r>
              <a:rPr lang="ru-RU" dirty="0">
                <a:latin typeface="Times New Roman" panose="02020603050405020304" pitchFamily="18" charset="0"/>
                <a:cs typeface="Times New Roman" panose="02020603050405020304" pitchFamily="18" charset="0"/>
              </a:rPr>
              <a:t> — это служебная программа на базе командной строки, которая позволяет показывать или изменять конфигурацию сети активного компьютера. Команды </a:t>
            </a:r>
            <a:r>
              <a:rPr lang="ru-RU" dirty="0" err="1">
                <a:latin typeface="Times New Roman" panose="02020603050405020304" pitchFamily="18" charset="0"/>
                <a:cs typeface="Times New Roman" panose="02020603050405020304" pitchFamily="18" charset="0"/>
              </a:rPr>
              <a:t>Netsh</a:t>
            </a:r>
            <a:r>
              <a:rPr lang="ru-RU" dirty="0">
                <a:latin typeface="Times New Roman" panose="02020603050405020304" pitchFamily="18" charset="0"/>
                <a:cs typeface="Times New Roman" panose="02020603050405020304" pitchFamily="18" charset="0"/>
              </a:rPr>
              <a:t> можно выполнять путем ввода в командной строке </a:t>
            </a:r>
            <a:r>
              <a:rPr lang="ru-RU" dirty="0" err="1">
                <a:latin typeface="Times New Roman" panose="02020603050405020304" pitchFamily="18" charset="0"/>
                <a:cs typeface="Times New Roman" panose="02020603050405020304" pitchFamily="18" charset="0"/>
              </a:rPr>
              <a:t>Netsh</a:t>
            </a:r>
            <a:r>
              <a:rPr lang="ru-RU" dirty="0">
                <a:latin typeface="Times New Roman" panose="02020603050405020304" pitchFamily="18" charset="0"/>
                <a:cs typeface="Times New Roman" panose="02020603050405020304" pitchFamily="18" charset="0"/>
              </a:rPr>
              <a:t>, также их можно использовать в пакетных файлах или скриптах. </a:t>
            </a:r>
          </a:p>
        </p:txBody>
      </p:sp>
    </p:spTree>
    <p:extLst>
      <p:ext uri="{BB962C8B-B14F-4D97-AF65-F5344CB8AC3E}">
        <p14:creationId xmlns:p14="http://schemas.microsoft.com/office/powerpoint/2010/main" val="2514143579"/>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143000"/>
            <a:ext cx="7620000" cy="5715000"/>
          </a:xfrm>
        </p:spPr>
        <p:txBody>
          <a:bodyPr>
            <a:normAutofit lnSpcReduction="10000"/>
          </a:bodyPr>
          <a:lstStyle/>
          <a:p>
            <a:pPr marL="114300" indent="0">
              <a:buNone/>
            </a:pPr>
            <a:r>
              <a:rPr lang="ru-RU" dirty="0" err="1">
                <a:latin typeface="Times New Roman" panose="02020603050405020304" pitchFamily="18" charset="0"/>
                <a:cs typeface="Times New Roman" panose="02020603050405020304" pitchFamily="18" charset="0"/>
              </a:rPr>
              <a:t>Netsh</a:t>
            </a:r>
            <a:r>
              <a:rPr lang="ru-RU" dirty="0">
                <a:latin typeface="Times New Roman" panose="02020603050405020304" pitchFamily="18" charset="0"/>
                <a:cs typeface="Times New Roman" panose="02020603050405020304" pitchFamily="18" charset="0"/>
              </a:rPr>
              <a:t> взаимодействует с другими компонентами операционной системы с помощью файлов -библиотеки динамической компоновки (DLL</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a:latin typeface="Times New Roman" panose="02020603050405020304" pitchFamily="18" charset="0"/>
                <a:cs typeface="Times New Roman" panose="02020603050405020304" pitchFamily="18" charset="0"/>
              </a:rPr>
              <a:t>Каждая вспомогательная библиотека DLL </a:t>
            </a:r>
            <a:r>
              <a:rPr lang="ru-RU" dirty="0" err="1">
                <a:latin typeface="Times New Roman" panose="02020603050405020304" pitchFamily="18" charset="0"/>
                <a:cs typeface="Times New Roman" panose="02020603050405020304" pitchFamily="18" charset="0"/>
              </a:rPr>
              <a:t>Netsh</a:t>
            </a:r>
            <a:r>
              <a:rPr lang="ru-RU" dirty="0">
                <a:latin typeface="Times New Roman" panose="02020603050405020304" pitchFamily="18" charset="0"/>
                <a:cs typeface="Times New Roman" panose="02020603050405020304" pitchFamily="18" charset="0"/>
              </a:rPr>
              <a:t> предоставляет широкий набор функций, называемых </a:t>
            </a:r>
            <a:r>
              <a:rPr lang="ru-RU" i="1" dirty="0">
                <a:latin typeface="Times New Roman" panose="02020603050405020304" pitchFamily="18" charset="0"/>
                <a:cs typeface="Times New Roman" panose="02020603050405020304" pitchFamily="18" charset="0"/>
              </a:rPr>
              <a:t>контекстом</a:t>
            </a:r>
            <a:r>
              <a:rPr lang="ru-RU" dirty="0">
                <a:latin typeface="Times New Roman" panose="02020603050405020304" pitchFamily="18" charset="0"/>
                <a:cs typeface="Times New Roman" panose="02020603050405020304" pitchFamily="18" charset="0"/>
              </a:rPr>
              <a:t>, который представляет собой группу команд для определенной серверной роли или возможности в сети. Эти контексты расширяют функциональные возможности </a:t>
            </a:r>
            <a:r>
              <a:rPr lang="ru-RU" dirty="0" err="1">
                <a:latin typeface="Times New Roman" panose="02020603050405020304" pitchFamily="18" charset="0"/>
                <a:cs typeface="Times New Roman" panose="02020603050405020304" pitchFamily="18" charset="0"/>
              </a:rPr>
              <a:t>Netsh</a:t>
            </a:r>
            <a:r>
              <a:rPr lang="ru-RU" dirty="0">
                <a:latin typeface="Times New Roman" panose="02020603050405020304" pitchFamily="18" charset="0"/>
                <a:cs typeface="Times New Roman" panose="02020603050405020304" pitchFamily="18" charset="0"/>
              </a:rPr>
              <a:t>, обеспечивая поддержку конфигурации и мониторинга для одной или нескольких служб, служебных программ или протоколов.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lgn="r">
              <a:buNone/>
            </a:pPr>
            <a:r>
              <a:rPr lang="ru-RU" i="1" dirty="0" smtClean="0">
                <a:latin typeface="Times New Roman" panose="02020603050405020304" pitchFamily="18" charset="0"/>
                <a:cs typeface="Times New Roman" panose="02020603050405020304" pitchFamily="18" charset="0"/>
              </a:rPr>
              <a:t>Например</a:t>
            </a:r>
            <a:r>
              <a:rPr lang="ru-RU" i="1" dirty="0">
                <a:latin typeface="Times New Roman" panose="02020603050405020304" pitchFamily="18" charset="0"/>
                <a:cs typeface="Times New Roman" panose="02020603050405020304" pitchFamily="18" charset="0"/>
              </a:rPr>
              <a:t>, Dhcpmon.dll предоставляет для </a:t>
            </a:r>
            <a:r>
              <a:rPr lang="ru-RU" i="1" dirty="0" err="1">
                <a:latin typeface="Times New Roman" panose="02020603050405020304" pitchFamily="18" charset="0"/>
                <a:cs typeface="Times New Roman" panose="02020603050405020304" pitchFamily="18" charset="0"/>
              </a:rPr>
              <a:t>Netsh</a:t>
            </a:r>
            <a:r>
              <a:rPr lang="ru-RU" i="1" dirty="0">
                <a:latin typeface="Times New Roman" panose="02020603050405020304" pitchFamily="18" charset="0"/>
                <a:cs typeface="Times New Roman" panose="02020603050405020304" pitchFamily="18" charset="0"/>
              </a:rPr>
              <a:t> контекст и набор команд для настройки DHCP-серверов и управления ими.</a:t>
            </a:r>
          </a:p>
          <a:p>
            <a:pPr marL="114300" indent="0">
              <a:buNone/>
            </a:pP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449367" y="0"/>
            <a:ext cx="7620000" cy="1143000"/>
          </a:xfrm>
        </p:spPr>
        <p:txBody>
          <a:bodyPr/>
          <a:lstStyle/>
          <a:p>
            <a:pPr algn="ctr"/>
            <a:r>
              <a:rPr lang="ru-RU" b="1" dirty="0">
                <a:latin typeface="Times New Roman" panose="02020603050405020304" pitchFamily="18" charset="0"/>
                <a:cs typeface="Times New Roman" panose="02020603050405020304" pitchFamily="18" charset="0"/>
              </a:rPr>
              <a:t>Сетевая утилита </a:t>
            </a:r>
            <a:r>
              <a:rPr lang="en-US" b="1" dirty="0" err="1">
                <a:latin typeface="Times New Roman" panose="02020603050405020304" pitchFamily="18" charset="0"/>
                <a:cs typeface="Times New Roman" panose="02020603050405020304" pitchFamily="18" charset="0"/>
              </a:rPr>
              <a:t>NetSH</a:t>
            </a:r>
            <a:endParaRPr lang="ru-RU"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2800805"/>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3923928" y="1042362"/>
            <a:ext cx="4430291" cy="5789191"/>
          </a:xfrm>
          <a:prstGeom prst="rect">
            <a:avLst/>
          </a:prstGeom>
        </p:spPr>
      </p:pic>
      <p:sp>
        <p:nvSpPr>
          <p:cNvPr id="2" name="Заголовок 1"/>
          <p:cNvSpPr>
            <a:spLocks noGrp="1"/>
          </p:cNvSpPr>
          <p:nvPr>
            <p:ph type="title"/>
          </p:nvPr>
        </p:nvSpPr>
        <p:spPr>
          <a:xfrm>
            <a:off x="4936" y="24145"/>
            <a:ext cx="7620000" cy="997350"/>
          </a:xfrm>
        </p:spPr>
        <p:txBody>
          <a:bodyPr/>
          <a:lstStyle/>
          <a:p>
            <a:pPr algn="ctr"/>
            <a:r>
              <a:rPr lang="ru-RU" b="1" dirty="0" smtClean="0">
                <a:latin typeface="Times New Roman" panose="02020603050405020304" pitchFamily="18" charset="0"/>
                <a:cs typeface="Times New Roman" panose="02020603050405020304" pitchFamily="18" charset="0"/>
              </a:rPr>
              <a:t>Получение </a:t>
            </a:r>
            <a:r>
              <a:rPr lang="ru-RU" b="1" dirty="0">
                <a:latin typeface="Times New Roman" panose="02020603050405020304" pitchFamily="18" charset="0"/>
                <a:cs typeface="Times New Roman" panose="02020603050405020304" pitchFamily="18" charset="0"/>
              </a:rPr>
              <a:t>списка </a:t>
            </a:r>
            <a:r>
              <a:rPr lang="ru-RU" b="1" dirty="0" smtClean="0">
                <a:latin typeface="Times New Roman" panose="02020603050405020304" pitchFamily="18" charset="0"/>
                <a:cs typeface="Times New Roman" panose="02020603050405020304" pitchFamily="18" charset="0"/>
              </a:rPr>
              <a:t>контекстов</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457200" y="1412776"/>
            <a:ext cx="3466728" cy="4988024"/>
          </a:xfrm>
        </p:spPr>
        <p:txBody>
          <a:bodyPr/>
          <a:lstStyle/>
          <a:p>
            <a:pPr marL="114300" indent="0">
              <a:buNone/>
            </a:pPr>
            <a:r>
              <a:rPr lang="ru-RU" dirty="0">
                <a:latin typeface="Times New Roman" panose="02020603050405020304" pitchFamily="18" charset="0"/>
                <a:cs typeface="Times New Roman" panose="02020603050405020304" pitchFamily="18" charset="0"/>
              </a:rPr>
              <a:t>Список контекстов </a:t>
            </a:r>
            <a:r>
              <a:rPr lang="en-US" dirty="0" err="1">
                <a:latin typeface="Times New Roman" panose="02020603050405020304" pitchFamily="18" charset="0"/>
                <a:cs typeface="Times New Roman" panose="02020603050405020304" pitchFamily="18" charset="0"/>
              </a:rPr>
              <a:t>Netsh</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можно получить, открыв командную строку или </a:t>
            </a:r>
            <a:r>
              <a:rPr lang="en-US" dirty="0">
                <a:latin typeface="Times New Roman" panose="02020603050405020304" pitchFamily="18" charset="0"/>
                <a:cs typeface="Times New Roman" panose="02020603050405020304" pitchFamily="18" charset="0"/>
              </a:rPr>
              <a:t>Windows PowerShell </a:t>
            </a:r>
            <a:r>
              <a:rPr lang="ru-RU" dirty="0">
                <a:latin typeface="Times New Roman" panose="02020603050405020304" pitchFamily="18" charset="0"/>
                <a:cs typeface="Times New Roman" panose="02020603050405020304" pitchFamily="18" charset="0"/>
              </a:rPr>
              <a:t>на компьютере под управлением </a:t>
            </a:r>
            <a:r>
              <a:rPr lang="en-US" dirty="0">
                <a:latin typeface="Times New Roman" panose="02020603050405020304" pitchFamily="18" charset="0"/>
                <a:cs typeface="Times New Roman" panose="02020603050405020304" pitchFamily="18" charset="0"/>
              </a:rPr>
              <a:t>Windows Server 2016 </a:t>
            </a:r>
            <a:r>
              <a:rPr lang="ru-RU" dirty="0">
                <a:latin typeface="Times New Roman" panose="02020603050405020304" pitchFamily="18" charset="0"/>
                <a:cs typeface="Times New Roman" panose="02020603050405020304" pitchFamily="18" charset="0"/>
              </a:rPr>
              <a:t>или </a:t>
            </a:r>
            <a:r>
              <a:rPr lang="en-US" dirty="0">
                <a:latin typeface="Times New Roman" panose="02020603050405020304" pitchFamily="18" charset="0"/>
                <a:cs typeface="Times New Roman" panose="02020603050405020304" pitchFamily="18" charset="0"/>
              </a:rPr>
              <a:t>Windows 10. </a:t>
            </a:r>
            <a:r>
              <a:rPr lang="ru-RU" dirty="0">
                <a:latin typeface="Times New Roman" panose="02020603050405020304" pitchFamily="18" charset="0"/>
                <a:cs typeface="Times New Roman" panose="02020603050405020304" pitchFamily="18" charset="0"/>
              </a:rPr>
              <a:t>Введите команду </a:t>
            </a:r>
            <a:r>
              <a:rPr lang="en-US" b="1" dirty="0" err="1">
                <a:latin typeface="Times New Roman" panose="02020603050405020304" pitchFamily="18" charset="0"/>
                <a:cs typeface="Times New Roman" panose="02020603050405020304" pitchFamily="18" charset="0"/>
              </a:rPr>
              <a:t>netsh</a:t>
            </a:r>
            <a:r>
              <a:rPr lang="en-US" dirty="0">
                <a:latin typeface="Times New Roman" panose="02020603050405020304" pitchFamily="18" charset="0"/>
                <a:cs typeface="Times New Roman" panose="02020603050405020304" pitchFamily="18" charset="0"/>
              </a:rPr>
              <a:t> </a:t>
            </a:r>
            <a:r>
              <a:rPr lang="ru-RU" dirty="0">
                <a:latin typeface="Times New Roman" panose="02020603050405020304" pitchFamily="18" charset="0"/>
                <a:cs typeface="Times New Roman" panose="02020603050405020304" pitchFamily="18" charset="0"/>
              </a:rPr>
              <a:t>и нажмите клавишу ВВОД. Введите </a:t>
            </a:r>
            <a:r>
              <a:rPr lang="ru-RU" b="1"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 и нажмите клавишу ВВОД.</a:t>
            </a:r>
          </a:p>
        </p:txBody>
      </p:sp>
    </p:spTree>
    <p:extLst>
      <p:ext uri="{BB962C8B-B14F-4D97-AF65-F5344CB8AC3E}">
        <p14:creationId xmlns:p14="http://schemas.microsoft.com/office/powerpoint/2010/main" val="349705450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31742" y="1196752"/>
            <a:ext cx="7620000" cy="1143000"/>
          </a:xfrm>
        </p:spPr>
        <p:txBody>
          <a:bodyPr/>
          <a:lstStyle/>
          <a:p>
            <a:pPr algn="ctr"/>
            <a:r>
              <a:rPr lang="ru-RU" b="1" dirty="0" smtClean="0"/>
              <a:t>Практическая работа №1</a:t>
            </a:r>
            <a:endParaRPr lang="ru-RU" b="1" dirty="0"/>
          </a:p>
        </p:txBody>
      </p:sp>
      <p:sp>
        <p:nvSpPr>
          <p:cNvPr id="3" name="Объект 2"/>
          <p:cNvSpPr>
            <a:spLocks noGrp="1"/>
          </p:cNvSpPr>
          <p:nvPr>
            <p:ph idx="1"/>
          </p:nvPr>
        </p:nvSpPr>
        <p:spPr>
          <a:xfrm>
            <a:off x="457200" y="2780928"/>
            <a:ext cx="7620000" cy="3619872"/>
          </a:xfrm>
        </p:spPr>
        <p:txBody>
          <a:bodyPr/>
          <a:lstStyle/>
          <a:p>
            <a:pPr marL="571500" indent="-457200">
              <a:buFont typeface="+mj-lt"/>
              <a:buAutoNum type="arabicPeriod"/>
            </a:pPr>
            <a:r>
              <a:rPr lang="ru-RU" dirty="0" smtClean="0">
                <a:latin typeface="Times New Roman" panose="02020603050405020304" pitchFamily="18" charset="0"/>
                <a:cs typeface="Times New Roman" panose="02020603050405020304" pitchFamily="18" charset="0"/>
              </a:rPr>
              <a:t>Рассчитать количество материалов и оборудования, стоимость;</a:t>
            </a:r>
          </a:p>
          <a:p>
            <a:pPr marL="571500" indent="-457200">
              <a:buFont typeface="+mj-lt"/>
              <a:buAutoNum type="arabicPeriod"/>
            </a:pPr>
            <a:r>
              <a:rPr lang="ru-RU" dirty="0" smtClean="0">
                <a:latin typeface="Times New Roman" panose="02020603050405020304" pitchFamily="18" charset="0"/>
                <a:cs typeface="Times New Roman" panose="02020603050405020304" pitchFamily="18" charset="0"/>
              </a:rPr>
              <a:t>Подготовить отчет, о проделанной работе</a:t>
            </a:r>
            <a:r>
              <a:rPr lang="en-US" dirty="0" smtClean="0">
                <a:latin typeface="Times New Roman" panose="02020603050405020304" pitchFamily="18" charset="0"/>
                <a:cs typeface="Times New Roman" panose="02020603050405020304" pitchFamily="18" charset="0"/>
              </a:rPr>
              <a:t>.</a:t>
            </a:r>
          </a:p>
          <a:p>
            <a:pPr marL="571500" indent="-457200">
              <a:buFont typeface="+mj-lt"/>
              <a:buAutoNum type="arabicPeriod"/>
            </a:pPr>
            <a:endParaRPr lang="en-US" dirty="0">
              <a:latin typeface="Times New Roman" panose="02020603050405020304" pitchFamily="18" charset="0"/>
              <a:cs typeface="Times New Roman" panose="02020603050405020304" pitchFamily="18" charset="0"/>
            </a:endParaRPr>
          </a:p>
          <a:p>
            <a:pPr marL="571500" indent="-457200">
              <a:buFont typeface="+mj-lt"/>
              <a:buAutoNum type="arabicPeriod"/>
            </a:pPr>
            <a:r>
              <a:rPr lang="ru-RU" dirty="0" smtClean="0">
                <a:latin typeface="Times New Roman" panose="02020603050405020304" pitchFamily="18" charset="0"/>
                <a:cs typeface="Times New Roman" panose="02020603050405020304" pitchFamily="18" charset="0"/>
              </a:rPr>
              <a:t>Планы помещений: </a:t>
            </a:r>
            <a:r>
              <a:rPr lang="en-US" dirty="0">
                <a:latin typeface="Times New Roman" panose="02020603050405020304" pitchFamily="18" charset="0"/>
                <a:cs typeface="Times New Roman" panose="02020603050405020304" pitchFamily="18" charset="0"/>
              </a:rPr>
              <a:t>\\Class215-prepod\</a:t>
            </a:r>
            <a:r>
              <a:rPr lang="ru-RU" dirty="0">
                <a:latin typeface="Times New Roman" panose="02020603050405020304" pitchFamily="18" charset="0"/>
                <a:cs typeface="Times New Roman" panose="02020603050405020304" pitchFamily="18" charset="0"/>
              </a:rPr>
              <a:t>общая\ИСП19-11\Планы</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99254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b="1" dirty="0"/>
              <a:t>Практическая работа </a:t>
            </a:r>
            <a:r>
              <a:rPr lang="ru-RU" b="1" dirty="0" smtClean="0"/>
              <a:t>№3.</a:t>
            </a:r>
            <a:r>
              <a:rPr lang="ru-RU" b="1" dirty="0"/>
              <a:t> Серверы в локальной </a:t>
            </a:r>
            <a:r>
              <a:rPr lang="ru-RU" b="1" dirty="0" smtClean="0"/>
              <a:t>сети</a:t>
            </a:r>
            <a:endParaRPr lang="ru-RU" dirty="0"/>
          </a:p>
        </p:txBody>
      </p:sp>
      <p:sp>
        <p:nvSpPr>
          <p:cNvPr id="6" name="Объект 5"/>
          <p:cNvSpPr>
            <a:spLocks noGrp="1"/>
          </p:cNvSpPr>
          <p:nvPr>
            <p:ph idx="1"/>
          </p:nvPr>
        </p:nvSpPr>
        <p:spPr>
          <a:xfrm>
            <a:off x="126740" y="1417638"/>
            <a:ext cx="8280920" cy="5440362"/>
          </a:xfrm>
        </p:spPr>
        <p:txBody>
          <a:bodyPr/>
          <a:lstStyle/>
          <a:p>
            <a:pPr marL="114300" indent="0">
              <a:buNone/>
            </a:pPr>
            <a:r>
              <a:rPr lang="ru-RU" b="1" dirty="0">
                <a:latin typeface="Times New Roman" panose="02020603050405020304" pitchFamily="18" charset="0"/>
                <a:cs typeface="Times New Roman" panose="02020603050405020304" pitchFamily="18" charset="0"/>
              </a:rPr>
              <a:t>Цель</a:t>
            </a:r>
            <a:r>
              <a:rPr lang="ru-RU" dirty="0">
                <a:latin typeface="Times New Roman" panose="02020603050405020304" pitchFamily="18" charset="0"/>
                <a:cs typeface="Times New Roman" panose="02020603050405020304" pitchFamily="18" charset="0"/>
              </a:rPr>
              <a:t>. Сформировать список программных и аппаратных серверов, которые могла бы использовать малая или средняя фирма для решения своих задач в области внутренней коммуникации и обмена информацией внутри локальной </a:t>
            </a:r>
            <a:r>
              <a:rPr lang="ru-RU" dirty="0" smtClean="0">
                <a:latin typeface="Times New Roman" panose="02020603050405020304" pitchFamily="18" charset="0"/>
                <a:cs typeface="Times New Roman" panose="02020603050405020304" pitchFamily="18" charset="0"/>
              </a:rPr>
              <a:t>сети.</a:t>
            </a:r>
          </a:p>
          <a:p>
            <a:pPr marL="114300" indent="0">
              <a:buNone/>
            </a:pPr>
            <a:r>
              <a:rPr lang="ru-RU" b="1" dirty="0" smtClean="0">
                <a:latin typeface="Times New Roman" panose="02020603050405020304" pitchFamily="18" charset="0"/>
                <a:cs typeface="Times New Roman" panose="02020603050405020304" pitchFamily="18" charset="0"/>
              </a:rPr>
              <a:t>Задачи</a:t>
            </a:r>
            <a:r>
              <a:rPr lang="ru-RU" dirty="0" smtClean="0">
                <a:latin typeface="Times New Roman" panose="02020603050405020304" pitchFamily="18" charset="0"/>
                <a:cs typeface="Times New Roman" panose="02020603050405020304" pitchFamily="18" charset="0"/>
              </a:rPr>
              <a:t>.</a:t>
            </a:r>
          </a:p>
          <a:p>
            <a:r>
              <a:rPr lang="ru-RU" dirty="0" smtClean="0">
                <a:latin typeface="Times New Roman" panose="02020603050405020304" pitchFamily="18" charset="0"/>
                <a:cs typeface="Times New Roman" panose="02020603050405020304" pitchFamily="18" charset="0"/>
              </a:rPr>
              <a:t>Проанализировать </a:t>
            </a:r>
            <a:r>
              <a:rPr lang="ru-RU" dirty="0">
                <a:latin typeface="Times New Roman" panose="02020603050405020304" pitchFamily="18" charset="0"/>
                <a:cs typeface="Times New Roman" panose="02020603050405020304" pitchFamily="18" charset="0"/>
              </a:rPr>
              <a:t>потребности внутренней коммуникации и обмена информацией внутри организации.</a:t>
            </a:r>
          </a:p>
          <a:p>
            <a:r>
              <a:rPr lang="ru-RU" dirty="0">
                <a:latin typeface="Times New Roman" panose="02020603050405020304" pitchFamily="18" charset="0"/>
                <a:cs typeface="Times New Roman" panose="02020603050405020304" pitchFamily="18" charset="0"/>
              </a:rPr>
              <a:t>Найти способы решения этих задач на основе использования серверов в локальной сети.</a:t>
            </a:r>
          </a:p>
          <a:p>
            <a:pPr marL="114300" indent="0">
              <a:buNone/>
            </a:pP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0901696"/>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p:cNvSpPr>
            <a:spLocks noGrp="1"/>
          </p:cNvSpPr>
          <p:nvPr>
            <p:ph type="title"/>
          </p:nvPr>
        </p:nvSpPr>
        <p:spPr>
          <a:xfrm>
            <a:off x="424791" y="2852936"/>
            <a:ext cx="7620000" cy="1143000"/>
          </a:xfrm>
        </p:spPr>
        <p:txBody>
          <a:bodyPr/>
          <a:lstStyle/>
          <a:p>
            <a:pPr algn="ctr"/>
            <a:r>
              <a:rPr lang="ru-RU" b="1" dirty="0"/>
              <a:t>Система DNS</a:t>
            </a:r>
            <a:endParaRPr lang="ru-RU" dirty="0"/>
          </a:p>
        </p:txBody>
      </p:sp>
      <p:sp>
        <p:nvSpPr>
          <p:cNvPr id="6" name="Объект 5"/>
          <p:cNvSpPr>
            <a:spLocks noGrp="1"/>
          </p:cNvSpPr>
          <p:nvPr>
            <p:ph idx="1"/>
          </p:nvPr>
        </p:nvSpPr>
        <p:spPr>
          <a:xfrm>
            <a:off x="457200" y="4725144"/>
            <a:ext cx="7620000" cy="720080"/>
          </a:xfrm>
        </p:spPr>
        <p:txBody>
          <a:bodyPr>
            <a:normAutofit lnSpcReduction="10000"/>
          </a:bodyPr>
          <a:lstStyle/>
          <a:p>
            <a:pPr marL="114300" indent="0">
              <a:buNone/>
            </a:pPr>
            <a:r>
              <a:rPr lang="ru-RU" dirty="0" smtClean="0">
                <a:latin typeface="Times New Roman" panose="02020603050405020304" pitchFamily="18" charset="0"/>
                <a:cs typeface="Times New Roman" panose="02020603050405020304" pitchFamily="18" charset="0"/>
              </a:rPr>
              <a:t>Плоские и иерархические имена. Схема </a:t>
            </a:r>
            <a:r>
              <a:rPr lang="ru-RU" dirty="0">
                <a:latin typeface="Times New Roman" panose="02020603050405020304" pitchFamily="18" charset="0"/>
                <a:cs typeface="Times New Roman" panose="02020603050405020304" pitchFamily="18" charset="0"/>
              </a:rPr>
              <a:t>работы DNS. Обратная </a:t>
            </a:r>
            <a:r>
              <a:rPr lang="ru-RU" dirty="0" smtClean="0">
                <a:latin typeface="Times New Roman" panose="02020603050405020304" pitchFamily="18" charset="0"/>
                <a:cs typeface="Times New Roman" panose="02020603050405020304" pitchFamily="18" charset="0"/>
              </a:rPr>
              <a:t>зона.</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457979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600200"/>
            <a:ext cx="7620000" cy="2404864"/>
          </a:xfrm>
        </p:spPr>
        <p:txBody>
          <a:bodyPr>
            <a:normAutofit/>
          </a:bodyPr>
          <a:lstStyle/>
          <a:p>
            <a:pPr marL="114300" indent="0">
              <a:buNone/>
            </a:pPr>
            <a:r>
              <a:rPr lang="ru-RU" sz="2800" b="1" dirty="0">
                <a:latin typeface="Times New Roman" panose="02020603050405020304" pitchFamily="18" charset="0"/>
                <a:cs typeface="Times New Roman" panose="02020603050405020304" pitchFamily="18" charset="0"/>
              </a:rPr>
              <a:t>DNS</a:t>
            </a:r>
            <a:r>
              <a:rPr lang="ru-RU" sz="2800" dirty="0">
                <a:latin typeface="Times New Roman" panose="02020603050405020304" pitchFamily="18" charset="0"/>
                <a:cs typeface="Times New Roman" panose="02020603050405020304" pitchFamily="18" charset="0"/>
              </a:rPr>
              <a:t>, или система доменных имён — это иерархическая и децентрализованная система именования, которая преобразует понятные человеку имена хостов в машиночитаемые IP-адреса</a:t>
            </a:r>
            <a:r>
              <a:rPr lang="ru-RU" sz="2800" dirty="0" smtClean="0">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sp>
        <p:nvSpPr>
          <p:cNvPr id="4" name="Заголовок 4"/>
          <p:cNvSpPr>
            <a:spLocks noGrp="1"/>
          </p:cNvSpPr>
          <p:nvPr>
            <p:ph type="title"/>
          </p:nvPr>
        </p:nvSpPr>
        <p:spPr/>
        <p:txBody>
          <a:bodyPr/>
          <a:lstStyle/>
          <a:p>
            <a:pPr algn="ctr"/>
            <a:r>
              <a:rPr lang="ru-RU" b="1" dirty="0"/>
              <a:t>Система DNS</a:t>
            </a:r>
            <a:endParaRPr lang="ru-RU" dirty="0"/>
          </a:p>
        </p:txBody>
      </p:sp>
    </p:spTree>
    <p:extLst>
      <p:ext uri="{BB962C8B-B14F-4D97-AF65-F5344CB8AC3E}">
        <p14:creationId xmlns:p14="http://schemas.microsoft.com/office/powerpoint/2010/main" val="93754257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50710" y="260648"/>
            <a:ext cx="7620000" cy="1143000"/>
          </a:xfrm>
        </p:spPr>
        <p:txBody>
          <a:bodyPr/>
          <a:lstStyle/>
          <a:p>
            <a:pPr algn="ctr"/>
            <a:r>
              <a:rPr lang="ru-RU" b="1" dirty="0">
                <a:cs typeface="Times New Roman" panose="02020603050405020304" pitchFamily="18" charset="0"/>
              </a:rPr>
              <a:t>Плоские и иерархические </a:t>
            </a:r>
            <a:r>
              <a:rPr lang="ru-RU" b="1" dirty="0" smtClean="0">
                <a:cs typeface="Times New Roman" panose="02020603050405020304" pitchFamily="18" charset="0"/>
              </a:rPr>
              <a:t>имена</a:t>
            </a:r>
            <a:endParaRPr lang="ru-RU" b="1" dirty="0"/>
          </a:p>
        </p:txBody>
      </p:sp>
      <p:sp>
        <p:nvSpPr>
          <p:cNvPr id="3" name="Объект 2"/>
          <p:cNvSpPr>
            <a:spLocks noGrp="1"/>
          </p:cNvSpPr>
          <p:nvPr>
            <p:ph idx="1"/>
          </p:nvPr>
        </p:nvSpPr>
        <p:spPr>
          <a:xfrm>
            <a:off x="179512" y="1600200"/>
            <a:ext cx="7992888" cy="4800600"/>
          </a:xfrm>
        </p:spPr>
        <p:txBody>
          <a:bodyPr/>
          <a:lstStyle/>
          <a:p>
            <a:pPr marL="114300" indent="0">
              <a:buNone/>
            </a:pPr>
            <a:r>
              <a:rPr lang="ru-RU" dirty="0">
                <a:latin typeface="Times New Roman" panose="02020603050405020304" pitchFamily="18" charset="0"/>
                <a:cs typeface="Times New Roman" panose="02020603050405020304" pitchFamily="18" charset="0"/>
              </a:rPr>
              <a:t>В стеке TCP/IP применяется доменная система имен, которая имеет иерархическую древовидную структуру, допускающую наличие в имени произвольного количества составных </a:t>
            </a:r>
            <a:r>
              <a:rPr lang="ru-RU" dirty="0" smtClean="0">
                <a:latin typeface="Times New Roman" panose="02020603050405020304" pitchFamily="18" charset="0"/>
                <a:cs typeface="Times New Roman" panose="02020603050405020304" pitchFamily="18" charset="0"/>
              </a:rPr>
              <a:t>частей.</a:t>
            </a:r>
          </a:p>
          <a:p>
            <a:pPr marL="114300" indent="0">
              <a:buNone/>
            </a:pPr>
            <a:r>
              <a:rPr lang="ru-RU"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03676413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iptcp.net/sites/default/files/14/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062" y="1556792"/>
            <a:ext cx="6817940" cy="5144259"/>
          </a:xfrm>
          <a:prstGeom prst="rect">
            <a:avLst/>
          </a:prstGeom>
          <a:noFill/>
          <a:extLst>
            <a:ext uri="{909E8E84-426E-40DD-AFC4-6F175D3DCCD1}">
              <a14:hiddenFill xmlns:a14="http://schemas.microsoft.com/office/drawing/2010/main">
                <a:solidFill>
                  <a:srgbClr val="FFFFFF"/>
                </a:solidFill>
              </a14:hiddenFill>
            </a:ext>
          </a:extLst>
        </p:spPr>
      </p:pic>
      <p:sp>
        <p:nvSpPr>
          <p:cNvPr id="5" name="Заголовок 1"/>
          <p:cNvSpPr>
            <a:spLocks noGrp="1"/>
          </p:cNvSpPr>
          <p:nvPr>
            <p:ph type="title"/>
          </p:nvPr>
        </p:nvSpPr>
        <p:spPr/>
        <p:txBody>
          <a:bodyPr/>
          <a:lstStyle/>
          <a:p>
            <a:pPr algn="ctr"/>
            <a:r>
              <a:rPr lang="ru-RU" b="1" dirty="0">
                <a:cs typeface="Times New Roman" panose="02020603050405020304" pitchFamily="18" charset="0"/>
              </a:rPr>
              <a:t>Плоские и иерархические </a:t>
            </a:r>
            <a:r>
              <a:rPr lang="ru-RU" b="1" dirty="0" smtClean="0">
                <a:cs typeface="Times New Roman" panose="02020603050405020304" pitchFamily="18" charset="0"/>
              </a:rPr>
              <a:t>имена</a:t>
            </a:r>
            <a:endParaRPr lang="ru-RU" b="1" dirty="0"/>
          </a:p>
        </p:txBody>
      </p:sp>
      <p:sp>
        <p:nvSpPr>
          <p:cNvPr id="6" name="Прямоугольник 5"/>
          <p:cNvSpPr/>
          <p:nvPr/>
        </p:nvSpPr>
        <p:spPr>
          <a:xfrm>
            <a:off x="4267200" y="6331719"/>
            <a:ext cx="3444213" cy="369332"/>
          </a:xfrm>
          <a:prstGeom prst="rect">
            <a:avLst/>
          </a:prstGeom>
        </p:spPr>
        <p:txBody>
          <a:bodyPr wrap="none">
            <a:spAutoFit/>
          </a:bodyPr>
          <a:lstStyle/>
          <a:p>
            <a:r>
              <a:rPr lang="ru-RU" dirty="0">
                <a:latin typeface="Open Sans"/>
              </a:rPr>
              <a:t>Пространство доменных имен</a:t>
            </a:r>
            <a:endParaRPr lang="ru-RU" dirty="0"/>
          </a:p>
        </p:txBody>
      </p:sp>
    </p:spTree>
    <p:extLst>
      <p:ext uri="{BB962C8B-B14F-4D97-AF65-F5344CB8AC3E}">
        <p14:creationId xmlns:p14="http://schemas.microsoft.com/office/powerpoint/2010/main" val="2946706665"/>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114300" indent="0">
              <a:buNone/>
            </a:pPr>
            <a:r>
              <a:rPr lang="ru-RU" dirty="0">
                <a:latin typeface="Times New Roman" panose="02020603050405020304" pitchFamily="18" charset="0"/>
                <a:cs typeface="Times New Roman" panose="02020603050405020304" pitchFamily="18" charset="0"/>
              </a:rPr>
              <a:t>Разделение имени на части позволяет разделить административную ответственность за назначение уникальных имен между различными людьми или организациями в пределах своего уровня иерархии. Так, для примера, приведенного на </a:t>
            </a:r>
            <a:r>
              <a:rPr lang="ru-RU" dirty="0" smtClean="0">
                <a:latin typeface="Times New Roman" panose="02020603050405020304" pitchFamily="18" charset="0"/>
                <a:cs typeface="Times New Roman" panose="02020603050405020304" pitchFamily="18" charset="0"/>
              </a:rPr>
              <a:t>рисунке, </a:t>
            </a:r>
            <a:r>
              <a:rPr lang="ru-RU" dirty="0">
                <a:latin typeface="Times New Roman" panose="02020603050405020304" pitchFamily="18" charset="0"/>
                <a:cs typeface="Times New Roman" panose="02020603050405020304" pitchFamily="18" charset="0"/>
              </a:rPr>
              <a:t>один человек может нести ответственность за то, чтобы все имена с окончанием «</a:t>
            </a:r>
            <a:r>
              <a:rPr lang="ru-RU" dirty="0" err="1">
                <a:latin typeface="Times New Roman" panose="02020603050405020304" pitchFamily="18" charset="0"/>
                <a:cs typeface="Times New Roman" panose="02020603050405020304" pitchFamily="18" charset="0"/>
              </a:rPr>
              <a:t>ru</a:t>
            </a:r>
            <a:r>
              <a:rPr lang="ru-RU" dirty="0">
                <a:latin typeface="Times New Roman" panose="02020603050405020304" pitchFamily="18" charset="0"/>
                <a:cs typeface="Times New Roman" panose="02020603050405020304" pitchFamily="18" charset="0"/>
              </a:rPr>
              <a:t>» имели уникальную следующую вниз по иерархии часть. То есть все имена типа www.ru, mall.mmt.ru или m2.zil.mmt. </a:t>
            </a:r>
            <a:r>
              <a:rPr lang="ru-RU" dirty="0" err="1">
                <a:latin typeface="Times New Roman" panose="02020603050405020304" pitchFamily="18" charset="0"/>
                <a:cs typeface="Times New Roman" panose="02020603050405020304" pitchFamily="18" charset="0"/>
              </a:rPr>
              <a:t>ru</a:t>
            </a:r>
            <a:r>
              <a:rPr lang="ru-RU" dirty="0">
                <a:latin typeface="Times New Roman" panose="02020603050405020304" pitchFamily="18" charset="0"/>
                <a:cs typeface="Times New Roman" panose="02020603050405020304" pitchFamily="18" charset="0"/>
              </a:rPr>
              <a:t> отличаются второй по старшинству частью.</a:t>
            </a:r>
          </a:p>
        </p:txBody>
      </p:sp>
      <p:sp>
        <p:nvSpPr>
          <p:cNvPr id="4" name="Заголовок 1"/>
          <p:cNvSpPr>
            <a:spLocks noGrp="1"/>
          </p:cNvSpPr>
          <p:nvPr>
            <p:ph type="title"/>
          </p:nvPr>
        </p:nvSpPr>
        <p:spPr/>
        <p:txBody>
          <a:bodyPr/>
          <a:lstStyle/>
          <a:p>
            <a:pPr algn="ctr"/>
            <a:r>
              <a:rPr lang="ru-RU" b="1" dirty="0">
                <a:cs typeface="Times New Roman" panose="02020603050405020304" pitchFamily="18" charset="0"/>
              </a:rPr>
              <a:t>Плоские и иерархические </a:t>
            </a:r>
            <a:r>
              <a:rPr lang="ru-RU" b="1" dirty="0" smtClean="0">
                <a:cs typeface="Times New Roman" panose="02020603050405020304" pitchFamily="18" charset="0"/>
              </a:rPr>
              <a:t>имена</a:t>
            </a:r>
            <a:endParaRPr lang="ru-RU" b="1" dirty="0"/>
          </a:p>
        </p:txBody>
      </p:sp>
    </p:spTree>
    <p:extLst>
      <p:ext uri="{BB962C8B-B14F-4D97-AF65-F5344CB8AC3E}">
        <p14:creationId xmlns:p14="http://schemas.microsoft.com/office/powerpoint/2010/main" val="28200618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84212" y="-33791"/>
            <a:ext cx="7620000" cy="1143000"/>
          </a:xfrm>
        </p:spPr>
        <p:txBody>
          <a:bodyPr/>
          <a:lstStyle/>
          <a:p>
            <a:pPr algn="ctr"/>
            <a:r>
              <a:rPr lang="ru-RU" b="1" dirty="0">
                <a:latin typeface="Times New Roman" panose="02020603050405020304" pitchFamily="18" charset="0"/>
                <a:cs typeface="Times New Roman" panose="02020603050405020304" pitchFamily="18" charset="0"/>
              </a:rPr>
              <a:t>Схема работы </a:t>
            </a:r>
            <a:r>
              <a:rPr lang="ru-RU" b="1" dirty="0" smtClean="0">
                <a:latin typeface="Times New Roman" panose="02020603050405020304" pitchFamily="18" charset="0"/>
                <a:cs typeface="Times New Roman" panose="02020603050405020304" pitchFamily="18" charset="0"/>
              </a:rPr>
              <a:t>DNS</a:t>
            </a:r>
            <a:endParaRPr lang="ru-RU" b="1" dirty="0"/>
          </a:p>
        </p:txBody>
      </p:sp>
      <p:sp>
        <p:nvSpPr>
          <p:cNvPr id="3" name="Объект 2"/>
          <p:cNvSpPr>
            <a:spLocks noGrp="1"/>
          </p:cNvSpPr>
          <p:nvPr>
            <p:ph idx="1"/>
          </p:nvPr>
        </p:nvSpPr>
        <p:spPr>
          <a:xfrm>
            <a:off x="0" y="1109209"/>
            <a:ext cx="8388424" cy="5748791"/>
          </a:xfrm>
        </p:spPr>
        <p:txBody>
          <a:bodyPr>
            <a:normAutofit/>
          </a:bodyPr>
          <a:lstStyle/>
          <a:p>
            <a:pPr marL="114300" indent="0">
              <a:buNone/>
            </a:pPr>
            <a:r>
              <a:rPr lang="ru-RU" dirty="0">
                <a:latin typeface="Times New Roman" panose="02020603050405020304" pitchFamily="18" charset="0"/>
                <a:cs typeface="Times New Roman" panose="02020603050405020304" pitchFamily="18" charset="0"/>
              </a:rPr>
              <a:t>Широковещательный способ установления соответствия между символьными именами и локальными адресами, подобный протоколу ARP, хорошо работает только в небольшой локальной сети, не разделенной на подсети.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В </a:t>
            </a:r>
            <a:r>
              <a:rPr lang="ru-RU" dirty="0">
                <a:latin typeface="Times New Roman" panose="02020603050405020304" pitchFamily="18" charset="0"/>
                <a:cs typeface="Times New Roman" panose="02020603050405020304" pitchFamily="18" charset="0"/>
              </a:rPr>
              <a:t>крупных сетях, где возможность всеобщей широковещательной рассылки не поддерживается, нужен другой способ разрешения символьных имен. Хорошей альтернативой широковещательной рассылке является применение централизованной службы, поддерживающей соответствие между различными типами адресов всех компьютеров сети. </a:t>
            </a:r>
            <a:endParaRPr lang="ru-RU" dirty="0" smtClean="0">
              <a:latin typeface="Times New Roman" panose="02020603050405020304" pitchFamily="18" charset="0"/>
              <a:cs typeface="Times New Roman" panose="02020603050405020304" pitchFamily="18" charset="0"/>
            </a:endParaRPr>
          </a:p>
          <a:p>
            <a:pPr marL="114300" indent="0">
              <a:buNone/>
            </a:pPr>
            <a:endParaRPr lang="ru-RU" dirty="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Например</a:t>
            </a:r>
            <a:r>
              <a:rPr lang="ru-RU" dirty="0">
                <a:latin typeface="Times New Roman" panose="02020603050405020304" pitchFamily="18" charset="0"/>
                <a:cs typeface="Times New Roman" panose="02020603050405020304" pitchFamily="18" charset="0"/>
              </a:rPr>
              <a:t>, компания </a:t>
            </a:r>
            <a:r>
              <a:rPr lang="ru-RU" dirty="0" err="1">
                <a:latin typeface="Times New Roman" panose="02020603050405020304" pitchFamily="18" charset="0"/>
                <a:cs typeface="Times New Roman" panose="02020603050405020304" pitchFamily="18" charset="0"/>
              </a:rPr>
              <a:t>Microsoft</a:t>
            </a:r>
            <a:r>
              <a:rPr lang="ru-RU" dirty="0">
                <a:latin typeface="Times New Roman" panose="02020603050405020304" pitchFamily="18" charset="0"/>
                <a:cs typeface="Times New Roman" panose="02020603050405020304" pitchFamily="18" charset="0"/>
              </a:rPr>
              <a:t> для своей корпоративной операционной системы </a:t>
            </a:r>
            <a:r>
              <a:rPr lang="ru-RU" dirty="0" err="1">
                <a:latin typeface="Times New Roman" panose="02020603050405020304" pitchFamily="18" charset="0"/>
                <a:cs typeface="Times New Roman" panose="02020603050405020304" pitchFamily="18" charset="0"/>
              </a:rPr>
              <a:t>Windows</a:t>
            </a:r>
            <a:r>
              <a:rPr lang="ru-RU" dirty="0">
                <a:latin typeface="Times New Roman" panose="02020603050405020304" pitchFamily="18" charset="0"/>
                <a:cs typeface="Times New Roman" panose="02020603050405020304" pitchFamily="18" charset="0"/>
              </a:rPr>
              <a:t> NT разработала централизованную службу WINS, которая поддерживала базу данных </a:t>
            </a:r>
            <a:r>
              <a:rPr lang="ru-RU" dirty="0" err="1">
                <a:latin typeface="Times New Roman" panose="02020603050405020304" pitchFamily="18" charset="0"/>
                <a:cs typeface="Times New Roman" panose="02020603050405020304" pitchFamily="18" charset="0"/>
              </a:rPr>
              <a:t>NetBIOS</a:t>
            </a:r>
            <a:r>
              <a:rPr lang="ru-RU" dirty="0">
                <a:latin typeface="Times New Roman" panose="02020603050405020304" pitchFamily="18" charset="0"/>
                <a:cs typeface="Times New Roman" panose="02020603050405020304" pitchFamily="18" charset="0"/>
              </a:rPr>
              <a:t>-имен и соответствующих им IP-адресов.</a:t>
            </a:r>
          </a:p>
        </p:txBody>
      </p:sp>
    </p:spTree>
    <p:extLst>
      <p:ext uri="{BB962C8B-B14F-4D97-AF65-F5344CB8AC3E}">
        <p14:creationId xmlns:p14="http://schemas.microsoft.com/office/powerpoint/2010/main" val="150386742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normAutofit/>
          </a:bodyPr>
          <a:lstStyle/>
          <a:p>
            <a:pPr marL="114300" indent="0" fontAlgn="base">
              <a:buNone/>
            </a:pPr>
            <a:r>
              <a:rPr lang="ru-RU" sz="2400" dirty="0">
                <a:latin typeface="Times New Roman" panose="02020603050405020304" pitchFamily="18" charset="0"/>
                <a:cs typeface="Times New Roman" panose="02020603050405020304" pitchFamily="18" charset="0"/>
              </a:rPr>
              <a:t>В сетях TCP/IP соответствие между доменными именами и IP-адресами может устанавливаться средствами как локального хоста, так и централизованной службы</a:t>
            </a:r>
            <a:r>
              <a:rPr lang="ru-RU" sz="2400" dirty="0" smtClean="0">
                <a:latin typeface="Times New Roman" panose="02020603050405020304" pitchFamily="18" charset="0"/>
                <a:cs typeface="Times New Roman" panose="02020603050405020304" pitchFamily="18" charset="0"/>
              </a:rPr>
              <a:t>.</a:t>
            </a:r>
          </a:p>
          <a:p>
            <a:pPr marL="114300" indent="0" fontAlgn="base">
              <a:buNone/>
            </a:pPr>
            <a:endParaRPr lang="ru-RU" sz="2400" dirty="0">
              <a:latin typeface="Times New Roman" panose="02020603050405020304" pitchFamily="18" charset="0"/>
              <a:cs typeface="Times New Roman" panose="02020603050405020304" pitchFamily="18" charset="0"/>
            </a:endParaRPr>
          </a:p>
          <a:p>
            <a:pPr marL="114300" indent="0" fontAlgn="base">
              <a:buNone/>
            </a:pPr>
            <a:r>
              <a:rPr lang="ru-RU" sz="2400" dirty="0">
                <a:latin typeface="Times New Roman" panose="02020603050405020304" pitchFamily="18" charset="0"/>
                <a:cs typeface="Times New Roman" panose="02020603050405020304" pitchFamily="18" charset="0"/>
              </a:rPr>
              <a:t>На раннем этапе развития Интернета на каждом хосте вручную создавался текстовый файл с известным именем hosts.txt. Этот файл состоял из некоторого количества строк, каждая из которых содержала одну пару «доменное имя — IP-адрес», например:</a:t>
            </a:r>
          </a:p>
          <a:p>
            <a:pPr marL="114300" indent="0" fontAlgn="base">
              <a:buNone/>
            </a:pPr>
            <a:r>
              <a:rPr lang="ru-RU" sz="2400" dirty="0">
                <a:latin typeface="Times New Roman" panose="02020603050405020304" pitchFamily="18" charset="0"/>
                <a:cs typeface="Times New Roman" panose="02020603050405020304" pitchFamily="18" charset="0"/>
              </a:rPr>
              <a:t>rhino.acme.com — </a:t>
            </a:r>
            <a:r>
              <a:rPr lang="ru-RU" sz="2400" dirty="0" smtClean="0">
                <a:latin typeface="Times New Roman" panose="02020603050405020304" pitchFamily="18" charset="0"/>
                <a:cs typeface="Times New Roman" panose="02020603050405020304" pitchFamily="18" charset="0"/>
              </a:rPr>
              <a:t>102.54.94.97</a:t>
            </a:r>
            <a:endParaRPr lang="ru-RU" sz="2400"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p:txBody>
          <a:bodyPr/>
          <a:lstStyle/>
          <a:p>
            <a:pPr algn="ctr"/>
            <a:r>
              <a:rPr lang="ru-RU" b="1" dirty="0">
                <a:latin typeface="Times New Roman" panose="02020603050405020304" pitchFamily="18" charset="0"/>
                <a:cs typeface="Times New Roman" panose="02020603050405020304" pitchFamily="18" charset="0"/>
              </a:rPr>
              <a:t>Схема работы </a:t>
            </a:r>
            <a:r>
              <a:rPr lang="ru-RU" b="1" dirty="0" smtClean="0">
                <a:latin typeface="Times New Roman" panose="02020603050405020304" pitchFamily="18" charset="0"/>
                <a:cs typeface="Times New Roman" panose="02020603050405020304" pitchFamily="18" charset="0"/>
              </a:rPr>
              <a:t>DNS</a:t>
            </a:r>
            <a:endParaRPr lang="ru-RU" b="1" dirty="0"/>
          </a:p>
        </p:txBody>
      </p:sp>
    </p:spTree>
    <p:extLst>
      <p:ext uri="{BB962C8B-B14F-4D97-AF65-F5344CB8AC3E}">
        <p14:creationId xmlns:p14="http://schemas.microsoft.com/office/powerpoint/2010/main" val="426011320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32544" y="1417638"/>
            <a:ext cx="7620000" cy="4800600"/>
          </a:xfrm>
        </p:spPr>
        <p:txBody>
          <a:bodyPr/>
          <a:lstStyle/>
          <a:p>
            <a:pPr marL="114300" indent="0">
              <a:buNone/>
            </a:pPr>
            <a:r>
              <a:rPr lang="ru-RU" dirty="0"/>
              <a:t>Служба DNS использует текстовые файлы почти такого же формата, как и файл </a:t>
            </a:r>
            <a:r>
              <a:rPr lang="ru-RU" dirty="0" err="1"/>
              <a:t>hosts</a:t>
            </a:r>
            <a:r>
              <a:rPr lang="ru-RU" dirty="0"/>
              <a:t>, и эти файлы администратор также подготавливает вручную. Однако служба DNS опирается на иерархию доменов, и каждый DNS-сервер хранит только часть имен сети, а не все имена, как это происходит при использовании файлов </a:t>
            </a:r>
            <a:r>
              <a:rPr lang="ru-RU" dirty="0" err="1"/>
              <a:t>hosts</a:t>
            </a:r>
            <a:r>
              <a:rPr lang="ru-RU" dirty="0"/>
              <a:t>. При росте количества узлов в сети проблема масштабирования решается созданием новых доменов и </a:t>
            </a:r>
            <a:r>
              <a:rPr lang="ru-RU" dirty="0" err="1"/>
              <a:t>поддоменов</a:t>
            </a:r>
            <a:r>
              <a:rPr lang="ru-RU" dirty="0"/>
              <a:t> имен и добавлением в службу DNS новых серверов.</a:t>
            </a:r>
          </a:p>
        </p:txBody>
      </p:sp>
      <p:sp>
        <p:nvSpPr>
          <p:cNvPr id="4" name="Заголовок 1"/>
          <p:cNvSpPr>
            <a:spLocks noGrp="1"/>
          </p:cNvSpPr>
          <p:nvPr>
            <p:ph type="title"/>
          </p:nvPr>
        </p:nvSpPr>
        <p:spPr>
          <a:xfrm>
            <a:off x="432544" y="0"/>
            <a:ext cx="7620000" cy="1143000"/>
          </a:xfrm>
        </p:spPr>
        <p:txBody>
          <a:bodyPr/>
          <a:lstStyle/>
          <a:p>
            <a:pPr algn="ctr"/>
            <a:r>
              <a:rPr lang="ru-RU" b="1" dirty="0">
                <a:latin typeface="Times New Roman" panose="02020603050405020304" pitchFamily="18" charset="0"/>
                <a:cs typeface="Times New Roman" panose="02020603050405020304" pitchFamily="18" charset="0"/>
              </a:rPr>
              <a:t>Схема работы </a:t>
            </a:r>
            <a:r>
              <a:rPr lang="ru-RU" b="1" dirty="0" smtClean="0">
                <a:latin typeface="Times New Roman" panose="02020603050405020304" pitchFamily="18" charset="0"/>
                <a:cs typeface="Times New Roman" panose="02020603050405020304" pitchFamily="18" charset="0"/>
              </a:rPr>
              <a:t>DNS</a:t>
            </a:r>
            <a:endParaRPr lang="ru-RU" b="1" dirty="0"/>
          </a:p>
        </p:txBody>
      </p:sp>
    </p:spTree>
    <p:extLst>
      <p:ext uri="{BB962C8B-B14F-4D97-AF65-F5344CB8AC3E}">
        <p14:creationId xmlns:p14="http://schemas.microsoft.com/office/powerpoint/2010/main" val="295646953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143000"/>
            <a:ext cx="7620000" cy="5257800"/>
          </a:xfrm>
        </p:spPr>
        <p:txBody>
          <a:bodyPr/>
          <a:lstStyle/>
          <a:p>
            <a:pPr marL="114300" indent="0">
              <a:buNone/>
            </a:pPr>
            <a:r>
              <a:rPr lang="ru-RU" dirty="0">
                <a:latin typeface="Times New Roman" panose="02020603050405020304" pitchFamily="18" charset="0"/>
                <a:cs typeface="Times New Roman" panose="02020603050405020304" pitchFamily="18" charset="0"/>
              </a:rPr>
              <a:t>Существует две основные схемы разрешения DNS-имен</a:t>
            </a:r>
            <a:r>
              <a:rPr lang="ru-RU" dirty="0" smtClean="0">
                <a:latin typeface="Times New Roman" panose="02020603050405020304" pitchFamily="18" charset="0"/>
                <a:cs typeface="Times New Roman" panose="02020603050405020304" pitchFamily="18" charset="0"/>
              </a:rPr>
              <a:t>.</a:t>
            </a:r>
          </a:p>
          <a:p>
            <a:pPr marL="114300" indent="0">
              <a:buNone/>
            </a:pPr>
            <a:endParaRPr lang="ru-RU" dirty="0" smtClean="0">
              <a:latin typeface="Times New Roman" panose="02020603050405020304" pitchFamily="18" charset="0"/>
              <a:cs typeface="Times New Roman" panose="02020603050405020304" pitchFamily="18" charset="0"/>
            </a:endParaRPr>
          </a:p>
          <a:p>
            <a:pPr marL="114300" indent="0">
              <a:buNone/>
            </a:pPr>
            <a:r>
              <a:rPr lang="ru-RU" dirty="0" smtClean="0">
                <a:latin typeface="Times New Roman" panose="02020603050405020304" pitchFamily="18" charset="0"/>
                <a:cs typeface="Times New Roman" panose="02020603050405020304" pitchFamily="18" charset="0"/>
              </a:rPr>
              <a:t>В </a:t>
            </a:r>
            <a:r>
              <a:rPr lang="ru-RU" dirty="0">
                <a:latin typeface="Times New Roman" panose="02020603050405020304" pitchFamily="18" charset="0"/>
                <a:cs typeface="Times New Roman" panose="02020603050405020304" pitchFamily="18" charset="0"/>
              </a:rPr>
              <a:t>первом варианте работу по поиску IP-адреса координирует DNS-клиент</a:t>
            </a:r>
            <a:r>
              <a:rPr lang="ru-RU" dirty="0" smtClean="0">
                <a:latin typeface="Times New Roman" panose="02020603050405020304" pitchFamily="18" charset="0"/>
                <a:cs typeface="Times New Roman" panose="02020603050405020304" pitchFamily="18" charset="0"/>
              </a:rPr>
              <a:t>:</a:t>
            </a:r>
          </a:p>
          <a:p>
            <a:pPr marL="114300" indent="0" fontAlgn="base">
              <a:buNone/>
            </a:pPr>
            <a:r>
              <a:rPr lang="ru-RU" dirty="0">
                <a:latin typeface="Times New Roman" panose="02020603050405020304" pitchFamily="18" charset="0"/>
                <a:cs typeface="Times New Roman" panose="02020603050405020304" pitchFamily="18" charset="0"/>
              </a:rPr>
              <a:t>1. DNS-клиент обращается к корневому DNS-серверу с указанием полного доменного имени.</a:t>
            </a:r>
          </a:p>
          <a:p>
            <a:pPr marL="114300" indent="0" fontAlgn="base">
              <a:buNone/>
            </a:pPr>
            <a:r>
              <a:rPr lang="ru-RU" dirty="0">
                <a:latin typeface="Times New Roman" panose="02020603050405020304" pitchFamily="18" charset="0"/>
                <a:cs typeface="Times New Roman" panose="02020603050405020304" pitchFamily="18" charset="0"/>
              </a:rPr>
              <a:t>2. DNS-сервер отвечает клиенту, указывая адрес следующего DNS-сервера, обслуживающего домен верхнего уровня, заданный в следующей старшей части запрошенного имени.</a:t>
            </a:r>
          </a:p>
          <a:p>
            <a:pPr marL="114300" indent="0" fontAlgn="base">
              <a:buNone/>
            </a:pPr>
            <a:r>
              <a:rPr lang="ru-RU" dirty="0">
                <a:latin typeface="Times New Roman" panose="02020603050405020304" pitchFamily="18" charset="0"/>
                <a:cs typeface="Times New Roman" panose="02020603050405020304" pitchFamily="18" charset="0"/>
              </a:rPr>
              <a:t>3. DNS-клиент делает запрос следующего DNS-сервера, который отсылает его к DNS-серверу нужного </a:t>
            </a:r>
            <a:r>
              <a:rPr lang="ru-RU" dirty="0" err="1">
                <a:latin typeface="Times New Roman" panose="02020603050405020304" pitchFamily="18" charset="0"/>
                <a:cs typeface="Times New Roman" panose="02020603050405020304" pitchFamily="18" charset="0"/>
              </a:rPr>
              <a:t>поддомена</a:t>
            </a:r>
            <a:r>
              <a:rPr lang="ru-RU" dirty="0">
                <a:latin typeface="Times New Roman" panose="02020603050405020304" pitchFamily="18" charset="0"/>
                <a:cs typeface="Times New Roman" panose="02020603050405020304" pitchFamily="18" charset="0"/>
              </a:rPr>
              <a:t> и т. д., пока не будет найден DNS-сервер, в котором хранится соответствие запрошенного имени IP-адресу. Этот сервер дает окончательный ответ клиенту</a:t>
            </a:r>
            <a:r>
              <a:rPr lang="ru-RU" dirty="0" smtClean="0">
                <a:latin typeface="Times New Roman" panose="02020603050405020304" pitchFamily="18" charset="0"/>
                <a:cs typeface="Times New Roman" panose="02020603050405020304" pitchFamily="18" charset="0"/>
              </a:rPr>
              <a:t>.</a:t>
            </a:r>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457200" y="0"/>
            <a:ext cx="7620000" cy="1143000"/>
          </a:xfrm>
        </p:spPr>
        <p:txBody>
          <a:bodyPr/>
          <a:lstStyle/>
          <a:p>
            <a:pPr algn="ctr"/>
            <a:r>
              <a:rPr lang="ru-RU" b="1" dirty="0">
                <a:latin typeface="Times New Roman" panose="02020603050405020304" pitchFamily="18" charset="0"/>
                <a:cs typeface="Times New Roman" panose="02020603050405020304" pitchFamily="18" charset="0"/>
              </a:rPr>
              <a:t>Схема работы </a:t>
            </a:r>
            <a:r>
              <a:rPr lang="ru-RU" b="1" dirty="0" smtClean="0">
                <a:latin typeface="Times New Roman" panose="02020603050405020304" pitchFamily="18" charset="0"/>
                <a:cs typeface="Times New Roman" panose="02020603050405020304" pitchFamily="18" charset="0"/>
              </a:rPr>
              <a:t>DNS</a:t>
            </a:r>
            <a:endParaRPr lang="ru-RU" b="1" dirty="0"/>
          </a:p>
        </p:txBody>
      </p:sp>
    </p:spTree>
    <p:extLst>
      <p:ext uri="{BB962C8B-B14F-4D97-AF65-F5344CB8AC3E}">
        <p14:creationId xmlns:p14="http://schemas.microsoft.com/office/powerpoint/2010/main" val="45442673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57200" y="1161841"/>
            <a:ext cx="7620000" cy="5238959"/>
          </a:xfrm>
        </p:spPr>
        <p:txBody>
          <a:bodyPr>
            <a:normAutofit lnSpcReduction="10000"/>
          </a:bodyPr>
          <a:lstStyle/>
          <a:p>
            <a:pPr marL="114300" indent="0" fontAlgn="base">
              <a:buNone/>
            </a:pPr>
            <a:r>
              <a:rPr lang="ru-RU" dirty="0">
                <a:latin typeface="Times New Roman" panose="02020603050405020304" pitchFamily="18" charset="0"/>
                <a:cs typeface="Times New Roman" panose="02020603050405020304" pitchFamily="18" charset="0"/>
              </a:rPr>
              <a:t>Во втором варианте реализуется рекурсивная процедура:</a:t>
            </a:r>
          </a:p>
          <a:p>
            <a:pPr marL="114300" indent="0" fontAlgn="base">
              <a:buNone/>
            </a:pPr>
            <a:r>
              <a:rPr lang="ru-RU" dirty="0">
                <a:latin typeface="Times New Roman" panose="02020603050405020304" pitchFamily="18" charset="0"/>
                <a:cs typeface="Times New Roman" panose="02020603050405020304" pitchFamily="18" charset="0"/>
              </a:rPr>
              <a:t>1. DNS-клиент запрашивает локальный DNS-сервер, то есть тот сервер, обслуживающий </a:t>
            </a:r>
            <a:r>
              <a:rPr lang="ru-RU" dirty="0" err="1">
                <a:latin typeface="Times New Roman" panose="02020603050405020304" pitchFamily="18" charset="0"/>
                <a:cs typeface="Times New Roman" panose="02020603050405020304" pitchFamily="18" charset="0"/>
              </a:rPr>
              <a:t>поддомен</a:t>
            </a:r>
            <a:r>
              <a:rPr lang="ru-RU" dirty="0">
                <a:latin typeface="Times New Roman" panose="02020603050405020304" pitchFamily="18" charset="0"/>
                <a:cs typeface="Times New Roman" panose="02020603050405020304" pitchFamily="18" charset="0"/>
              </a:rPr>
              <a:t>, которому принадлежит имя клиента.</a:t>
            </a:r>
          </a:p>
          <a:p>
            <a:pPr marL="114300" indent="0" fontAlgn="base">
              <a:buNone/>
            </a:pPr>
            <a:r>
              <a:rPr lang="ru-RU" dirty="0">
                <a:latin typeface="Times New Roman" panose="02020603050405020304" pitchFamily="18" charset="0"/>
                <a:cs typeface="Times New Roman" panose="02020603050405020304" pitchFamily="18" charset="0"/>
              </a:rPr>
              <a:t>2. Далее возможны два варианта действий:</a:t>
            </a:r>
          </a:p>
          <a:p>
            <a:pPr fontAlgn="base"/>
            <a:r>
              <a:rPr lang="ru-RU" dirty="0">
                <a:latin typeface="Times New Roman" panose="02020603050405020304" pitchFamily="18" charset="0"/>
                <a:cs typeface="Times New Roman" panose="02020603050405020304" pitchFamily="18" charset="0"/>
              </a:rPr>
              <a:t>если локальный DNS-сервер знает ответ, то он сразу же возвращает его клиенту (это может произойти, когда запрошенное имя входит в тот же </a:t>
            </a:r>
            <a:r>
              <a:rPr lang="ru-RU" dirty="0" err="1">
                <a:latin typeface="Times New Roman" panose="02020603050405020304" pitchFamily="18" charset="0"/>
                <a:cs typeface="Times New Roman" panose="02020603050405020304" pitchFamily="18" charset="0"/>
              </a:rPr>
              <a:t>поддомен</a:t>
            </a:r>
            <a:r>
              <a:rPr lang="ru-RU" dirty="0">
                <a:latin typeface="Times New Roman" panose="02020603050405020304" pitchFamily="18" charset="0"/>
                <a:cs typeface="Times New Roman" panose="02020603050405020304" pitchFamily="18" charset="0"/>
              </a:rPr>
              <a:t>, что и имя клиента, или когда сервер уже узнавал данное соответствие для другого клиента и сохранил его в своем кэше</a:t>
            </a:r>
            <a:r>
              <a:rPr lang="ru-RU" dirty="0" smtClean="0">
                <a:latin typeface="Times New Roman" panose="02020603050405020304" pitchFamily="18" charset="0"/>
                <a:cs typeface="Times New Roman" panose="02020603050405020304" pitchFamily="18" charset="0"/>
              </a:rPr>
              <a:t>);</a:t>
            </a:r>
          </a:p>
          <a:p>
            <a:pPr fontAlgn="base"/>
            <a:r>
              <a:rPr lang="ru-RU" dirty="0">
                <a:latin typeface="Times New Roman" panose="02020603050405020304" pitchFamily="18" charset="0"/>
                <a:cs typeface="Times New Roman" panose="02020603050405020304" pitchFamily="18" charset="0"/>
              </a:rPr>
              <a:t>Если локальный сервер не знает ответ, то он выполняет итеративные запросы к корневому серверу и т. д. точно так же, как это делал клиент в предыдущем варианте, а получив ответ, передает его клиенту, который все это время просто ждет его от своего локального DNS-сервера.</a:t>
            </a:r>
          </a:p>
          <a:p>
            <a:pPr fontAlgn="base"/>
            <a:endParaRPr lang="ru-RU"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457200" y="18841"/>
            <a:ext cx="7620000" cy="1143000"/>
          </a:xfrm>
        </p:spPr>
        <p:txBody>
          <a:bodyPr/>
          <a:lstStyle/>
          <a:p>
            <a:pPr algn="ctr"/>
            <a:r>
              <a:rPr lang="ru-RU" b="1" dirty="0">
                <a:latin typeface="Times New Roman" panose="02020603050405020304" pitchFamily="18" charset="0"/>
                <a:cs typeface="Times New Roman" panose="02020603050405020304" pitchFamily="18" charset="0"/>
              </a:rPr>
              <a:t>Схема работы </a:t>
            </a:r>
            <a:r>
              <a:rPr lang="ru-RU" b="1" dirty="0" smtClean="0">
                <a:latin typeface="Times New Roman" panose="02020603050405020304" pitchFamily="18" charset="0"/>
                <a:cs typeface="Times New Roman" panose="02020603050405020304" pitchFamily="18" charset="0"/>
              </a:rPr>
              <a:t>DNS</a:t>
            </a:r>
            <a:endParaRPr lang="ru-RU" b="1" dirty="0"/>
          </a:p>
        </p:txBody>
      </p:sp>
    </p:spTree>
    <p:extLst>
      <p:ext uri="{BB962C8B-B14F-4D97-AF65-F5344CB8AC3E}">
        <p14:creationId xmlns:p14="http://schemas.microsoft.com/office/powerpoint/2010/main" val="12250561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4327"/>
            <a:ext cx="7620000" cy="1143000"/>
          </a:xfrm>
        </p:spPr>
        <p:txBody>
          <a:bodyPr/>
          <a:lstStyle/>
          <a:p>
            <a:pPr algn="ctr"/>
            <a:r>
              <a:rPr lang="ru-RU" b="1" dirty="0"/>
              <a:t>Обратная </a:t>
            </a:r>
            <a:r>
              <a:rPr lang="ru-RU" b="1" dirty="0" smtClean="0"/>
              <a:t>зона</a:t>
            </a:r>
            <a:endParaRPr lang="ru-RU" dirty="0"/>
          </a:p>
        </p:txBody>
      </p:sp>
      <p:sp>
        <p:nvSpPr>
          <p:cNvPr id="3" name="Объект 2"/>
          <p:cNvSpPr>
            <a:spLocks noGrp="1"/>
          </p:cNvSpPr>
          <p:nvPr>
            <p:ph idx="1"/>
          </p:nvPr>
        </p:nvSpPr>
        <p:spPr>
          <a:xfrm>
            <a:off x="323528" y="1147327"/>
            <a:ext cx="7753672" cy="5253473"/>
          </a:xfrm>
        </p:spPr>
        <p:txBody>
          <a:bodyPr>
            <a:normAutofit/>
          </a:bodyPr>
          <a:lstStyle/>
          <a:p>
            <a:pPr marL="114300" indent="0">
              <a:buNone/>
            </a:pPr>
            <a:r>
              <a:rPr lang="ru-RU" sz="2400" dirty="0">
                <a:latin typeface="Times New Roman" panose="02020603050405020304" pitchFamily="18" charset="0"/>
                <a:cs typeface="Times New Roman" panose="02020603050405020304" pitchFamily="18" charset="0"/>
              </a:rPr>
              <a:t>Служба DNS предназначена не только для нахождения IP-адреса по имени хоста, но и для решения обратной задачи — нахождению DNS-имени по известному IP-адресу</a:t>
            </a:r>
            <a:r>
              <a:rPr lang="ru-RU" sz="2400" dirty="0" smtClean="0">
                <a:latin typeface="Times New Roman" panose="02020603050405020304" pitchFamily="18" charset="0"/>
                <a:cs typeface="Times New Roman" panose="02020603050405020304" pitchFamily="18" charset="0"/>
              </a:rPr>
              <a:t>.</a:t>
            </a:r>
          </a:p>
          <a:p>
            <a:pPr marL="114300" indent="0">
              <a:buNone/>
            </a:pPr>
            <a:endParaRPr lang="ru-RU" sz="2400" dirty="0" smtClean="0">
              <a:latin typeface="Times New Roman" panose="02020603050405020304" pitchFamily="18" charset="0"/>
              <a:cs typeface="Times New Roman" panose="02020603050405020304" pitchFamily="18" charset="0"/>
            </a:endParaRPr>
          </a:p>
          <a:p>
            <a:pPr marL="114300" indent="0">
              <a:buNone/>
            </a:pPr>
            <a:r>
              <a:rPr lang="ru-RU" sz="2400" dirty="0">
                <a:latin typeface="Times New Roman" panose="02020603050405020304" pitchFamily="18" charset="0"/>
                <a:cs typeface="Times New Roman" panose="02020603050405020304" pitchFamily="18" charset="0"/>
              </a:rPr>
              <a:t>Обратная зона — это система таблиц, которая хранит соответствие между IP-адресами и DNS-имена хостов некоторой сети. Для организации распределенной службы и использования для поиска имен того же программного обеспечения, что и для поиска адресов, применяется оригинальный подход, связанный с представлением IP-адреса в виде DNS-имени.</a:t>
            </a:r>
          </a:p>
        </p:txBody>
      </p:sp>
    </p:spTree>
    <p:extLst>
      <p:ext uri="{BB962C8B-B14F-4D97-AF65-F5344CB8AC3E}">
        <p14:creationId xmlns:p14="http://schemas.microsoft.com/office/powerpoint/2010/main" val="383745969"/>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79512" y="980728"/>
            <a:ext cx="7897688" cy="5760639"/>
          </a:xfrm>
        </p:spPr>
        <p:txBody>
          <a:bodyPr>
            <a:noAutofit/>
          </a:bodyPr>
          <a:lstStyle/>
          <a:p>
            <a:pPr marL="114300" indent="0">
              <a:buNone/>
            </a:pPr>
            <a:r>
              <a:rPr lang="ru-RU" sz="2100" dirty="0">
                <a:latin typeface="Times New Roman" panose="02020603050405020304" pitchFamily="18" charset="0"/>
                <a:cs typeface="Times New Roman" panose="02020603050405020304" pitchFamily="18" charset="0"/>
              </a:rPr>
              <a:t>Первый этап преобразования заключается в том, что составляющие IP-адреса интерпретируются как составляющие DNS-имени. Например, адрес 192.31.106.0 рассматривается как состоящий из старшей части, соответствующей домену 192, затем идет домен 31, в который входит домен 106</a:t>
            </a:r>
            <a:r>
              <a:rPr lang="ru-RU" sz="2100" dirty="0" smtClean="0">
                <a:latin typeface="Times New Roman" panose="02020603050405020304" pitchFamily="18" charset="0"/>
                <a:cs typeface="Times New Roman" panose="02020603050405020304" pitchFamily="18" charset="0"/>
              </a:rPr>
              <a:t>.</a:t>
            </a:r>
          </a:p>
          <a:p>
            <a:pPr marL="114300" indent="0">
              <a:buNone/>
            </a:pPr>
            <a:endParaRPr lang="ru-RU" sz="2100" dirty="0">
              <a:latin typeface="Times New Roman" panose="02020603050405020304" pitchFamily="18" charset="0"/>
              <a:cs typeface="Times New Roman" panose="02020603050405020304" pitchFamily="18" charset="0"/>
            </a:endParaRPr>
          </a:p>
          <a:p>
            <a:pPr marL="114300" indent="0" fontAlgn="base">
              <a:buNone/>
            </a:pPr>
            <a:r>
              <a:rPr lang="ru-RU" sz="2100" dirty="0">
                <a:latin typeface="Times New Roman" panose="02020603050405020304" pitchFamily="18" charset="0"/>
                <a:cs typeface="Times New Roman" panose="02020603050405020304" pitchFamily="18" charset="0"/>
              </a:rPr>
              <a:t>Далее, учитывая, что при записи IP-адреса старшая часть является самой левой частью адреса, а при записи DNS-имени — самой правой, то составляющие в преобразованном адресе указываются в обратном порядке, то есть для данного примера — 106.31.192.</a:t>
            </a:r>
          </a:p>
          <a:p>
            <a:pPr marL="114300" indent="0" fontAlgn="base">
              <a:buNone/>
            </a:pPr>
            <a:endParaRPr lang="ru-RU" sz="2100" dirty="0" smtClean="0">
              <a:latin typeface="Times New Roman" panose="02020603050405020304" pitchFamily="18" charset="0"/>
              <a:cs typeface="Times New Roman" panose="02020603050405020304" pitchFamily="18" charset="0"/>
            </a:endParaRPr>
          </a:p>
          <a:p>
            <a:pPr marL="114300" indent="0" fontAlgn="base">
              <a:buNone/>
            </a:pPr>
            <a:r>
              <a:rPr lang="ru-RU" sz="2100" dirty="0" smtClean="0">
                <a:latin typeface="Times New Roman" panose="02020603050405020304" pitchFamily="18" charset="0"/>
                <a:cs typeface="Times New Roman" panose="02020603050405020304" pitchFamily="18" charset="0"/>
              </a:rPr>
              <a:t>Для </a:t>
            </a:r>
            <a:r>
              <a:rPr lang="ru-RU" sz="2100" dirty="0">
                <a:latin typeface="Times New Roman" panose="02020603050405020304" pitchFamily="18" charset="0"/>
                <a:cs typeface="Times New Roman" panose="02020603050405020304" pitchFamily="18" charset="0"/>
              </a:rPr>
              <a:t>хранения соответствия всех адресов, начинающихся, например, с числа 192, заводится зона 192 со своими серверами имен. Для записей о серверах, поддерживающих старшие в иерархии обратные зоны, создана специальная зона </a:t>
            </a:r>
            <a:r>
              <a:rPr lang="ru-RU" sz="2100" dirty="0" err="1">
                <a:latin typeface="Times New Roman" panose="02020603050405020304" pitchFamily="18" charset="0"/>
                <a:cs typeface="Times New Roman" panose="02020603050405020304" pitchFamily="18" charset="0"/>
              </a:rPr>
              <a:t>in-addr.arpa</a:t>
            </a:r>
            <a:r>
              <a:rPr lang="ru-RU" sz="2100" dirty="0">
                <a:latin typeface="Times New Roman" panose="02020603050405020304" pitchFamily="18" charset="0"/>
                <a:cs typeface="Times New Roman" panose="02020603050405020304" pitchFamily="18" charset="0"/>
              </a:rPr>
              <a:t>, поэтому полная запись для использованного в примере адреса выглядит </a:t>
            </a:r>
            <a:r>
              <a:rPr lang="ru-RU" sz="2100" dirty="0" smtClean="0">
                <a:latin typeface="Times New Roman" panose="02020603050405020304" pitchFamily="18" charset="0"/>
                <a:cs typeface="Times New Roman" panose="02020603050405020304" pitchFamily="18" charset="0"/>
              </a:rPr>
              <a:t>так: 106.31.192.in-addr.arpa.</a:t>
            </a:r>
            <a:endParaRPr lang="ru-RU" sz="2100" dirty="0">
              <a:latin typeface="Times New Roman" panose="02020603050405020304" pitchFamily="18" charset="0"/>
              <a:cs typeface="Times New Roman" panose="02020603050405020304" pitchFamily="18" charset="0"/>
            </a:endParaRPr>
          </a:p>
        </p:txBody>
      </p:sp>
      <p:sp>
        <p:nvSpPr>
          <p:cNvPr id="4" name="Заголовок 1"/>
          <p:cNvSpPr>
            <a:spLocks noGrp="1"/>
          </p:cNvSpPr>
          <p:nvPr>
            <p:ph type="title"/>
          </p:nvPr>
        </p:nvSpPr>
        <p:spPr>
          <a:xfrm>
            <a:off x="457200" y="19405"/>
            <a:ext cx="7620000" cy="961323"/>
          </a:xfrm>
        </p:spPr>
        <p:txBody>
          <a:bodyPr/>
          <a:lstStyle/>
          <a:p>
            <a:pPr algn="ctr"/>
            <a:r>
              <a:rPr lang="ru-RU" b="1" dirty="0"/>
              <a:t>Обратная </a:t>
            </a:r>
            <a:r>
              <a:rPr lang="ru-RU" b="1" dirty="0" smtClean="0"/>
              <a:t>зона</a:t>
            </a:r>
            <a:endParaRPr lang="ru-RU" dirty="0"/>
          </a:p>
        </p:txBody>
      </p:sp>
    </p:spTree>
    <p:extLst>
      <p:ext uri="{BB962C8B-B14F-4D97-AF65-F5344CB8AC3E}">
        <p14:creationId xmlns:p14="http://schemas.microsoft.com/office/powerpoint/2010/main" val="38401522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Соседство">
  <a:themeElements>
    <a:clrScheme name="Соседство">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Стандартная">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оседство">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emplate>
  <TotalTime>1194</TotalTime>
  <Words>12603</Words>
  <Application>Microsoft Office PowerPoint</Application>
  <PresentationFormat>Экран (4:3)</PresentationFormat>
  <Paragraphs>778</Paragraphs>
  <Slides>155</Slides>
  <Notes>18</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155</vt:i4>
      </vt:variant>
    </vt:vector>
  </HeadingPairs>
  <TitlesOfParts>
    <vt:vector size="162" baseType="lpstr">
      <vt:lpstr>Arial</vt:lpstr>
      <vt:lpstr>Calibri</vt:lpstr>
      <vt:lpstr>Cambria</vt:lpstr>
      <vt:lpstr>Open Sans</vt:lpstr>
      <vt:lpstr>Times New Roman</vt:lpstr>
      <vt:lpstr>Wingdings</vt:lpstr>
      <vt:lpstr>Соседство</vt:lpstr>
      <vt:lpstr>Компьютерные сети</vt:lpstr>
      <vt:lpstr>История развития компьютерных сетей</vt:lpstr>
      <vt:lpstr>Системы пакетной обработки</vt:lpstr>
      <vt:lpstr>Многотерминальные системы</vt:lpstr>
      <vt:lpstr>Появление глобальных сетей</vt:lpstr>
      <vt:lpstr>Первые локальные сети</vt:lpstr>
      <vt:lpstr>Создание стандартных технологий локальных сетей </vt:lpstr>
      <vt:lpstr>Современные тенденции </vt:lpstr>
      <vt:lpstr>Вычислительные сети как распределенные системы </vt:lpstr>
      <vt:lpstr>Мультипроцессорные компьютеры</vt:lpstr>
      <vt:lpstr>Многомашинные вычислительные комплексы</vt:lpstr>
      <vt:lpstr>Вычислительные сети</vt:lpstr>
      <vt:lpstr>Классификация сетей по территориальному признаку</vt:lpstr>
      <vt:lpstr>Классификация сетей по масштабам подразделения</vt:lpstr>
      <vt:lpstr>Сети отделов</vt:lpstr>
      <vt:lpstr>Сети кампусов (сети предприятий)</vt:lpstr>
      <vt:lpstr>Корпоративные сети</vt:lpstr>
      <vt:lpstr>Преимущества использования компьютерных сетей</vt:lpstr>
      <vt:lpstr>Основные программные и аппаратные компоненты сети</vt:lpstr>
      <vt:lpstr>Топология физических связей</vt:lpstr>
      <vt:lpstr>Полносвязная топология</vt:lpstr>
      <vt:lpstr>Ячеистая топология</vt:lpstr>
      <vt:lpstr>Топология «общая шина»</vt:lpstr>
      <vt:lpstr>Топология «звезда»</vt:lpstr>
      <vt:lpstr>Топология «кольцо»</vt:lpstr>
      <vt:lpstr>Составные топологии</vt:lpstr>
      <vt:lpstr>Древовидная топология</vt:lpstr>
      <vt:lpstr>Аппаратные компоненты компьютерных сетей</vt:lpstr>
      <vt:lpstr>Сетевой кабель - физическая среда передачи</vt:lpstr>
      <vt:lpstr>Сетевой кабель - физическая среда передачи</vt:lpstr>
      <vt:lpstr>Проводные (воздушные) линии связи</vt:lpstr>
      <vt:lpstr>Кабельные линии</vt:lpstr>
      <vt:lpstr>Коаксиальный кабель</vt:lpstr>
      <vt:lpstr>Витая пара</vt:lpstr>
      <vt:lpstr>Волоконно-оптический кабель</vt:lpstr>
      <vt:lpstr>Радиоканалы наземной и спутниковой связи</vt:lpstr>
      <vt:lpstr>Беспроводная среда передачи данных</vt:lpstr>
      <vt:lpstr>Беспроводная среда передачи данных</vt:lpstr>
      <vt:lpstr>Беспроводная среда передачи данных</vt:lpstr>
      <vt:lpstr>Типы беспроводных сетей</vt:lpstr>
      <vt:lpstr>Локальные вычислительные сети</vt:lpstr>
      <vt:lpstr>Точки доступа</vt:lpstr>
      <vt:lpstr>Способы передачи</vt:lpstr>
      <vt:lpstr>Инфракрасное излучение</vt:lpstr>
      <vt:lpstr>Инфракрасное излучение</vt:lpstr>
      <vt:lpstr>Лазер</vt:lpstr>
      <vt:lpstr>Радиопередача в узком спектре (одночастотная передача)</vt:lpstr>
      <vt:lpstr>Радиопередача в рассеянном спектре</vt:lpstr>
      <vt:lpstr>Передача «точка-точка»</vt:lpstr>
      <vt:lpstr>Расширенные локальные сети</vt:lpstr>
      <vt:lpstr>Многоточечное беспроводное соединение</vt:lpstr>
      <vt:lpstr>Беспроводные мосты дальнего действия</vt:lpstr>
      <vt:lpstr>Сетевое оборудование СТОП</vt:lpstr>
      <vt:lpstr>Группы сетевого оборудования</vt:lpstr>
      <vt:lpstr>Пассивное оборудование</vt:lpstr>
      <vt:lpstr>Активное сетевое оборудование</vt:lpstr>
      <vt:lpstr>Активное сетевое оборудование</vt:lpstr>
      <vt:lpstr>Сетевые интерфейсные карты</vt:lpstr>
      <vt:lpstr>Повторители</vt:lpstr>
      <vt:lpstr>Мост </vt:lpstr>
      <vt:lpstr>Концентратор </vt:lpstr>
      <vt:lpstr>Коммутатор </vt:lpstr>
      <vt:lpstr>Маршрутизатор </vt:lpstr>
      <vt:lpstr>Точки доступа</vt:lpstr>
      <vt:lpstr>Межсетевые экраны</vt:lpstr>
      <vt:lpstr>Оборудование для проверки работоспособности сети</vt:lpstr>
      <vt:lpstr>Оборудование для проверки работоспособности сети</vt:lpstr>
      <vt:lpstr>Тестирование сети</vt:lpstr>
      <vt:lpstr>Тестирование ППО</vt:lpstr>
      <vt:lpstr>Стрессовое тестирование сети</vt:lpstr>
      <vt:lpstr>Стрессовое тестирование сети</vt:lpstr>
      <vt:lpstr>Стрессовое тестирование сети</vt:lpstr>
      <vt:lpstr>Диагностика сети</vt:lpstr>
      <vt:lpstr>SNMP-агенты</vt:lpstr>
      <vt:lpstr>Реактивная диагностика</vt:lpstr>
      <vt:lpstr>Анализаторы протоколов</vt:lpstr>
      <vt:lpstr>Анализаторы протоколов</vt:lpstr>
      <vt:lpstr>Анализаторы протоколов</vt:lpstr>
      <vt:lpstr>Анализаторы протоколов</vt:lpstr>
      <vt:lpstr>Передача данных по сети</vt:lpstr>
      <vt:lpstr>Принципы пакетной передачи</vt:lpstr>
      <vt:lpstr>Принципы пакетной передачи</vt:lpstr>
      <vt:lpstr>Модель передачи данных OSI</vt:lpstr>
      <vt:lpstr>Уровни модели OSI</vt:lpstr>
      <vt:lpstr>Уровни модели OSI</vt:lpstr>
      <vt:lpstr>Передача сообщения</vt:lpstr>
      <vt:lpstr>1. Физический уровень</vt:lpstr>
      <vt:lpstr>2. Канальный уровень</vt:lpstr>
      <vt:lpstr>3. Сетевой уровень</vt:lpstr>
      <vt:lpstr>Модель TCP/IP</vt:lpstr>
      <vt:lpstr>Уровни модели TCP/IP</vt:lpstr>
      <vt:lpstr>Уровни модели TCP/IP</vt:lpstr>
      <vt:lpstr>Коммутация пакетов</vt:lpstr>
      <vt:lpstr>Коммутация пакетов</vt:lpstr>
      <vt:lpstr>Процесс передачи данных в сети с коммутацией пакетов</vt:lpstr>
      <vt:lpstr>Методы пакетной коммутации: Дейтаграммный метод</vt:lpstr>
      <vt:lpstr>Методы пакетной коммутации: Виртуальный метод</vt:lpstr>
      <vt:lpstr>Методы пакетной коммутации: Виртуальный метод</vt:lpstr>
      <vt:lpstr>Методы пакетной коммутации: Виртуальный метод</vt:lpstr>
      <vt:lpstr>Методы пакетной коммутации: Виртуальный метод</vt:lpstr>
      <vt:lpstr>Модель OSI.  Модель IEEE Project 802</vt:lpstr>
      <vt:lpstr>Модель OSI.  Модель IEEE Project 802</vt:lpstr>
      <vt:lpstr>Категории</vt:lpstr>
      <vt:lpstr>Расширения модели OSI</vt:lpstr>
      <vt:lpstr>Протоколы и стеки протоколов</vt:lpstr>
      <vt:lpstr>Протоколы и стеки протоколов</vt:lpstr>
      <vt:lpstr>Сетевые протоколы</vt:lpstr>
      <vt:lpstr>Транспортные протоколы</vt:lpstr>
      <vt:lpstr>Прикладные протоколы</vt:lpstr>
      <vt:lpstr>Сетевые архитектуры</vt:lpstr>
      <vt:lpstr>Основные методы доступа к среде передачи данных</vt:lpstr>
      <vt:lpstr>Основные методы доступ к среде передачи</vt:lpstr>
      <vt:lpstr>Децентрализованные методы</vt:lpstr>
      <vt:lpstr>Технология Ethernet</vt:lpstr>
      <vt:lpstr>Плюсы и минусы Ethernet</vt:lpstr>
      <vt:lpstr>Типы технологии Ethernet</vt:lpstr>
      <vt:lpstr>Схема сети Ethernet</vt:lpstr>
      <vt:lpstr>Технология Token Ring</vt:lpstr>
      <vt:lpstr>Метод доступа к сети</vt:lpstr>
      <vt:lpstr>Метод доступа к сети</vt:lpstr>
      <vt:lpstr>Технология FDDI</vt:lpstr>
      <vt:lpstr>Адресация в сетях TCP/IP</vt:lpstr>
      <vt:lpstr>Доменные имена</vt:lpstr>
      <vt:lpstr>Доменные имена</vt:lpstr>
      <vt:lpstr>Доменные имена</vt:lpstr>
      <vt:lpstr>Доменные имена</vt:lpstr>
      <vt:lpstr>Формат IP-адресов</vt:lpstr>
      <vt:lpstr>Классы IP-адресов</vt:lpstr>
      <vt:lpstr>Классы IP-адресов</vt:lpstr>
      <vt:lpstr>Классы IP-адресов</vt:lpstr>
      <vt:lpstr>Классы IP-адресов</vt:lpstr>
      <vt:lpstr>Классы IP-адресов</vt:lpstr>
      <vt:lpstr>Классы IP-адресов</vt:lpstr>
      <vt:lpstr>Назначение адресов автономной сети</vt:lpstr>
      <vt:lpstr>Назначение адресов автономной сети</vt:lpstr>
      <vt:lpstr>Маска подсети</vt:lpstr>
      <vt:lpstr>Маска подсети</vt:lpstr>
      <vt:lpstr>Маска подсети</vt:lpstr>
      <vt:lpstr>Сетевая утилита NetSH</vt:lpstr>
      <vt:lpstr>Сетевая утилита NetSH</vt:lpstr>
      <vt:lpstr>Получение списка контекстов</vt:lpstr>
      <vt:lpstr>Практическая работа №1</vt:lpstr>
      <vt:lpstr>Практическая работа №3. Серверы в локальной сети</vt:lpstr>
      <vt:lpstr>Система DNS</vt:lpstr>
      <vt:lpstr>Система DNS</vt:lpstr>
      <vt:lpstr>Плоские и иерархические имена</vt:lpstr>
      <vt:lpstr>Плоские и иерархические имена</vt:lpstr>
      <vt:lpstr>Плоские и иерархические имена</vt:lpstr>
      <vt:lpstr>Схема работы DNS</vt:lpstr>
      <vt:lpstr>Схема работы DNS</vt:lpstr>
      <vt:lpstr>Схема работы DNS</vt:lpstr>
      <vt:lpstr>Схема работы DNS</vt:lpstr>
      <vt:lpstr>Схема работы DNS</vt:lpstr>
      <vt:lpstr>Обратная зона</vt:lpstr>
      <vt:lpstr>Обратная зона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Компьютерные сети</dc:title>
  <dc:creator>User</dc:creator>
  <cp:lastModifiedBy>Prepod</cp:lastModifiedBy>
  <cp:revision>68</cp:revision>
  <dcterms:created xsi:type="dcterms:W3CDTF">2021-02-03T11:06:50Z</dcterms:created>
  <dcterms:modified xsi:type="dcterms:W3CDTF">2021-05-27T04:10:31Z</dcterms:modified>
</cp:coreProperties>
</file>